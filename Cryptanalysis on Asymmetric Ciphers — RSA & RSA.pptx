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</p:sldMasterIdLst>
  <p:sldIdLst>
    <p:sldId id="256" r:id="rId5"/>
    <p:sldId id="257" r:id="rId6"/>
    <p:sldId id="258" r:id="rId7"/>
    <p:sldId id="260" r:id="rId8"/>
    <p:sldId id="266" r:id="rId9"/>
    <p:sldId id="269" r:id="rId10"/>
    <p:sldId id="268" r:id="rId11"/>
    <p:sldId id="261" r:id="rId12"/>
    <p:sldId id="262" r:id="rId13"/>
    <p:sldId id="263" r:id="rId14"/>
    <p:sldId id="264" r:id="rId15"/>
    <p:sldId id="259" r:id="rId16"/>
    <p:sldId id="265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059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967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32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242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66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238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751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1525300-05E8-4D28-85DB-000DB90F591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96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416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732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660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1525300-05E8-4D28-85DB-000DB90F591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65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4">
            <a:extLst>
              <a:ext uri="{FF2B5EF4-FFF2-40B4-BE49-F238E27FC236}">
                <a16:creationId xmlns:a16="http://schemas.microsoft.com/office/drawing/2014/main" id="{E7E577F2-1107-AEB4-5611-905F7AB78C5F}"/>
              </a:ext>
            </a:extLst>
          </p:cNvPr>
          <p:cNvSpPr>
            <a:spLocks noGrp="1" noChangeAspect="1" noChangeArrowheads="1"/>
          </p:cNvSpPr>
          <p:nvPr>
            <p:ph type="ctrTitle"/>
          </p:nvPr>
        </p:nvSpPr>
        <p:spPr bwMode="auto">
          <a:xfrm>
            <a:off x="1342845" y="484038"/>
            <a:ext cx="91440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r>
              <a:rPr lang="en-US" i="0" dirty="0">
                <a:solidFill>
                  <a:srgbClr val="1F2328"/>
                </a:solidFill>
                <a:effectLst/>
                <a:latin typeface="-apple-system"/>
              </a:rPr>
              <a:t>Cryptanalysis on Asymmetric Ciphers — RSA &amp; RSA‑Based Signatures</a:t>
            </a:r>
          </a:p>
        </p:txBody>
      </p:sp>
    </p:spTree>
    <p:extLst>
      <p:ext uri="{BB962C8B-B14F-4D97-AF65-F5344CB8AC3E}">
        <p14:creationId xmlns:p14="http://schemas.microsoft.com/office/powerpoint/2010/main" val="2254650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3F865-B938-0204-A786-4DFC29D08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3413"/>
            <a:ext cx="10515600" cy="1325563"/>
          </a:xfrm>
        </p:spPr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Bối</a:t>
            </a:r>
            <a:r>
              <a:rPr lang="en-US" dirty="0"/>
              <a:t> </a:t>
            </a:r>
            <a:r>
              <a:rPr lang="en-US" dirty="0" err="1"/>
              <a:t>cảnh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87684-54E6-6F24-93FC-5F8A1EE28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702" y="1747987"/>
            <a:ext cx="10515600" cy="4351338"/>
          </a:xfrm>
        </p:spPr>
        <p:txBody>
          <a:bodyPr/>
          <a:lstStyle/>
          <a:p>
            <a:r>
              <a:rPr lang="en-US" dirty="0"/>
              <a:t>RSA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rãi</a:t>
            </a:r>
            <a:r>
              <a:rPr lang="en-US" dirty="0"/>
              <a:t> ở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nghệ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en-US" dirty="0"/>
              <a:t>Giao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SSL/TLS, SSH, …</a:t>
            </a:r>
          </a:p>
          <a:p>
            <a:pPr>
              <a:buFontTx/>
              <a:buChar char="-"/>
            </a:pPr>
            <a:r>
              <a:rPr lang="en-US" dirty="0" err="1"/>
              <a:t>Dịch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VPN</a:t>
            </a:r>
          </a:p>
          <a:p>
            <a:pPr>
              <a:buFontTx/>
              <a:buChar char="-"/>
            </a:pPr>
            <a:r>
              <a:rPr lang="en-US" dirty="0"/>
              <a:t>Smart Cards,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IoT</a:t>
            </a:r>
          </a:p>
          <a:p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: </a:t>
            </a:r>
            <a:r>
              <a:rPr lang="en-US" dirty="0" err="1"/>
              <a:t>tuy</a:t>
            </a:r>
            <a:r>
              <a:rPr lang="en-US" dirty="0"/>
              <a:t> </a:t>
            </a:r>
            <a:r>
              <a:rPr lang="en-US" dirty="0" err="1"/>
              <a:t>phổ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, RSA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tiềm</a:t>
            </a:r>
            <a:r>
              <a:rPr lang="en-US" dirty="0"/>
              <a:t> </a:t>
            </a:r>
            <a:r>
              <a:rPr lang="en-US" dirty="0" err="1"/>
              <a:t>ẩn</a:t>
            </a:r>
            <a:r>
              <a:rPr lang="en-US" dirty="0"/>
              <a:t> </a:t>
            </a:r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sai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499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EADD6-AB03-4EC7-EEDD-C6639EB92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460" y="322537"/>
            <a:ext cx="10515600" cy="1325563"/>
          </a:xfrm>
        </p:spPr>
        <p:txBody>
          <a:bodyPr/>
          <a:lstStyle/>
          <a:p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E0B4F-C6AC-0CDE-7AA7-6BE4A7785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716657"/>
            <a:ext cx="7573992" cy="4818806"/>
          </a:xfrm>
        </p:spPr>
        <p:txBody>
          <a:bodyPr>
            <a:normAutofit/>
          </a:bodyPr>
          <a:lstStyle/>
          <a:p>
            <a:r>
              <a:rPr lang="en-US" sz="2400" dirty="0" err="1"/>
              <a:t>Nếu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phân</a:t>
            </a:r>
            <a:r>
              <a:rPr lang="en-US" sz="2400" dirty="0"/>
              <a:t> </a:t>
            </a:r>
            <a:r>
              <a:rPr lang="en-US" sz="2400" dirty="0" err="1"/>
              <a:t>tích</a:t>
            </a:r>
            <a:r>
              <a:rPr lang="en-US" sz="2400" dirty="0"/>
              <a:t> </a:t>
            </a:r>
            <a:r>
              <a:rPr lang="en-US" sz="2400" dirty="0" err="1"/>
              <a:t>thừa</a:t>
            </a:r>
            <a:r>
              <a:rPr lang="en-US" sz="2400" dirty="0"/>
              <a:t> </a:t>
            </a:r>
            <a:r>
              <a:rPr lang="en-US" sz="2400" dirty="0" err="1"/>
              <a:t>số</a:t>
            </a:r>
            <a:r>
              <a:rPr lang="en-US" sz="2400" dirty="0"/>
              <a:t> N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p,q</a:t>
            </a:r>
            <a:r>
              <a:rPr lang="en-US" sz="2400" dirty="0"/>
              <a:t>, </a:t>
            </a: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sẽ</a:t>
            </a:r>
            <a:r>
              <a:rPr lang="en-US" sz="2400" dirty="0"/>
              <a:t> </a:t>
            </a:r>
            <a:r>
              <a:rPr lang="en-US" sz="2400" dirty="0" err="1"/>
              <a:t>gặp</a:t>
            </a:r>
            <a:r>
              <a:rPr lang="en-US" sz="2400" dirty="0"/>
              <a:t> </a:t>
            </a:r>
            <a:r>
              <a:rPr lang="en-US" sz="2400" dirty="0" err="1"/>
              <a:t>những</a:t>
            </a:r>
            <a:r>
              <a:rPr lang="en-US" sz="2400" dirty="0"/>
              <a:t> </a:t>
            </a:r>
            <a:r>
              <a:rPr lang="en-US" sz="2400" dirty="0" err="1"/>
              <a:t>rủi</a:t>
            </a:r>
            <a:r>
              <a:rPr lang="en-US" sz="2400" dirty="0"/>
              <a:t> </a:t>
            </a:r>
            <a:r>
              <a:rPr lang="en-US" sz="2400" dirty="0" err="1"/>
              <a:t>ro</a:t>
            </a:r>
            <a:r>
              <a:rPr lang="en-US" sz="2400" dirty="0"/>
              <a:t> </a:t>
            </a:r>
            <a:r>
              <a:rPr lang="en-US" sz="2400" dirty="0" err="1"/>
              <a:t>sau</a:t>
            </a:r>
            <a:r>
              <a:rPr lang="en-US" sz="2400" dirty="0"/>
              <a:t>:</a:t>
            </a:r>
          </a:p>
          <a:p>
            <a:pPr>
              <a:buFontTx/>
              <a:buChar char="-"/>
            </a:pPr>
            <a:r>
              <a:rPr lang="en-US" sz="2400" dirty="0" err="1"/>
              <a:t>Khôi</a:t>
            </a:r>
            <a:r>
              <a:rPr lang="en-US" sz="2400" dirty="0"/>
              <a:t> </a:t>
            </a:r>
            <a:r>
              <a:rPr lang="en-US" sz="2400" dirty="0" err="1"/>
              <a:t>phục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private key</a:t>
            </a:r>
          </a:p>
          <a:p>
            <a:pPr>
              <a:buFontTx/>
              <a:buChar char="-"/>
            </a:pPr>
            <a:r>
              <a:rPr lang="en-US" sz="2400" dirty="0" err="1"/>
              <a:t>Mất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bảo</a:t>
            </a:r>
            <a:r>
              <a:rPr lang="en-US" sz="2400" dirty="0"/>
              <a:t> </a:t>
            </a:r>
            <a:r>
              <a:rPr lang="en-US" sz="2400" dirty="0" err="1"/>
              <a:t>mật</a:t>
            </a:r>
            <a:r>
              <a:rPr lang="en-US" sz="2400" dirty="0"/>
              <a:t>: </a:t>
            </a:r>
            <a:r>
              <a:rPr lang="en-US" sz="2400" dirty="0" err="1"/>
              <a:t>dịch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dữ</a:t>
            </a:r>
            <a:r>
              <a:rPr lang="en-US" sz="2400" dirty="0"/>
              <a:t> </a:t>
            </a:r>
            <a:r>
              <a:rPr lang="en-US" sz="2400" dirty="0" err="1"/>
              <a:t>liệu</a:t>
            </a:r>
            <a:r>
              <a:rPr lang="en-US" sz="2400" dirty="0"/>
              <a:t> </a:t>
            </a:r>
            <a:r>
              <a:rPr lang="en-US" sz="2400" dirty="0" err="1"/>
              <a:t>như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tin </a:t>
            </a:r>
            <a:r>
              <a:rPr lang="en-US" sz="2400" dirty="0" err="1"/>
              <a:t>đăng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r>
              <a:rPr lang="en-US" sz="2400" dirty="0"/>
              <a:t>,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khóa</a:t>
            </a:r>
            <a:r>
              <a:rPr lang="en-US" sz="2400" dirty="0"/>
              <a:t> </a:t>
            </a:r>
            <a:r>
              <a:rPr lang="en-US" sz="2400" dirty="0" err="1"/>
              <a:t>phiên</a:t>
            </a:r>
            <a:r>
              <a:rPr lang="en-US" sz="2400" dirty="0"/>
              <a:t>, …</a:t>
            </a:r>
          </a:p>
          <a:p>
            <a:pPr>
              <a:buFontTx/>
              <a:buChar char="-"/>
            </a:pPr>
            <a:r>
              <a:rPr lang="en-US" sz="2400" dirty="0" err="1"/>
              <a:t>Mất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toàn</a:t>
            </a:r>
            <a:r>
              <a:rPr lang="en-US" sz="2400" dirty="0"/>
              <a:t> </a:t>
            </a:r>
            <a:r>
              <a:rPr lang="en-US" sz="2400" dirty="0" err="1"/>
              <a:t>vẹn</a:t>
            </a:r>
            <a:r>
              <a:rPr lang="en-US" sz="2400" dirty="0"/>
              <a:t>,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xác</a:t>
            </a:r>
            <a:r>
              <a:rPr lang="en-US" sz="2400" dirty="0"/>
              <a:t> </a:t>
            </a:r>
            <a:r>
              <a:rPr lang="en-US" sz="2400" dirty="0" err="1"/>
              <a:t>thực</a:t>
            </a:r>
            <a:r>
              <a:rPr lang="en-US" sz="2400" dirty="0"/>
              <a:t>: </a:t>
            </a:r>
            <a:r>
              <a:rPr lang="en-US" sz="2400" dirty="0" err="1"/>
              <a:t>giả</a:t>
            </a:r>
            <a:r>
              <a:rPr lang="en-US" sz="2400" dirty="0"/>
              <a:t> </a:t>
            </a:r>
            <a:r>
              <a:rPr lang="en-US" sz="2400" dirty="0" err="1"/>
              <a:t>mạo</a:t>
            </a:r>
            <a:r>
              <a:rPr lang="en-US" sz="2400" dirty="0"/>
              <a:t> </a:t>
            </a:r>
            <a:r>
              <a:rPr lang="en-US" sz="2400" dirty="0" err="1"/>
              <a:t>chữ</a:t>
            </a:r>
            <a:r>
              <a:rPr lang="en-US" sz="2400" dirty="0"/>
              <a:t> </a:t>
            </a:r>
            <a:r>
              <a:rPr lang="en-US" sz="2400" dirty="0" err="1"/>
              <a:t>kí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 err="1"/>
              <a:t>Nếu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cặp</a:t>
            </a:r>
            <a:r>
              <a:rPr lang="en-US" sz="2400" dirty="0"/>
              <a:t> </a:t>
            </a:r>
            <a:r>
              <a:rPr lang="en-US" sz="2400" dirty="0" err="1"/>
              <a:t>khóa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tái</a:t>
            </a:r>
            <a:r>
              <a:rPr lang="en-US" sz="2400" dirty="0"/>
              <a:t> </a:t>
            </a:r>
            <a:r>
              <a:rPr lang="en-US" sz="2400" dirty="0" err="1"/>
              <a:t>sử</a:t>
            </a:r>
            <a:r>
              <a:rPr lang="en-US" sz="2400" dirty="0"/>
              <a:t> </a:t>
            </a:r>
            <a:r>
              <a:rPr lang="en-US" sz="2400" dirty="0" err="1"/>
              <a:t>dụng</a:t>
            </a:r>
            <a:r>
              <a:rPr lang="en-US" sz="2400" dirty="0"/>
              <a:t> </a:t>
            </a:r>
            <a:r>
              <a:rPr lang="en-US" sz="2400" dirty="0" err="1"/>
              <a:t>trên</a:t>
            </a:r>
            <a:r>
              <a:rPr lang="en-US" sz="2400" dirty="0"/>
              <a:t> </a:t>
            </a:r>
            <a:r>
              <a:rPr lang="en-US" sz="2400" dirty="0" err="1"/>
              <a:t>nhiều</a:t>
            </a:r>
            <a:r>
              <a:rPr lang="en-US" sz="2400" dirty="0"/>
              <a:t> service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thì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bị</a:t>
            </a:r>
            <a:r>
              <a:rPr lang="en-US" sz="2400" dirty="0"/>
              <a:t> </a:t>
            </a:r>
            <a:r>
              <a:rPr lang="en-US" sz="2400" dirty="0" err="1"/>
              <a:t>ảnh</a:t>
            </a:r>
            <a:r>
              <a:rPr lang="en-US" sz="2400" dirty="0"/>
              <a:t> </a:t>
            </a:r>
            <a:r>
              <a:rPr lang="en-US" sz="2400" dirty="0" err="1"/>
              <a:t>hưởng</a:t>
            </a:r>
            <a:endParaRPr 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808D2E8-5AC7-5FD4-BCCF-D415F4A87F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3" t="1935" r="5582"/>
          <a:stretch/>
        </p:blipFill>
        <p:spPr bwMode="auto">
          <a:xfrm>
            <a:off x="7461850" y="1589447"/>
            <a:ext cx="4730150" cy="3620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108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022" y="189512"/>
            <a:ext cx="10515600" cy="1325563"/>
          </a:xfrm>
        </p:spPr>
        <p:txBody>
          <a:bodyPr/>
          <a:lstStyle/>
          <a:p>
            <a:r>
              <a:rPr lang="en-US" dirty="0"/>
              <a:t>Security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98154"/>
            <a:ext cx="10515600" cy="4351338"/>
          </a:xfrm>
        </p:spPr>
        <p:txBody>
          <a:bodyPr/>
          <a:lstStyle/>
          <a:p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vệ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: </a:t>
            </a: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phép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.</a:t>
            </a:r>
          </a:p>
          <a:p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vẹn</a:t>
            </a:r>
            <a:r>
              <a:rPr lang="en-US" dirty="0"/>
              <a:t>: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gốc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.</a:t>
            </a:r>
          </a:p>
          <a:p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: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chắc</a:t>
            </a:r>
            <a:r>
              <a:rPr lang="en-US" dirty="0"/>
              <a:t> </a:t>
            </a:r>
            <a:r>
              <a:rPr lang="en-US" dirty="0" err="1"/>
              <a:t>chắn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đâu</a:t>
            </a:r>
            <a:r>
              <a:rPr lang="en-US" dirty="0"/>
              <a:t>,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gửi</a:t>
            </a:r>
            <a:r>
              <a:rPr lang="en-US" dirty="0"/>
              <a:t>.</a:t>
            </a:r>
          </a:p>
          <a:p>
            <a:r>
              <a:rPr lang="en-US" dirty="0" err="1"/>
              <a:t>Chống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cuộc</a:t>
            </a:r>
            <a:r>
              <a:rPr lang="en-US" dirty="0"/>
              <a:t> </a:t>
            </a:r>
            <a:r>
              <a:rPr lang="en-US" dirty="0" err="1"/>
              <a:t>tấn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541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13797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17" y="1739360"/>
            <a:ext cx="10515600" cy="215977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800" dirty="0"/>
              <a:t>RQ1: Trong </a:t>
            </a:r>
            <a:r>
              <a:rPr lang="en-US" sz="2800" dirty="0" err="1"/>
              <a:t>kịch</a:t>
            </a:r>
            <a:r>
              <a:rPr lang="en-US" sz="2800" dirty="0"/>
              <a:t> </a:t>
            </a:r>
            <a:r>
              <a:rPr lang="en-US" sz="2800" dirty="0" err="1"/>
              <a:t>bản</a:t>
            </a:r>
            <a:r>
              <a:rPr lang="en-US" sz="2800" dirty="0"/>
              <a:t> </a:t>
            </a:r>
            <a:r>
              <a:rPr lang="en-US" sz="2800" dirty="0" err="1"/>
              <a:t>triển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 </a:t>
            </a:r>
            <a:r>
              <a:rPr lang="en-US" sz="2800" dirty="0" err="1"/>
              <a:t>thực</a:t>
            </a:r>
            <a:r>
              <a:rPr lang="en-US" sz="2800" dirty="0"/>
              <a:t> </a:t>
            </a:r>
            <a:r>
              <a:rPr lang="en-US" sz="2800" dirty="0" err="1"/>
              <a:t>tế</a:t>
            </a:r>
            <a:r>
              <a:rPr lang="en-US" sz="2800" dirty="0"/>
              <a:t> (TLS, JWT, code signing), </a:t>
            </a:r>
            <a:r>
              <a:rPr lang="en-US" sz="2800" dirty="0" err="1"/>
              <a:t>đâu</a:t>
            </a:r>
            <a:r>
              <a:rPr lang="en-US" sz="2800" dirty="0"/>
              <a:t> </a:t>
            </a:r>
            <a:r>
              <a:rPr lang="en-US" sz="2800" dirty="0" err="1"/>
              <a:t>là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điểm</a:t>
            </a:r>
            <a:r>
              <a:rPr lang="en-US" sz="2800" dirty="0"/>
              <a:t> </a:t>
            </a:r>
            <a:r>
              <a:rPr lang="en-US" sz="2800" dirty="0" err="1"/>
              <a:t>yếu</a:t>
            </a:r>
            <a:r>
              <a:rPr lang="en-US" sz="2800" dirty="0"/>
              <a:t> </a:t>
            </a:r>
            <a:r>
              <a:rPr lang="en-US" sz="2800" dirty="0" err="1"/>
              <a:t>phổ</a:t>
            </a:r>
            <a:r>
              <a:rPr lang="en-US" sz="2800" dirty="0"/>
              <a:t> </a:t>
            </a:r>
            <a:r>
              <a:rPr lang="en-US" sz="2800" dirty="0" err="1"/>
              <a:t>biến</a:t>
            </a:r>
            <a:r>
              <a:rPr lang="en-US" sz="2800" dirty="0"/>
              <a:t> </a:t>
            </a:r>
            <a:r>
              <a:rPr lang="en-US" sz="2800" dirty="0" err="1"/>
              <a:t>nhất</a:t>
            </a:r>
            <a:r>
              <a:rPr lang="en-US" sz="2800" dirty="0"/>
              <a:t> </a:t>
            </a:r>
            <a:r>
              <a:rPr lang="en-US" sz="2800" dirty="0" err="1"/>
              <a:t>liên</a:t>
            </a:r>
            <a:r>
              <a:rPr lang="en-US" sz="2800" dirty="0"/>
              <a:t> </a:t>
            </a:r>
            <a:r>
              <a:rPr lang="en-US" sz="2800" dirty="0" err="1"/>
              <a:t>quan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RSA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chúng</a:t>
            </a:r>
            <a:r>
              <a:rPr lang="en-US" sz="2800" dirty="0"/>
              <a:t> </a:t>
            </a:r>
            <a:r>
              <a:rPr lang="en-US" sz="2800" dirty="0" err="1"/>
              <a:t>dẫn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</a:t>
            </a:r>
            <a:r>
              <a:rPr lang="en-US" sz="2800" dirty="0" err="1"/>
              <a:t>hậu</a:t>
            </a:r>
            <a:r>
              <a:rPr lang="en-US" sz="2800" dirty="0"/>
              <a:t> </a:t>
            </a:r>
            <a:r>
              <a:rPr lang="en-US" sz="2800" dirty="0" err="1"/>
              <a:t>quả</a:t>
            </a:r>
            <a:r>
              <a:rPr lang="en-US" sz="2800" dirty="0"/>
              <a:t> </a:t>
            </a:r>
            <a:r>
              <a:rPr lang="en-US" sz="2800" dirty="0" err="1"/>
              <a:t>gì</a:t>
            </a:r>
            <a:r>
              <a:rPr lang="en-US" sz="2800" dirty="0"/>
              <a:t> (forgery, key recovery, signature replay)?</a:t>
            </a:r>
          </a:p>
        </p:txBody>
      </p:sp>
    </p:spTree>
    <p:extLst>
      <p:ext uri="{BB962C8B-B14F-4D97-AF65-F5344CB8AC3E}">
        <p14:creationId xmlns:p14="http://schemas.microsoft.com/office/powerpoint/2010/main" val="61950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22425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C4CC90B-89E3-0291-19AD-473828443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17" y="1739360"/>
            <a:ext cx="10515600" cy="215977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800" dirty="0"/>
              <a:t>RQ2: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tấn</a:t>
            </a:r>
            <a:r>
              <a:rPr lang="en-US" sz="2800" dirty="0"/>
              <a:t>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Bleichenbacher</a:t>
            </a:r>
            <a:r>
              <a:rPr lang="en-US" sz="2800" dirty="0"/>
              <a:t> (padding oracle) </a:t>
            </a:r>
            <a:r>
              <a:rPr lang="en-US" sz="2800" dirty="0" err="1"/>
              <a:t>và</a:t>
            </a:r>
            <a:r>
              <a:rPr lang="en-US" sz="2800" dirty="0"/>
              <a:t> timing attacks </a:t>
            </a:r>
            <a:r>
              <a:rPr lang="en-US" sz="2800" dirty="0" err="1"/>
              <a:t>còn</a:t>
            </a:r>
            <a:r>
              <a:rPr lang="en-US" sz="2800" dirty="0"/>
              <a:t> </a:t>
            </a:r>
            <a:r>
              <a:rPr lang="en-US" sz="2800" dirty="0" err="1"/>
              <a:t>khả</a:t>
            </a:r>
            <a:r>
              <a:rPr lang="en-US" sz="2800" dirty="0"/>
              <a:t> </a:t>
            </a:r>
            <a:r>
              <a:rPr lang="en-US" sz="2800" dirty="0" err="1"/>
              <a:t>thi</a:t>
            </a:r>
            <a:r>
              <a:rPr lang="en-US" sz="2800" dirty="0"/>
              <a:t> </a:t>
            </a:r>
            <a:r>
              <a:rPr lang="en-US" sz="2800" dirty="0" err="1"/>
              <a:t>trên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stack </a:t>
            </a:r>
            <a:r>
              <a:rPr lang="en-US" sz="2800" dirty="0" err="1"/>
              <a:t>hiện</a:t>
            </a:r>
            <a:r>
              <a:rPr lang="en-US" sz="2800" dirty="0"/>
              <a:t> </a:t>
            </a:r>
            <a:r>
              <a:rPr lang="en-US" sz="2800" dirty="0" err="1"/>
              <a:t>đại</a:t>
            </a:r>
            <a:r>
              <a:rPr lang="en-US" sz="2800" dirty="0"/>
              <a:t> (OpenSSL/LibreSSL/</a:t>
            </a:r>
            <a:r>
              <a:rPr lang="en-US" sz="2800" dirty="0" err="1"/>
              <a:t>BoringSSL</a:t>
            </a:r>
            <a:r>
              <a:rPr lang="en-US" sz="2800" dirty="0"/>
              <a:t>) </a:t>
            </a:r>
            <a:r>
              <a:rPr lang="en-US" sz="2800" dirty="0" err="1"/>
              <a:t>khi</a:t>
            </a:r>
            <a:r>
              <a:rPr lang="en-US" sz="2800" dirty="0"/>
              <a:t> </a:t>
            </a:r>
            <a:r>
              <a:rPr lang="en-US" sz="2800" dirty="0" err="1"/>
              <a:t>gặp</a:t>
            </a:r>
            <a:r>
              <a:rPr lang="en-US" sz="2800" dirty="0"/>
              <a:t> </a:t>
            </a:r>
            <a:r>
              <a:rPr lang="en-US" sz="2800" dirty="0" err="1"/>
              <a:t>cấu</a:t>
            </a:r>
            <a:r>
              <a:rPr lang="en-US" sz="2800" dirty="0"/>
              <a:t> </a:t>
            </a:r>
            <a:r>
              <a:rPr lang="en-US" sz="2800" dirty="0" err="1"/>
              <a:t>hình</a:t>
            </a:r>
            <a:r>
              <a:rPr lang="en-US" sz="2800" dirty="0"/>
              <a:t> </a:t>
            </a:r>
            <a:r>
              <a:rPr lang="en-US" sz="2800" dirty="0" err="1"/>
              <a:t>cũ</a:t>
            </a:r>
            <a:r>
              <a:rPr lang="en-US" sz="2800" dirty="0"/>
              <a:t> </a:t>
            </a:r>
            <a:r>
              <a:rPr lang="en-US" sz="2800" dirty="0" err="1"/>
              <a:t>hoặc</a:t>
            </a:r>
            <a:r>
              <a:rPr lang="en-US" sz="2800" dirty="0"/>
              <a:t> </a:t>
            </a:r>
            <a:r>
              <a:rPr lang="en-US" sz="2800" dirty="0" err="1"/>
              <a:t>lỗi</a:t>
            </a:r>
            <a:r>
              <a:rPr lang="en-US" sz="2800" dirty="0"/>
              <a:t> </a:t>
            </a:r>
            <a:r>
              <a:rPr lang="en-US" sz="2800" dirty="0" err="1"/>
              <a:t>không</a:t>
            </a:r>
            <a:r>
              <a:rPr lang="en-US" sz="2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28317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7918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13481"/>
            <a:ext cx="10515600" cy="3272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vi-VN" sz="2800" dirty="0"/>
              <a:t>Giả thuyết: Các vụ compromise thực tế thường xảy ra do: xử lý padding không an toàn (PKCS#1 v1.5), RNG yếu tạo primes dễ đoán, misuse của small exponent. Việc chuyển sang RSASSA-PSS, áp dụng kích thước khóa lớn (≥ 3072bit), sử dụng HSM và library thực hiện constant-time sẽ giảm đáng kể rủi ro.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84852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FE44-90AD-0224-4AF6-D3150F667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0667"/>
            <a:ext cx="10515600" cy="1325563"/>
          </a:xfrm>
        </p:spPr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Kịch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512C3-7096-8396-BC31-D67D41C6C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6230"/>
            <a:ext cx="10515600" cy="2461703"/>
          </a:xfrm>
        </p:spPr>
        <p:txBody>
          <a:bodyPr>
            <a:normAutofit/>
          </a:bodyPr>
          <a:lstStyle/>
          <a:p>
            <a:pPr>
              <a:spcBef>
                <a:spcPts val="2500"/>
              </a:spcBef>
            </a:pPr>
            <a:r>
              <a:rPr lang="en-US" sz="2800" dirty="0"/>
              <a:t>1)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cụ</a:t>
            </a:r>
            <a:r>
              <a:rPr lang="en-US" sz="2800" dirty="0"/>
              <a:t>/</a:t>
            </a:r>
            <a:r>
              <a:rPr lang="en-US" sz="2800" dirty="0" err="1"/>
              <a:t>Thư</a:t>
            </a:r>
            <a:r>
              <a:rPr lang="en-US" sz="2800" dirty="0"/>
              <a:t> </a:t>
            </a:r>
            <a:r>
              <a:rPr lang="en-US" sz="2800" dirty="0" err="1"/>
              <a:t>viện</a:t>
            </a:r>
            <a:r>
              <a:rPr lang="en-US" sz="2800" dirty="0"/>
              <a:t>: OpenSSL, GMP, Docker, Python (</a:t>
            </a:r>
            <a:r>
              <a:rPr lang="en-US" sz="2800" dirty="0" err="1"/>
              <a:t>pycryptodome</a:t>
            </a:r>
            <a:r>
              <a:rPr lang="en-US" sz="2800" dirty="0"/>
              <a:t>)</a:t>
            </a:r>
          </a:p>
          <a:p>
            <a:pPr>
              <a:spcBef>
                <a:spcPts val="2500"/>
              </a:spcBef>
            </a:pPr>
            <a:r>
              <a:rPr lang="en-US" sz="2800" dirty="0"/>
              <a:t>2) </a:t>
            </a:r>
            <a:r>
              <a:rPr lang="en-US" sz="2800" dirty="0" err="1"/>
              <a:t>Môi</a:t>
            </a:r>
            <a:r>
              <a:rPr lang="en-US" sz="2800" dirty="0"/>
              <a:t> </a:t>
            </a:r>
            <a:r>
              <a:rPr lang="en-US" sz="2800" dirty="0" err="1"/>
              <a:t>trường</a:t>
            </a:r>
            <a:r>
              <a:rPr lang="en-US" sz="2800" dirty="0"/>
              <a:t> </a:t>
            </a:r>
            <a:r>
              <a:rPr lang="en-US" sz="2800" dirty="0" err="1"/>
              <a:t>cô</a:t>
            </a:r>
            <a:r>
              <a:rPr lang="en-US" sz="2800" dirty="0"/>
              <a:t> </a:t>
            </a:r>
            <a:r>
              <a:rPr lang="en-US" sz="2800" dirty="0" err="1"/>
              <a:t>lập</a:t>
            </a:r>
            <a:r>
              <a:rPr lang="en-US" sz="2800" dirty="0"/>
              <a:t>, </a:t>
            </a:r>
            <a:r>
              <a:rPr lang="en-US" sz="2800" dirty="0" err="1"/>
              <a:t>chỉ</a:t>
            </a:r>
            <a:r>
              <a:rPr lang="en-US" sz="2800" dirty="0"/>
              <a:t> </a:t>
            </a:r>
            <a:r>
              <a:rPr lang="en-US" sz="2800" dirty="0" err="1"/>
              <a:t>chạy</a:t>
            </a:r>
            <a:r>
              <a:rPr lang="en-US" sz="2800" dirty="0"/>
              <a:t> PoC </a:t>
            </a:r>
            <a:r>
              <a:rPr lang="en-US" sz="2800" dirty="0" err="1"/>
              <a:t>trên</a:t>
            </a:r>
            <a:r>
              <a:rPr lang="en-US" sz="2800" dirty="0"/>
              <a:t> </a:t>
            </a:r>
            <a:r>
              <a:rPr lang="en-US" sz="2800" dirty="0" err="1"/>
              <a:t>hệ</a:t>
            </a:r>
            <a:r>
              <a:rPr lang="en-US" sz="2800" dirty="0"/>
              <a:t> </a:t>
            </a:r>
            <a:r>
              <a:rPr lang="en-US" sz="2800" dirty="0" err="1"/>
              <a:t>thống</a:t>
            </a:r>
            <a:r>
              <a:rPr lang="en-US" sz="2800" dirty="0"/>
              <a:t> lab</a:t>
            </a:r>
          </a:p>
          <a:p>
            <a:pPr>
              <a:spcBef>
                <a:spcPts val="2500"/>
              </a:spcBef>
            </a:pPr>
            <a:r>
              <a:rPr lang="en-US" sz="2800" dirty="0"/>
              <a:t>3) Data collection &amp; metrics</a:t>
            </a:r>
          </a:p>
        </p:txBody>
      </p:sp>
    </p:spTree>
    <p:extLst>
      <p:ext uri="{BB962C8B-B14F-4D97-AF65-F5344CB8AC3E}">
        <p14:creationId xmlns:p14="http://schemas.microsoft.com/office/powerpoint/2010/main" val="4129897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99C9-7567-BF54-35C3-0C524C7A8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9292"/>
            <a:ext cx="10515600" cy="1325563"/>
          </a:xfrm>
        </p:spPr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attack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75CC2-726C-1FD5-6F94-6FBD9821B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4855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/>
              <a:t>Attack A — </a:t>
            </a:r>
            <a:r>
              <a:rPr lang="en-US" sz="2800" dirty="0" err="1"/>
              <a:t>Bleichenbacher</a:t>
            </a:r>
            <a:r>
              <a:rPr lang="en-US" sz="2800" dirty="0"/>
              <a:t> padding oracle PoC: </a:t>
            </a:r>
            <a:r>
              <a:rPr lang="en-US" sz="2800" dirty="0" err="1"/>
              <a:t>dựng</a:t>
            </a:r>
            <a:r>
              <a:rPr lang="en-US" sz="2800" dirty="0"/>
              <a:t> server TLS-like </a:t>
            </a:r>
            <a:r>
              <a:rPr lang="en-US" sz="2800" dirty="0" err="1"/>
              <a:t>dùng</a:t>
            </a:r>
            <a:r>
              <a:rPr lang="en-US" sz="2800" dirty="0"/>
              <a:t> PKCS#1 v1.5 decryption </a:t>
            </a:r>
            <a:r>
              <a:rPr lang="en-US" sz="2800" dirty="0" err="1"/>
              <a:t>cho</a:t>
            </a:r>
            <a:r>
              <a:rPr lang="en-US" sz="2800" dirty="0"/>
              <a:t> </a:t>
            </a:r>
            <a:r>
              <a:rPr lang="en-US" sz="2800" dirty="0" err="1"/>
              <a:t>PreMasterSecret</a:t>
            </a:r>
            <a:r>
              <a:rPr lang="en-US" sz="2800" dirty="0"/>
              <a:t>, </a:t>
            </a:r>
            <a:r>
              <a:rPr lang="en-US" sz="2800" dirty="0" err="1"/>
              <a:t>tạo</a:t>
            </a:r>
            <a:r>
              <a:rPr lang="en-US" sz="2800" dirty="0"/>
              <a:t> oracle, </a:t>
            </a:r>
            <a:r>
              <a:rPr lang="en-US" sz="2800" dirty="0" err="1"/>
              <a:t>phục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r>
              <a:rPr lang="en-US" sz="2800" dirty="0"/>
              <a:t> session se </a:t>
            </a:r>
            <a:r>
              <a:rPr lang="en-US" sz="2800" dirty="0" err="1"/>
              <a:t>cret</a:t>
            </a:r>
            <a:r>
              <a:rPr lang="en-US" sz="2800" dirty="0"/>
              <a:t>; </a:t>
            </a:r>
            <a:r>
              <a:rPr lang="en-US" sz="2800" dirty="0" err="1"/>
              <a:t>sau</a:t>
            </a:r>
            <a:r>
              <a:rPr lang="en-US" sz="2800" dirty="0"/>
              <a:t> </a:t>
            </a:r>
            <a:r>
              <a:rPr lang="en-US" sz="2800" dirty="0" err="1"/>
              <a:t>đó</a:t>
            </a:r>
            <a:r>
              <a:rPr lang="en-US" sz="2800" dirty="0"/>
              <a:t> </a:t>
            </a:r>
            <a:r>
              <a:rPr lang="en-US" sz="2800" dirty="0" err="1"/>
              <a:t>vá</a:t>
            </a:r>
            <a:r>
              <a:rPr lang="en-US" sz="2800" dirty="0"/>
              <a:t> (uniform error, PSS)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kiểm</a:t>
            </a:r>
            <a:r>
              <a:rPr lang="en-US" sz="2800" dirty="0"/>
              <a:t> </a:t>
            </a:r>
            <a:r>
              <a:rPr lang="en-US" sz="2800" dirty="0" err="1"/>
              <a:t>chứng</a:t>
            </a:r>
            <a:r>
              <a:rPr lang="en-US" sz="2800" dirty="0"/>
              <a:t>.</a:t>
            </a:r>
          </a:p>
          <a:p>
            <a:pPr>
              <a:buFontTx/>
              <a:buChar char="-"/>
            </a:pPr>
            <a:r>
              <a:rPr lang="en-US" sz="2800" dirty="0"/>
              <a:t>Attack B — Timing attack: </a:t>
            </a:r>
            <a:r>
              <a:rPr lang="en-US" sz="2800" dirty="0" err="1"/>
              <a:t>đo</a:t>
            </a:r>
            <a:r>
              <a:rPr lang="en-US" sz="2800" dirty="0"/>
              <a:t> local </a:t>
            </a:r>
            <a:r>
              <a:rPr lang="en-US" sz="2800" dirty="0" err="1"/>
              <a:t>và</a:t>
            </a:r>
            <a:r>
              <a:rPr lang="en-US" sz="2800" dirty="0"/>
              <a:t> remote timing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dò</a:t>
            </a:r>
            <a:r>
              <a:rPr lang="en-US" sz="2800" dirty="0"/>
              <a:t> </a:t>
            </a:r>
            <a:r>
              <a:rPr lang="en-US" sz="2800" dirty="0" err="1"/>
              <a:t>rò</a:t>
            </a:r>
            <a:r>
              <a:rPr lang="en-US" sz="2800" dirty="0"/>
              <a:t> </a:t>
            </a:r>
            <a:r>
              <a:rPr lang="en-US" sz="2800" dirty="0" err="1"/>
              <a:t>rỉ</a:t>
            </a:r>
            <a:r>
              <a:rPr lang="en-US" sz="2800" dirty="0"/>
              <a:t> </a:t>
            </a:r>
            <a:r>
              <a:rPr lang="en-US" sz="2800" dirty="0" err="1"/>
              <a:t>thông</a:t>
            </a:r>
            <a:r>
              <a:rPr lang="en-US" sz="2800" dirty="0"/>
              <a:t> tin </a:t>
            </a:r>
            <a:r>
              <a:rPr lang="en-US" sz="2800" dirty="0" err="1"/>
              <a:t>về</a:t>
            </a:r>
            <a:r>
              <a:rPr lang="en-US" sz="2800" dirty="0"/>
              <a:t> d; </a:t>
            </a:r>
            <a:r>
              <a:rPr lang="en-US" sz="2800" dirty="0" err="1"/>
              <a:t>đánh</a:t>
            </a:r>
            <a:r>
              <a:rPr lang="en-US" sz="2800" dirty="0"/>
              <a:t> </a:t>
            </a:r>
            <a:r>
              <a:rPr lang="en-US" sz="2800" dirty="0" err="1"/>
              <a:t>giá</a:t>
            </a:r>
            <a:r>
              <a:rPr lang="en-US" sz="2800" dirty="0"/>
              <a:t> countermeasures (exponent blinding, constant-time lib).</a:t>
            </a:r>
          </a:p>
          <a:p>
            <a:pPr>
              <a:buFontTx/>
              <a:buChar char="-"/>
            </a:pPr>
            <a:r>
              <a:rPr lang="en-US" sz="2800" dirty="0"/>
              <a:t>Attack C — Wiener / low-d: </a:t>
            </a:r>
            <a:r>
              <a:rPr lang="en-US" sz="2800" dirty="0" err="1"/>
              <a:t>sinh</a:t>
            </a:r>
            <a:r>
              <a:rPr lang="en-US" sz="2800" dirty="0"/>
              <a:t> </a:t>
            </a:r>
            <a:r>
              <a:rPr lang="en-US" sz="2800" dirty="0" err="1"/>
              <a:t>khóa</a:t>
            </a:r>
            <a:r>
              <a:rPr lang="en-US" sz="2800" dirty="0"/>
              <a:t> vulnerable (small d)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dùng</a:t>
            </a:r>
            <a:r>
              <a:rPr lang="en-US" sz="2800" dirty="0"/>
              <a:t> </a:t>
            </a:r>
            <a:r>
              <a:rPr lang="en-US" sz="2800" dirty="0" err="1"/>
              <a:t>thuật</a:t>
            </a:r>
            <a:r>
              <a:rPr lang="en-US" sz="2800" dirty="0"/>
              <a:t> </a:t>
            </a:r>
            <a:r>
              <a:rPr lang="en-US" sz="2800" dirty="0" err="1"/>
              <a:t>toán</a:t>
            </a:r>
            <a:r>
              <a:rPr lang="en-US" sz="2800" dirty="0"/>
              <a:t> Wiener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phục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r>
              <a:rPr lang="en-US" sz="2800" dirty="0"/>
              <a:t> private key</a:t>
            </a:r>
          </a:p>
        </p:txBody>
      </p:sp>
    </p:spTree>
    <p:extLst>
      <p:ext uri="{BB962C8B-B14F-4D97-AF65-F5344CB8AC3E}">
        <p14:creationId xmlns:p14="http://schemas.microsoft.com/office/powerpoint/2010/main" val="2892076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0625"/>
            <a:ext cx="10058400" cy="402336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// </a:t>
            </a:r>
            <a:r>
              <a:rPr lang="en-US" dirty="0" err="1"/>
              <a:t>đưa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vào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0579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E02C9-43C9-2BCE-5DB3-E90CC5CDE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63" y="511773"/>
            <a:ext cx="10515600" cy="1325563"/>
          </a:xfrm>
        </p:spPr>
        <p:txBody>
          <a:bodyPr/>
          <a:lstStyle/>
          <a:p>
            <a:r>
              <a:rPr lang="en-US" dirty="0" err="1"/>
              <a:t>Biện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khắc</a:t>
            </a:r>
            <a:r>
              <a:rPr lang="en-US" dirty="0"/>
              <a:t> </a:t>
            </a:r>
            <a:r>
              <a:rPr lang="en-US" dirty="0" err="1"/>
              <a:t>phục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9A5CB-4CC6-E56D-5F11-96E4F9804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73867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2000"/>
              </a:spcBef>
              <a:buFontTx/>
              <a:buChar char="-"/>
            </a:pPr>
            <a:r>
              <a:rPr lang="vi-VN" dirty="0"/>
              <a:t>Ưu tiên RSASSA-PSS cho chữ ký và tránh PKCS#1 v1.5 khi có thể.</a:t>
            </a:r>
            <a:endParaRPr lang="en-US" dirty="0"/>
          </a:p>
          <a:p>
            <a:pPr>
              <a:spcBef>
                <a:spcPts val="2000"/>
              </a:spcBef>
              <a:buFontTx/>
              <a:buChar char="-"/>
            </a:pPr>
            <a:r>
              <a:rPr lang="vi-VN" dirty="0"/>
              <a:t>Dùng kích thước khóa lớn (≥3072 bit) hoặc chuyển sang ECC/PQC cho bảo vệ dài hạn.</a:t>
            </a:r>
            <a:endParaRPr lang="en-US" dirty="0"/>
          </a:p>
          <a:p>
            <a:pPr>
              <a:spcBef>
                <a:spcPts val="2000"/>
              </a:spcBef>
              <a:buFontTx/>
              <a:buChar char="-"/>
            </a:pPr>
            <a:r>
              <a:rPr lang="vi-VN" dirty="0"/>
              <a:t>Vô hiệu hóa RSA key exchange trong TLS, ưu tiên ECDHE cho forward secrecy.</a:t>
            </a:r>
            <a:endParaRPr lang="en-US" dirty="0"/>
          </a:p>
          <a:p>
            <a:pPr>
              <a:spcBef>
                <a:spcPts val="2000"/>
              </a:spcBef>
              <a:buFontTx/>
              <a:buChar char="-"/>
            </a:pPr>
            <a:r>
              <a:rPr lang="vi-VN" dirty="0"/>
              <a:t>Áp dụng exponent &amp; CRT blinding, constant-time modular exponentiation, và CSPRNG mạnh cho keygen.</a:t>
            </a:r>
            <a:endParaRPr lang="en-US" dirty="0"/>
          </a:p>
          <a:p>
            <a:pPr>
              <a:spcBef>
                <a:spcPts val="2000"/>
              </a:spcBef>
              <a:buFontTx/>
              <a:buChar char="-"/>
            </a:pPr>
            <a:r>
              <a:rPr lang="vi-VN" dirty="0"/>
              <a:t>Lưu private key </a:t>
            </a:r>
            <a:r>
              <a:rPr lang="en-US" dirty="0" err="1"/>
              <a:t>kĩ</a:t>
            </a:r>
            <a:r>
              <a:rPr lang="vi-VN" dirty="0"/>
              <a:t>, giới hạn API và dùng uniform error messages.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42217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7C28B-16E5-1A84-EF3F-88CF63A00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947" y="534569"/>
            <a:ext cx="10515600" cy="1325563"/>
          </a:xfrm>
        </p:spPr>
        <p:txBody>
          <a:bodyPr/>
          <a:lstStyle/>
          <a:p>
            <a:r>
              <a:rPr lang="en-US" dirty="0"/>
              <a:t>4.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DDB8B-8E67-8881-EFDE-8726FE1E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56613"/>
            <a:ext cx="10515600" cy="4351338"/>
          </a:xfrm>
        </p:spPr>
        <p:txBody>
          <a:bodyPr/>
          <a:lstStyle/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/>
              <a:t>Key size </a:t>
            </a:r>
            <a:r>
              <a:rPr lang="en-US" dirty="0" err="1"/>
              <a:t>phải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: </a:t>
            </a:r>
            <a:r>
              <a:rPr lang="en-US" dirty="0" err="1"/>
              <a:t>ít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2048 bit, 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khích</a:t>
            </a:r>
            <a:r>
              <a:rPr lang="en-US" dirty="0"/>
              <a:t>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lên</a:t>
            </a:r>
            <a:r>
              <a:rPr lang="en-US" dirty="0"/>
              <a:t> 3072 bit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ngẫu</a:t>
            </a:r>
            <a:r>
              <a:rPr lang="en-US" dirty="0"/>
              <a:t> </a:t>
            </a:r>
            <a:r>
              <a:rPr lang="en-US" dirty="0" err="1"/>
              <a:t>nhiên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Tránh</a:t>
            </a:r>
            <a:r>
              <a:rPr lang="en-US" dirty="0"/>
              <a:t> dung </a:t>
            </a:r>
            <a:r>
              <a:rPr lang="en-US" dirty="0" err="1"/>
              <a:t>chung</a:t>
            </a:r>
            <a:r>
              <a:rPr lang="en-US" dirty="0"/>
              <a:t> 1 </a:t>
            </a:r>
            <a:r>
              <a:rPr lang="en-US" dirty="0" err="1"/>
              <a:t>khóa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dịch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en-US" dirty="0" err="1"/>
              <a:t>nhau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vệ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 err="1"/>
              <a:t>Giám</a:t>
            </a:r>
            <a:r>
              <a:rPr lang="en-US" dirty="0"/>
              <a:t> </a:t>
            </a:r>
            <a:r>
              <a:rPr lang="en-US" dirty="0" err="1"/>
              <a:t>sát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kĩ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phá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. </a:t>
            </a:r>
            <a:r>
              <a:rPr lang="en-US" dirty="0" err="1"/>
              <a:t>Lên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hoạch</a:t>
            </a:r>
            <a:r>
              <a:rPr lang="en-US" dirty="0"/>
              <a:t> </a:t>
            </a:r>
            <a:r>
              <a:rPr lang="en-US" dirty="0" err="1"/>
              <a:t>chuyển</a:t>
            </a:r>
            <a:r>
              <a:rPr lang="en-US" dirty="0"/>
              <a:t> sang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,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hậu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05422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15A89-CD67-D4A0-B52B-738FC7656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00062"/>
            <a:ext cx="10515600" cy="1325563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EC9D7-4EE0-2023-7142-B54AFCC3B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5"/>
            <a:ext cx="10515600" cy="4351338"/>
          </a:xfrm>
        </p:spPr>
        <p:txBody>
          <a:bodyPr/>
          <a:lstStyle/>
          <a:p>
            <a:r>
              <a:rPr lang="en-US" dirty="0"/>
              <a:t>//</a:t>
            </a:r>
          </a:p>
        </p:txBody>
      </p:sp>
    </p:spTree>
    <p:extLst>
      <p:ext uri="{BB962C8B-B14F-4D97-AF65-F5344CB8AC3E}">
        <p14:creationId xmlns:p14="http://schemas.microsoft.com/office/powerpoint/2010/main" val="78741355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ài liệu" ma:contentTypeID="0x010100B1C9C9CFBA54554FAB72A368ED558EE9" ma:contentTypeVersion="4" ma:contentTypeDescription="Tạo tài liệu mới." ma:contentTypeScope="" ma:versionID="7afe8246de33ba856f7f9004637ff618">
  <xsd:schema xmlns:xsd="http://www.w3.org/2001/XMLSchema" xmlns:xs="http://www.w3.org/2001/XMLSchema" xmlns:p="http://schemas.microsoft.com/office/2006/metadata/properties" xmlns:ns3="7804a6fb-3003-4c78-85cc-87186ae6e246" targetNamespace="http://schemas.microsoft.com/office/2006/metadata/properties" ma:root="true" ma:fieldsID="1dbbbb438070c4d288d95d0c153f475e" ns3:_="">
    <xsd:import namespace="7804a6fb-3003-4c78-85cc-87186ae6e24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04a6fb-3003-4c78-85cc-87186ae6e24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Loại Nội dung"/>
        <xsd:element ref="dc:title" minOccurs="0" maxOccurs="1" ma:index="4" ma:displayName="Tiêu đề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EA5A663-36CB-4D52-ACF0-0994F2B58167}">
  <ds:schemaRefs>
    <ds:schemaRef ds:uri="http://purl.org/dc/dcmitype/"/>
    <ds:schemaRef ds:uri="http://schemas.openxmlformats.org/package/2006/metadata/core-properties"/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7804a6fb-3003-4c78-85cc-87186ae6e246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02A294DC-FDDB-4C19-A732-9D70B934EFD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B0FCB8-DB46-4959-B9E6-F720DF2AB4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04a6fb-3003-4c78-85cc-87186ae6e2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2938</TotalTime>
  <Words>750</Words>
  <Application>Microsoft Office PowerPoint</Application>
  <PresentationFormat>Widescreen</PresentationFormat>
  <Paragraphs>47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-apple-system</vt:lpstr>
      <vt:lpstr>Calibri</vt:lpstr>
      <vt:lpstr>Calibri Light</vt:lpstr>
      <vt:lpstr>Courier New</vt:lpstr>
      <vt:lpstr>Retrospect</vt:lpstr>
      <vt:lpstr>Cryptanalysis on Asymmetric Ciphers — RSA &amp; RSA‑Based Signatures</vt:lpstr>
      <vt:lpstr>1. Bối cảnh</vt:lpstr>
      <vt:lpstr>Rủi ro</vt:lpstr>
      <vt:lpstr>Security Goals</vt:lpstr>
      <vt:lpstr>2. Các  câu hỏi nghiên cứu và giả thuyết</vt:lpstr>
      <vt:lpstr>2. Các  câu hỏi nghiên cứu và giả thuyết</vt:lpstr>
      <vt:lpstr>2. Các  câu hỏi nghiên cứu và giả thuyết</vt:lpstr>
      <vt:lpstr>3. Kịch bản triển khai</vt:lpstr>
      <vt:lpstr>Các attack triển khai</vt:lpstr>
      <vt:lpstr>Kết quả</vt:lpstr>
      <vt:lpstr>Biện pháp khắc phục </vt:lpstr>
      <vt:lpstr>4. Kiến trúc giải pháp</vt:lpstr>
      <vt:lpstr>Kết luận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Phạm Nguyễn Thành Long</dc:creator>
  <cp:lastModifiedBy>Phạm Nguyễn Thành Long</cp:lastModifiedBy>
  <cp:revision>3</cp:revision>
  <dcterms:created xsi:type="dcterms:W3CDTF">2025-12-19T07:28:18Z</dcterms:created>
  <dcterms:modified xsi:type="dcterms:W3CDTF">2025-12-26T05:23:01Z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0x010100B1C9C9CFBA54554FAB72A368ED558EE9</vt:lpwstr>
  </property>
</Properties>
</file>