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60" r:id="rId8"/>
    <p:sldId id="266" r:id="rId9"/>
    <p:sldId id="269" r:id="rId10"/>
    <p:sldId id="268" r:id="rId11"/>
    <p:sldId id="261" r:id="rId12"/>
    <p:sldId id="262" r:id="rId13"/>
    <p:sldId id="274" r:id="rId14"/>
    <p:sldId id="275" r:id="rId15"/>
    <p:sldId id="278" r:id="rId16"/>
    <p:sldId id="276" r:id="rId17"/>
    <p:sldId id="277" r:id="rId18"/>
    <p:sldId id="263" r:id="rId19"/>
    <p:sldId id="270" r:id="rId20"/>
    <p:sldId id="272" r:id="rId21"/>
    <p:sldId id="279" r:id="rId22"/>
    <p:sldId id="287" r:id="rId23"/>
    <p:sldId id="289" r:id="rId24"/>
    <p:sldId id="292" r:id="rId25"/>
    <p:sldId id="293" r:id="rId26"/>
    <p:sldId id="290" r:id="rId27"/>
    <p:sldId id="273" r:id="rId28"/>
    <p:sldId id="288" r:id="rId29"/>
    <p:sldId id="280" r:id="rId30"/>
    <p:sldId id="281" r:id="rId31"/>
    <p:sldId id="294" r:id="rId32"/>
    <p:sldId id="271" r:id="rId33"/>
    <p:sldId id="283" r:id="rId34"/>
    <p:sldId id="284" r:id="rId35"/>
    <p:sldId id="295" r:id="rId36"/>
    <p:sldId id="296" r:id="rId37"/>
    <p:sldId id="259" r:id="rId38"/>
    <p:sldId id="264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05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67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2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42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6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38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51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6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16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32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6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525300-05E8-4D28-85DB-000DB90F5912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A904E4-DD49-4406-9C6D-DC1F0A4BC90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653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E7E577F2-1107-AEB4-5611-905F7AB78C5F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xfrm>
            <a:off x="1342845" y="484038"/>
            <a:ext cx="91440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i="0" dirty="0">
                <a:solidFill>
                  <a:srgbClr val="1F2328"/>
                </a:solidFill>
                <a:effectLst/>
                <a:latin typeface="-apple-system"/>
              </a:rPr>
              <a:t>Cryptanalysis on Asymmetric Ciphers — RSA &amp; RSA‑Based Signatures</a:t>
            </a:r>
          </a:p>
        </p:txBody>
      </p:sp>
    </p:spTree>
    <p:extLst>
      <p:ext uri="{BB962C8B-B14F-4D97-AF65-F5344CB8AC3E}">
        <p14:creationId xmlns:p14="http://schemas.microsoft.com/office/powerpoint/2010/main" val="2254650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F865-B938-0204-A786-4DFC29D08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3413"/>
            <a:ext cx="10515600" cy="132556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87684-54E6-6F24-93FC-5F8A1EE28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02" y="1747987"/>
            <a:ext cx="10515600" cy="4351338"/>
          </a:xfrm>
        </p:spPr>
        <p:txBody>
          <a:bodyPr/>
          <a:lstStyle/>
          <a:p>
            <a:r>
              <a:rPr lang="en-US" dirty="0"/>
              <a:t>RSA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rãi</a:t>
            </a:r>
            <a:r>
              <a:rPr lang="en-US" dirty="0"/>
              <a:t> ở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en-US" dirty="0"/>
              <a:t>Giao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SSL/TLS, SSH, …</a:t>
            </a:r>
          </a:p>
          <a:p>
            <a:pPr>
              <a:buFontTx/>
              <a:buChar char="-"/>
            </a:pP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VPN</a:t>
            </a:r>
          </a:p>
          <a:p>
            <a:pPr>
              <a:buFontTx/>
              <a:buChar char="-"/>
            </a:pPr>
            <a:r>
              <a:rPr lang="en-US" dirty="0"/>
              <a:t>Smart Cards,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IoT</a:t>
            </a:r>
          </a:p>
          <a:p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: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, RSA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ẩn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49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EADD6-AB03-4EC7-EEDD-C6639EB9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60" y="322537"/>
            <a:ext cx="10515600" cy="1325563"/>
          </a:xfrm>
        </p:spPr>
        <p:txBody>
          <a:bodyPr/>
          <a:lstStyle/>
          <a:p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0B4F-C6AC-0CDE-7AA7-6BE4A7785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16657"/>
            <a:ext cx="7573992" cy="4818806"/>
          </a:xfrm>
        </p:spPr>
        <p:txBody>
          <a:bodyPr>
            <a:normAutofit/>
          </a:bodyPr>
          <a:lstStyle/>
          <a:p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thừa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N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p,q</a:t>
            </a:r>
            <a:r>
              <a:rPr lang="en-US" sz="2400" dirty="0"/>
              <a:t>,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gặp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</a:t>
            </a:r>
            <a:r>
              <a:rPr lang="en-US" sz="2400" dirty="0" err="1"/>
              <a:t>rủi</a:t>
            </a:r>
            <a:r>
              <a:rPr lang="en-US" sz="2400" dirty="0"/>
              <a:t> </a:t>
            </a:r>
            <a:r>
              <a:rPr lang="en-US" sz="2400" dirty="0" err="1"/>
              <a:t>ro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:</a:t>
            </a:r>
          </a:p>
          <a:p>
            <a:pPr>
              <a:buFontTx/>
              <a:buChar char="-"/>
            </a:pPr>
            <a:r>
              <a:rPr lang="en-US" sz="2400" dirty="0" err="1"/>
              <a:t>Khôi</a:t>
            </a:r>
            <a:r>
              <a:rPr lang="en-US" sz="2400" dirty="0"/>
              <a:t> </a:t>
            </a:r>
            <a:r>
              <a:rPr lang="en-US" sz="2400" dirty="0" err="1"/>
              <a:t>phục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private key</a:t>
            </a:r>
          </a:p>
          <a:p>
            <a:pPr>
              <a:buFontTx/>
              <a:buChar char="-"/>
            </a:pPr>
            <a:r>
              <a:rPr lang="en-US" sz="2400" dirty="0" err="1"/>
              <a:t>Mất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bảo</a:t>
            </a:r>
            <a:r>
              <a:rPr lang="en-US" sz="2400" dirty="0"/>
              <a:t> </a:t>
            </a:r>
            <a:r>
              <a:rPr lang="en-US" sz="2400" dirty="0" err="1"/>
              <a:t>mật</a:t>
            </a:r>
            <a:r>
              <a:rPr lang="en-US" sz="2400" dirty="0"/>
              <a:t>: </a:t>
            </a:r>
            <a:r>
              <a:rPr lang="en-US" sz="2400" dirty="0" err="1"/>
              <a:t>dịch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/>
              <a:t>nhập</a:t>
            </a:r>
            <a:r>
              <a:rPr lang="en-US" sz="2400" dirty="0"/>
              <a:t>,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phiên</a:t>
            </a:r>
            <a:r>
              <a:rPr lang="en-US" sz="2400" dirty="0"/>
              <a:t>, …</a:t>
            </a:r>
          </a:p>
          <a:p>
            <a:pPr>
              <a:buFontTx/>
              <a:buChar char="-"/>
            </a:pPr>
            <a:r>
              <a:rPr lang="en-US" sz="2400" dirty="0" err="1"/>
              <a:t>Mất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vẹn</a:t>
            </a:r>
            <a:r>
              <a:rPr lang="en-US" sz="2400" dirty="0"/>
              <a:t>,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: </a:t>
            </a:r>
            <a:r>
              <a:rPr lang="en-US" sz="2400" dirty="0" err="1"/>
              <a:t>giả</a:t>
            </a:r>
            <a:r>
              <a:rPr lang="en-US" sz="2400" dirty="0"/>
              <a:t> </a:t>
            </a:r>
            <a:r>
              <a:rPr lang="en-US" sz="2400" dirty="0" err="1"/>
              <a:t>mạo</a:t>
            </a:r>
            <a:r>
              <a:rPr lang="en-US" sz="2400" dirty="0"/>
              <a:t> </a:t>
            </a:r>
            <a:r>
              <a:rPr lang="en-US" sz="2400" dirty="0" err="1"/>
              <a:t>chữ</a:t>
            </a:r>
            <a:r>
              <a:rPr lang="en-US" sz="2400" dirty="0"/>
              <a:t> </a:t>
            </a:r>
            <a:r>
              <a:rPr lang="en-US" sz="2400" dirty="0" err="1"/>
              <a:t>kí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cặp</a:t>
            </a:r>
            <a:r>
              <a:rPr lang="en-US" sz="2400" dirty="0"/>
              <a:t> </a:t>
            </a:r>
            <a:r>
              <a:rPr lang="en-US" sz="2400" dirty="0" err="1"/>
              <a:t>khóa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tái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service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r>
              <a:rPr lang="en-US" sz="2400" dirty="0"/>
              <a:t>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hưởng</a:t>
            </a:r>
            <a:endParaRPr lang="en-US" sz="2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808D2E8-5AC7-5FD4-BCCF-D415F4A87F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3" t="1935" r="5582"/>
          <a:stretch/>
        </p:blipFill>
        <p:spPr bwMode="auto">
          <a:xfrm>
            <a:off x="7461850" y="1589447"/>
            <a:ext cx="4730150" cy="3620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0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102D-985C-CC9C-EB7E-2C67506C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22" y="189512"/>
            <a:ext cx="10515600" cy="1325563"/>
          </a:xfrm>
        </p:spPr>
        <p:txBody>
          <a:bodyPr/>
          <a:lstStyle/>
          <a:p>
            <a:r>
              <a:rPr lang="en-US" dirty="0"/>
              <a:t>Security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B7E2-B0E8-A8BE-4A48-445B8F4B9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98154"/>
            <a:ext cx="10515600" cy="4351338"/>
          </a:xfrm>
        </p:spPr>
        <p:txBody>
          <a:bodyPr/>
          <a:lstStyle/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: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.</a:t>
            </a:r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: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chắc</a:t>
            </a:r>
            <a:r>
              <a:rPr lang="en-US" dirty="0"/>
              <a:t> </a:t>
            </a:r>
            <a:r>
              <a:rPr lang="en-US" dirty="0" err="1"/>
              <a:t>chắn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đâu</a:t>
            </a:r>
            <a:r>
              <a:rPr lang="en-US" dirty="0"/>
              <a:t>,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.</a:t>
            </a:r>
          </a:p>
          <a:p>
            <a:r>
              <a:rPr lang="en-US" dirty="0" err="1"/>
              <a:t>Chống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54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102D-985C-CC9C-EB7E-2C67506C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3797"/>
            <a:ext cx="10515600" cy="1325563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Các</a:t>
            </a:r>
            <a:r>
              <a:rPr lang="en-US" dirty="0"/>
              <a:t> 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thuyết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F9B7E2-B0E8-A8BE-4A48-445B8F4B9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17" y="1739360"/>
            <a:ext cx="10515600" cy="21597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/>
              <a:t>RQ1: Trong </a:t>
            </a:r>
            <a:r>
              <a:rPr lang="en-US" sz="2800" dirty="0" err="1"/>
              <a:t>kịch</a:t>
            </a:r>
            <a:r>
              <a:rPr lang="en-US" sz="2800" dirty="0"/>
              <a:t> </a:t>
            </a:r>
            <a:r>
              <a:rPr lang="en-US" sz="2800" dirty="0" err="1"/>
              <a:t>bản</a:t>
            </a:r>
            <a:r>
              <a:rPr lang="en-US" sz="2800" dirty="0"/>
              <a:t> </a:t>
            </a:r>
            <a:r>
              <a:rPr lang="en-US" sz="2800" dirty="0" err="1"/>
              <a:t>triển</a:t>
            </a:r>
            <a:r>
              <a:rPr lang="en-US" sz="2800" dirty="0"/>
              <a:t> </a:t>
            </a:r>
            <a:r>
              <a:rPr lang="en-US" sz="2800" dirty="0" err="1"/>
              <a:t>khai</a:t>
            </a:r>
            <a:r>
              <a:rPr lang="en-US" sz="2800" dirty="0"/>
              <a:t> </a:t>
            </a:r>
            <a:r>
              <a:rPr lang="en-US" sz="2800" dirty="0" err="1"/>
              <a:t>thực</a:t>
            </a:r>
            <a:r>
              <a:rPr lang="en-US" sz="2800" dirty="0"/>
              <a:t> </a:t>
            </a:r>
            <a:r>
              <a:rPr lang="en-US" sz="2800" dirty="0" err="1"/>
              <a:t>tế</a:t>
            </a:r>
            <a:r>
              <a:rPr lang="en-US" sz="2800" dirty="0"/>
              <a:t> (TLS, JWT, code signing), </a:t>
            </a:r>
            <a:r>
              <a:rPr lang="en-US" sz="2800" dirty="0" err="1"/>
              <a:t>đâu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điểm</a:t>
            </a:r>
            <a:r>
              <a:rPr lang="en-US" sz="2800" dirty="0"/>
              <a:t> </a:t>
            </a:r>
            <a:r>
              <a:rPr lang="en-US" sz="2800" dirty="0" err="1"/>
              <a:t>yếu</a:t>
            </a:r>
            <a:r>
              <a:rPr lang="en-US" sz="2800" dirty="0"/>
              <a:t> </a:t>
            </a:r>
            <a:r>
              <a:rPr lang="en-US" sz="2800" dirty="0" err="1"/>
              <a:t>phổ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r>
              <a:rPr lang="en-US" sz="2800" dirty="0"/>
              <a:t> </a:t>
            </a:r>
            <a:r>
              <a:rPr lang="en-US" sz="2800" dirty="0" err="1"/>
              <a:t>liên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r>
              <a:rPr lang="en-US" sz="2800" dirty="0"/>
              <a:t> </a:t>
            </a:r>
            <a:r>
              <a:rPr lang="en-US" sz="2800" dirty="0" err="1"/>
              <a:t>tới</a:t>
            </a:r>
            <a:r>
              <a:rPr lang="en-US" sz="2800" dirty="0"/>
              <a:t> RSA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chúng</a:t>
            </a:r>
            <a:r>
              <a:rPr lang="en-US" sz="2800" dirty="0"/>
              <a:t> </a:t>
            </a:r>
            <a:r>
              <a:rPr lang="en-US" sz="2800" dirty="0" err="1"/>
              <a:t>dẫn</a:t>
            </a:r>
            <a:r>
              <a:rPr lang="en-US" sz="2800" dirty="0"/>
              <a:t> </a:t>
            </a:r>
            <a:r>
              <a:rPr lang="en-US" sz="2800" dirty="0" err="1"/>
              <a:t>tới</a:t>
            </a:r>
            <a:r>
              <a:rPr lang="en-US" sz="2800" dirty="0"/>
              <a:t> </a:t>
            </a:r>
            <a:r>
              <a:rPr lang="en-US" sz="2800" dirty="0" err="1"/>
              <a:t>hậu</a:t>
            </a:r>
            <a:r>
              <a:rPr lang="en-US" sz="2800" dirty="0"/>
              <a:t> </a:t>
            </a:r>
            <a:r>
              <a:rPr lang="en-US" sz="2800" dirty="0" err="1"/>
              <a:t>quả</a:t>
            </a:r>
            <a:r>
              <a:rPr lang="en-US" sz="2800" dirty="0"/>
              <a:t> </a:t>
            </a:r>
            <a:r>
              <a:rPr lang="en-US" sz="2800" dirty="0" err="1"/>
              <a:t>gì</a:t>
            </a:r>
            <a:r>
              <a:rPr lang="en-US" sz="2800" dirty="0"/>
              <a:t> (forgery, key recovery, signature replay)?</a:t>
            </a:r>
          </a:p>
        </p:txBody>
      </p:sp>
    </p:spTree>
    <p:extLst>
      <p:ext uri="{BB962C8B-B14F-4D97-AF65-F5344CB8AC3E}">
        <p14:creationId xmlns:p14="http://schemas.microsoft.com/office/powerpoint/2010/main" val="619504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102D-985C-CC9C-EB7E-2C67506C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2425"/>
            <a:ext cx="10515600" cy="1325563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Các</a:t>
            </a:r>
            <a:r>
              <a:rPr lang="en-US" dirty="0"/>
              <a:t> 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thuyết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4CC90B-89E3-0291-19AD-47382844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17" y="1739360"/>
            <a:ext cx="10515600" cy="21597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/>
              <a:t>RQ2: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tấn</a:t>
            </a:r>
            <a:r>
              <a:rPr lang="en-US" sz="2800" dirty="0"/>
              <a:t>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Bleichenbacher</a:t>
            </a:r>
            <a:r>
              <a:rPr lang="en-US" sz="2800" dirty="0"/>
              <a:t> (padding oracle) </a:t>
            </a:r>
            <a:r>
              <a:rPr lang="en-US" sz="2800" dirty="0" err="1"/>
              <a:t>và</a:t>
            </a:r>
            <a:r>
              <a:rPr lang="en-US" sz="2800" dirty="0"/>
              <a:t> timing attacks </a:t>
            </a:r>
            <a:r>
              <a:rPr lang="en-US" sz="2800" dirty="0" err="1"/>
              <a:t>còn</a:t>
            </a:r>
            <a:r>
              <a:rPr lang="en-US" sz="2800" dirty="0"/>
              <a:t> </a:t>
            </a:r>
            <a:r>
              <a:rPr lang="en-US" sz="2800" dirty="0" err="1"/>
              <a:t>khả</a:t>
            </a:r>
            <a:r>
              <a:rPr lang="en-US" sz="2800" dirty="0"/>
              <a:t> </a:t>
            </a:r>
            <a:r>
              <a:rPr lang="en-US" sz="2800" dirty="0" err="1"/>
              <a:t>thi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stack </a:t>
            </a:r>
            <a:r>
              <a:rPr lang="en-US" sz="2800" dirty="0" err="1"/>
              <a:t>hiện</a:t>
            </a:r>
            <a:r>
              <a:rPr lang="en-US" sz="2800" dirty="0"/>
              <a:t> </a:t>
            </a:r>
            <a:r>
              <a:rPr lang="en-US" sz="2800" dirty="0" err="1"/>
              <a:t>đại</a:t>
            </a:r>
            <a:r>
              <a:rPr lang="en-US" sz="2800" dirty="0"/>
              <a:t> (OpenSSL/LibreSSL/</a:t>
            </a:r>
            <a:r>
              <a:rPr lang="en-US" sz="2800" dirty="0" err="1"/>
              <a:t>BoringSSL</a:t>
            </a:r>
            <a:r>
              <a:rPr lang="en-US" sz="2800" dirty="0"/>
              <a:t>)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gặp</a:t>
            </a:r>
            <a:r>
              <a:rPr lang="en-US" sz="2800" dirty="0"/>
              <a:t> </a:t>
            </a:r>
            <a:r>
              <a:rPr lang="en-US" sz="2800" dirty="0" err="1"/>
              <a:t>cấu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</a:t>
            </a:r>
            <a:r>
              <a:rPr lang="en-US" sz="2800" dirty="0" err="1"/>
              <a:t>cũ</a:t>
            </a:r>
            <a:r>
              <a:rPr lang="en-US" sz="2800" dirty="0"/>
              <a:t> </a:t>
            </a:r>
            <a:r>
              <a:rPr lang="en-US" sz="2800" dirty="0" err="1"/>
              <a:t>hoặc</a:t>
            </a:r>
            <a:r>
              <a:rPr lang="en-US" sz="2800" dirty="0"/>
              <a:t> </a:t>
            </a:r>
            <a:r>
              <a:rPr lang="en-US" sz="2800" dirty="0" err="1"/>
              <a:t>lỗi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2831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0102D-985C-CC9C-EB7E-2C67506C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7918"/>
            <a:ext cx="10515600" cy="1325563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Các</a:t>
            </a:r>
            <a:r>
              <a:rPr lang="en-US" dirty="0"/>
              <a:t> 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thuyết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9B7E2-B0E8-A8BE-4A48-445B8F4B9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13481"/>
            <a:ext cx="10515600" cy="3272586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vi-VN" sz="2800" dirty="0"/>
              <a:t>Giả thuyết: Các vụ compromise thực tế thường xảy ra do: xử lý padding không an toàn (PKCS#1 v1.5), RNG yếu tạo primes dễ đoán, misuse của small exponent. Việc chuyển sang RSASSA-PSS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kí</a:t>
            </a:r>
            <a:r>
              <a:rPr lang="en-US" sz="2800" dirty="0"/>
              <a:t>, RSA-OAEP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mã</a:t>
            </a:r>
            <a:r>
              <a:rPr lang="en-US" sz="2800" dirty="0"/>
              <a:t> </a:t>
            </a:r>
            <a:r>
              <a:rPr lang="en-US" sz="2800" dirty="0" err="1"/>
              <a:t>hóa</a:t>
            </a:r>
            <a:r>
              <a:rPr lang="vi-VN" sz="2800" dirty="0"/>
              <a:t>, áp dụng kích thước khóa lớn (≥ 3072bit), sử dụng HSM và library thực hiện constant-time sẽ giảm đáng kể rủi ro.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84852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FE44-90AD-0224-4AF6-D3150F66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667"/>
            <a:ext cx="10515600" cy="1325563"/>
          </a:xfrm>
        </p:spPr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Kịch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512C3-7096-8396-BC31-D67D41C6C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1505"/>
            <a:ext cx="10515600" cy="2461703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sz="2800" dirty="0"/>
              <a:t>1)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cụ</a:t>
            </a:r>
            <a:r>
              <a:rPr lang="en-US" sz="2800" dirty="0"/>
              <a:t>/</a:t>
            </a:r>
            <a:r>
              <a:rPr lang="en-US" sz="2800" dirty="0" err="1"/>
              <a:t>Thư</a:t>
            </a:r>
            <a:r>
              <a:rPr lang="en-US" sz="2800" dirty="0"/>
              <a:t> </a:t>
            </a:r>
            <a:r>
              <a:rPr lang="en-US" sz="2800" dirty="0" err="1"/>
              <a:t>viện</a:t>
            </a:r>
            <a:r>
              <a:rPr lang="en-US" sz="2800" dirty="0"/>
              <a:t>: OpenSSL, GMP, Docker, Python (</a:t>
            </a:r>
            <a:r>
              <a:rPr lang="en-US" sz="2800" dirty="0" err="1"/>
              <a:t>pycryptodome</a:t>
            </a:r>
            <a:r>
              <a:rPr lang="en-US" sz="2800" dirty="0"/>
              <a:t>)</a:t>
            </a:r>
          </a:p>
          <a:p>
            <a:pPr>
              <a:spcBef>
                <a:spcPts val="2500"/>
              </a:spcBef>
            </a:pPr>
            <a:r>
              <a:rPr lang="en-US" sz="2800" dirty="0"/>
              <a:t>2) </a:t>
            </a:r>
            <a:r>
              <a:rPr lang="en-US" sz="2800" dirty="0" err="1"/>
              <a:t>Môi</a:t>
            </a:r>
            <a:r>
              <a:rPr lang="en-US" sz="2800" dirty="0"/>
              <a:t> </a:t>
            </a:r>
            <a:r>
              <a:rPr lang="en-US" sz="2800" dirty="0" err="1"/>
              <a:t>trường</a:t>
            </a:r>
            <a:r>
              <a:rPr lang="en-US" sz="2800" dirty="0"/>
              <a:t> </a:t>
            </a:r>
            <a:r>
              <a:rPr lang="en-US" sz="2800" dirty="0" err="1"/>
              <a:t>cô</a:t>
            </a:r>
            <a:r>
              <a:rPr lang="en-US" sz="2800" dirty="0"/>
              <a:t> </a:t>
            </a:r>
            <a:r>
              <a:rPr lang="en-US" sz="2800" dirty="0" err="1"/>
              <a:t>lập</a:t>
            </a:r>
            <a:r>
              <a:rPr lang="en-US" sz="2800" dirty="0"/>
              <a:t>,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chạy</a:t>
            </a:r>
            <a:r>
              <a:rPr lang="en-US" sz="2800" dirty="0"/>
              <a:t> PoC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hệ</a:t>
            </a:r>
            <a:r>
              <a:rPr lang="en-US" sz="2800" dirty="0"/>
              <a:t> </a:t>
            </a:r>
            <a:r>
              <a:rPr lang="en-US" sz="2800" dirty="0" err="1"/>
              <a:t>thống</a:t>
            </a:r>
            <a:r>
              <a:rPr lang="en-US" sz="2800" dirty="0"/>
              <a:t> lab</a:t>
            </a:r>
          </a:p>
          <a:p>
            <a:pPr>
              <a:spcBef>
                <a:spcPts val="2500"/>
              </a:spcBef>
            </a:pPr>
            <a:r>
              <a:rPr lang="en-US" sz="2800" dirty="0"/>
              <a:t>3) Data collection &amp; metrics</a:t>
            </a:r>
          </a:p>
        </p:txBody>
      </p:sp>
    </p:spTree>
    <p:extLst>
      <p:ext uri="{BB962C8B-B14F-4D97-AF65-F5344CB8AC3E}">
        <p14:creationId xmlns:p14="http://schemas.microsoft.com/office/powerpoint/2010/main" val="412989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99C9-7567-BF54-35C3-0C524C7A8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9292"/>
            <a:ext cx="10515600" cy="1325563"/>
          </a:xfrm>
        </p:spPr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attack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75CC2-726C-1FD5-6F94-6FBD9821B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64" y="1894636"/>
            <a:ext cx="10515600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800" dirty="0"/>
              <a:t> Attack A — </a:t>
            </a:r>
            <a:r>
              <a:rPr lang="en-US" sz="2800" dirty="0" err="1"/>
              <a:t>Bleichenbacher</a:t>
            </a:r>
            <a:r>
              <a:rPr lang="en-US" sz="2800" dirty="0"/>
              <a:t> padding oracle PoC: </a:t>
            </a:r>
            <a:r>
              <a:rPr lang="en-US" sz="2800" dirty="0" err="1"/>
              <a:t>dựng</a:t>
            </a:r>
            <a:r>
              <a:rPr lang="en-US" sz="2800" dirty="0"/>
              <a:t> server TLS-like </a:t>
            </a:r>
            <a:r>
              <a:rPr lang="en-US" sz="2800" dirty="0" err="1"/>
              <a:t>dùng</a:t>
            </a:r>
            <a:r>
              <a:rPr lang="en-US" sz="2800" dirty="0"/>
              <a:t> PKCS#1 v1.5 decryption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PreMasterSecret</a:t>
            </a:r>
            <a:r>
              <a:rPr lang="en-US" sz="2800" dirty="0"/>
              <a:t>, </a:t>
            </a:r>
            <a:r>
              <a:rPr lang="en-US" sz="2800" dirty="0" err="1"/>
              <a:t>tạo</a:t>
            </a:r>
            <a:r>
              <a:rPr lang="en-US" sz="2800" dirty="0"/>
              <a:t> oracle, </a:t>
            </a:r>
            <a:r>
              <a:rPr lang="en-US" sz="2800" dirty="0" err="1"/>
              <a:t>phục</a:t>
            </a:r>
            <a:r>
              <a:rPr lang="en-US" sz="2800" dirty="0"/>
              <a:t> </a:t>
            </a:r>
            <a:r>
              <a:rPr lang="en-US" sz="2800" dirty="0" err="1"/>
              <a:t>hồi</a:t>
            </a:r>
            <a:r>
              <a:rPr lang="en-US" sz="2800" dirty="0"/>
              <a:t> session secret;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 err="1"/>
              <a:t>đó</a:t>
            </a:r>
            <a:r>
              <a:rPr lang="en-US" sz="2800" dirty="0"/>
              <a:t> </a:t>
            </a:r>
            <a:r>
              <a:rPr lang="en-US" sz="2800" dirty="0" err="1"/>
              <a:t>vá</a:t>
            </a:r>
            <a:r>
              <a:rPr lang="en-US" sz="2800" dirty="0"/>
              <a:t> (uniform error, PSS)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kiểm</a:t>
            </a:r>
            <a:r>
              <a:rPr lang="en-US" sz="2800" dirty="0"/>
              <a:t> </a:t>
            </a:r>
            <a:r>
              <a:rPr lang="en-US" sz="2800" dirty="0" err="1"/>
              <a:t>chứng</a:t>
            </a:r>
            <a:r>
              <a:rPr lang="en-US" sz="2800" dirty="0"/>
              <a:t>.</a:t>
            </a:r>
          </a:p>
          <a:p>
            <a:pPr>
              <a:buFontTx/>
              <a:buChar char="-"/>
            </a:pPr>
            <a:r>
              <a:rPr lang="en-US" sz="2800" dirty="0"/>
              <a:t> Attack B — Timing attack: </a:t>
            </a:r>
            <a:r>
              <a:rPr lang="en-US" sz="2800" dirty="0" err="1"/>
              <a:t>đo</a:t>
            </a:r>
            <a:r>
              <a:rPr lang="en-US" sz="2800" dirty="0"/>
              <a:t> local </a:t>
            </a:r>
            <a:r>
              <a:rPr lang="en-US" sz="2800" dirty="0" err="1"/>
              <a:t>và</a:t>
            </a:r>
            <a:r>
              <a:rPr lang="en-US" sz="2800" dirty="0"/>
              <a:t> remote timing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dò</a:t>
            </a:r>
            <a:r>
              <a:rPr lang="en-US" sz="2800" dirty="0"/>
              <a:t> </a:t>
            </a:r>
            <a:r>
              <a:rPr lang="en-US" sz="2800" dirty="0" err="1"/>
              <a:t>rò</a:t>
            </a:r>
            <a:r>
              <a:rPr lang="en-US" sz="2800" dirty="0"/>
              <a:t> </a:t>
            </a:r>
            <a:r>
              <a:rPr lang="en-US" sz="2800" dirty="0" err="1"/>
              <a:t>rỉ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</a:t>
            </a:r>
            <a:r>
              <a:rPr lang="en-US" sz="2800" dirty="0" err="1"/>
              <a:t>về</a:t>
            </a:r>
            <a:r>
              <a:rPr lang="en-US" sz="2800" dirty="0"/>
              <a:t> d; </a:t>
            </a:r>
            <a:r>
              <a:rPr lang="en-US" sz="2800" dirty="0" err="1"/>
              <a:t>đánh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countermeasures (exponent blinding, constant-time lib).</a:t>
            </a:r>
          </a:p>
          <a:p>
            <a:pPr>
              <a:buFontTx/>
              <a:buChar char="-"/>
            </a:pPr>
            <a:r>
              <a:rPr lang="en-US" sz="2800" dirty="0"/>
              <a:t> Attack C — Wiener / low-d: </a:t>
            </a:r>
            <a:r>
              <a:rPr lang="en-US" sz="2800" dirty="0" err="1"/>
              <a:t>sinh</a:t>
            </a:r>
            <a:r>
              <a:rPr lang="en-US" sz="2800" dirty="0"/>
              <a:t> </a:t>
            </a:r>
            <a:r>
              <a:rPr lang="en-US" sz="2800" dirty="0" err="1"/>
              <a:t>khóa</a:t>
            </a:r>
            <a:r>
              <a:rPr lang="en-US" sz="2800" dirty="0"/>
              <a:t> vulnerable (small d)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dùng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Wiener </a:t>
            </a:r>
            <a:r>
              <a:rPr lang="en-US" sz="2800" dirty="0" err="1"/>
              <a:t>để</a:t>
            </a:r>
            <a:r>
              <a:rPr lang="en-US" sz="2800" dirty="0"/>
              <a:t> </a:t>
            </a:r>
            <a:r>
              <a:rPr lang="en-US" sz="2800" dirty="0" err="1"/>
              <a:t>phục</a:t>
            </a:r>
            <a:r>
              <a:rPr lang="en-US" sz="2800" dirty="0"/>
              <a:t> </a:t>
            </a:r>
            <a:r>
              <a:rPr lang="en-US" sz="2800" dirty="0" err="1"/>
              <a:t>hồi</a:t>
            </a:r>
            <a:r>
              <a:rPr lang="en-US" sz="2800" dirty="0"/>
              <a:t> private key</a:t>
            </a:r>
          </a:p>
        </p:txBody>
      </p:sp>
    </p:spTree>
    <p:extLst>
      <p:ext uri="{BB962C8B-B14F-4D97-AF65-F5344CB8AC3E}">
        <p14:creationId xmlns:p14="http://schemas.microsoft.com/office/powerpoint/2010/main" val="289207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058400" cy="1450757"/>
          </a:xfrm>
        </p:spPr>
        <p:txBody>
          <a:bodyPr/>
          <a:lstStyle/>
          <a:p>
            <a:r>
              <a:rPr lang="en-US" dirty="0"/>
              <a:t>Attack A - </a:t>
            </a:r>
            <a:r>
              <a:rPr lang="en-US" sz="4800" dirty="0" err="1"/>
              <a:t>Bleichenbacher</a:t>
            </a:r>
            <a:r>
              <a:rPr lang="en-US" sz="4800" dirty="0"/>
              <a:t> padding oracle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92A57-AE48-CD21-6442-DDCBC7625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77384"/>
            <a:ext cx="10515600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800" dirty="0"/>
              <a:t> </a:t>
            </a:r>
            <a:r>
              <a:rPr lang="en-US" sz="2800" dirty="0" err="1"/>
              <a:t>Mục</a:t>
            </a:r>
            <a:r>
              <a:rPr lang="en-US" sz="2800" dirty="0"/>
              <a:t> </a:t>
            </a:r>
            <a:r>
              <a:rPr lang="en-US" sz="2800" dirty="0" err="1"/>
              <a:t>tiêu</a:t>
            </a:r>
            <a:endParaRPr lang="en-US" sz="2800" dirty="0"/>
          </a:p>
          <a:p>
            <a:pPr lvl="1">
              <a:buFontTx/>
              <a:buChar char="-"/>
            </a:pPr>
            <a:r>
              <a:rPr lang="en-US" sz="2600" dirty="0"/>
              <a:t> </a:t>
            </a:r>
            <a:r>
              <a:rPr lang="en-US" sz="2600" dirty="0" err="1"/>
              <a:t>Đánh</a:t>
            </a:r>
            <a:r>
              <a:rPr lang="en-US" sz="2600" dirty="0"/>
              <a:t> </a:t>
            </a:r>
            <a:r>
              <a:rPr lang="en-US" sz="2600" dirty="0" err="1"/>
              <a:t>vào</a:t>
            </a:r>
            <a:r>
              <a:rPr lang="en-US" sz="2600" dirty="0"/>
              <a:t> </a:t>
            </a:r>
            <a:r>
              <a:rPr lang="en-US" sz="2600" dirty="0" err="1"/>
              <a:t>điểm</a:t>
            </a:r>
            <a:r>
              <a:rPr lang="en-US" sz="2600" dirty="0"/>
              <a:t> </a:t>
            </a:r>
            <a:r>
              <a:rPr lang="en-US" sz="2600" dirty="0" err="1"/>
              <a:t>yếu</a:t>
            </a:r>
            <a:r>
              <a:rPr lang="en-US" sz="2600" dirty="0"/>
              <a:t> padding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hệ</a:t>
            </a:r>
            <a:r>
              <a:rPr lang="en-US" sz="2600" dirty="0"/>
              <a:t> </a:t>
            </a:r>
            <a:r>
              <a:rPr lang="en-US" sz="2600" dirty="0" err="1"/>
              <a:t>thống</a:t>
            </a:r>
            <a:endParaRPr lang="en-US" sz="2600" dirty="0"/>
          </a:p>
          <a:p>
            <a:pPr lvl="1">
              <a:buFontTx/>
              <a:buChar char="-"/>
            </a:pP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private key, </a:t>
            </a:r>
            <a:r>
              <a:rPr lang="en-US" sz="2600" dirty="0" err="1"/>
              <a:t>chỉ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tồn</a:t>
            </a:r>
            <a:r>
              <a:rPr lang="en-US" sz="2600" dirty="0"/>
              <a:t> </a:t>
            </a:r>
            <a:r>
              <a:rPr lang="en-US" sz="2600" dirty="0" err="1"/>
              <a:t>tại</a:t>
            </a:r>
            <a:r>
              <a:rPr lang="en-US" sz="2600" dirty="0"/>
              <a:t> oracle </a:t>
            </a:r>
          </a:p>
          <a:p>
            <a:pPr>
              <a:buFontTx/>
              <a:buChar char="-"/>
            </a:pPr>
            <a:r>
              <a:rPr lang="en-US" sz="2800" dirty="0"/>
              <a:t> </a:t>
            </a:r>
            <a:r>
              <a:rPr lang="en-US" sz="2800" dirty="0" err="1"/>
              <a:t>Điều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</a:p>
          <a:p>
            <a:pPr lvl="1">
              <a:buFontTx/>
              <a:buChar char="-"/>
            </a:pPr>
            <a:r>
              <a:rPr lang="en-US" sz="2600" dirty="0"/>
              <a:t> Server </a:t>
            </a:r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RSA key exchange + PKCS#1 v1.5</a:t>
            </a:r>
          </a:p>
          <a:p>
            <a:pPr lvl="1">
              <a:buFontTx/>
              <a:buChar char="-"/>
            </a:pPr>
            <a:r>
              <a:rPr lang="en-US" sz="2600" dirty="0"/>
              <a:t> Server </a:t>
            </a:r>
            <a:r>
              <a:rPr lang="en-US" sz="2600" dirty="0" err="1"/>
              <a:t>phản</a:t>
            </a:r>
            <a:r>
              <a:rPr lang="en-US" sz="2600" dirty="0"/>
              <a:t> </a:t>
            </a:r>
            <a:r>
              <a:rPr lang="en-US" sz="2600" dirty="0" err="1"/>
              <a:t>hồi</a:t>
            </a:r>
            <a:r>
              <a:rPr lang="en-US" sz="2600" dirty="0"/>
              <a:t> </a:t>
            </a:r>
            <a:r>
              <a:rPr lang="en-US" sz="2600" dirty="0" err="1"/>
              <a:t>khác</a:t>
            </a:r>
            <a:r>
              <a:rPr lang="en-US" sz="2600" dirty="0"/>
              <a:t> </a:t>
            </a:r>
            <a:r>
              <a:rPr lang="en-US" sz="2600" dirty="0" err="1"/>
              <a:t>nhau</a:t>
            </a:r>
            <a:r>
              <a:rPr lang="en-US" sz="2600" dirty="0"/>
              <a:t> </a:t>
            </a:r>
            <a:r>
              <a:rPr lang="en-US" sz="2600" dirty="0" err="1"/>
              <a:t>khi</a:t>
            </a:r>
            <a:r>
              <a:rPr lang="en-US" sz="2600" dirty="0"/>
              <a:t> padding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</a:t>
            </a:r>
            <a:r>
              <a:rPr lang="en-US" sz="2600" dirty="0" err="1"/>
              <a:t>lệ</a:t>
            </a:r>
            <a:endParaRPr lang="en-US" sz="2600" dirty="0"/>
          </a:p>
          <a:p>
            <a:pPr>
              <a:buFontTx/>
              <a:buChar char="-"/>
            </a:pPr>
            <a:r>
              <a:rPr lang="en-US" sz="2800" dirty="0"/>
              <a:t> Attacker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gửi</a:t>
            </a:r>
            <a:r>
              <a:rPr lang="en-US" sz="2800" dirty="0"/>
              <a:t> ciphertext </a:t>
            </a:r>
            <a:r>
              <a:rPr lang="en-US" sz="2800" dirty="0" err="1"/>
              <a:t>tùy</a:t>
            </a:r>
            <a:r>
              <a:rPr lang="en-US" sz="2800" dirty="0"/>
              <a:t> ý </a:t>
            </a:r>
            <a:r>
              <a:rPr lang="en-US" sz="2800" dirty="0" err="1"/>
              <a:t>liên</a:t>
            </a:r>
            <a:r>
              <a:rPr lang="en-US" sz="2800" dirty="0"/>
              <a:t> </a:t>
            </a:r>
            <a:r>
              <a:rPr lang="en-US" sz="2800" dirty="0" err="1"/>
              <a:t>tục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r>
              <a:rPr lang="en-US" sz="2800" dirty="0"/>
              <a:t> </a:t>
            </a:r>
            <a:r>
              <a:rPr lang="en-US" sz="2800" dirty="0" err="1"/>
              <a:t>sát</a:t>
            </a:r>
            <a:r>
              <a:rPr lang="en-US" sz="2800" dirty="0"/>
              <a:t> </a:t>
            </a:r>
            <a:r>
              <a:rPr lang="en-US" sz="2800" dirty="0" err="1"/>
              <a:t>phản</a:t>
            </a:r>
            <a:r>
              <a:rPr lang="en-US" sz="2800" dirty="0"/>
              <a:t> </a:t>
            </a:r>
            <a:r>
              <a:rPr lang="en-US" sz="2800" dirty="0" err="1"/>
              <a:t>hồi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7601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7442"/>
            <a:ext cx="10058400" cy="1450757"/>
          </a:xfrm>
        </p:spPr>
        <p:txBody>
          <a:bodyPr/>
          <a:lstStyle/>
          <a:p>
            <a:pPr algn="ctr"/>
            <a:r>
              <a:rPr lang="en-US" dirty="0"/>
              <a:t>PKCS#1 v1.5 Padding</a:t>
            </a:r>
          </a:p>
        </p:txBody>
      </p:sp>
      <p:pic>
        <p:nvPicPr>
          <p:cNvPr id="1026" name="Picture 2" descr="rsa - Why PS does differ between PKCS1 v1.5 padding for signature ...">
            <a:extLst>
              <a:ext uri="{FF2B5EF4-FFF2-40B4-BE49-F238E27FC236}">
                <a16:creationId xmlns:a16="http://schemas.microsoft.com/office/drawing/2014/main" id="{BDDA7800-D983-6D82-685C-503D3E5D2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772" y="2055243"/>
            <a:ext cx="89154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151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50" y="254002"/>
            <a:ext cx="10058400" cy="1450757"/>
          </a:xfrm>
        </p:spPr>
        <p:txBody>
          <a:bodyPr/>
          <a:lstStyle/>
          <a:p>
            <a:r>
              <a:rPr lang="en-US" dirty="0"/>
              <a:t>Padding Oracle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92A57-AE48-CD21-6442-DDCBC7625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972634"/>
            <a:ext cx="10515600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Là</a:t>
            </a:r>
            <a:r>
              <a:rPr lang="en-US" sz="2800" dirty="0">
                <a:latin typeface="Calibri (Body)"/>
              </a:rPr>
              <a:t> </a:t>
            </a:r>
            <a:r>
              <a:rPr lang="vi-VN" sz="2800" dirty="0">
                <a:latin typeface="Calibri (Body)"/>
              </a:rPr>
              <a:t>một thành phần cho phép attacker biết </a:t>
            </a:r>
            <a:r>
              <a:rPr lang="vi-VN" sz="2800" b="1" dirty="0">
                <a:latin typeface="Calibri (Body)"/>
              </a:rPr>
              <a:t>ciphertext sau khi decrypt có vượt qua kiểm tra padding hay không</a:t>
            </a:r>
            <a:r>
              <a:rPr lang="vi-VN" sz="2800" dirty="0">
                <a:latin typeface="Calibri (Body)"/>
              </a:rPr>
              <a:t>, thông qua </a:t>
            </a:r>
            <a:r>
              <a:rPr lang="vi-VN" sz="2800" b="1" dirty="0">
                <a:latin typeface="Calibri (Body)"/>
              </a:rPr>
              <a:t>phản hồi hoặc timing khác nhau</a:t>
            </a:r>
            <a:r>
              <a:rPr lang="vi-VN" sz="2800" dirty="0">
                <a:latin typeface="Calibri (Body)"/>
              </a:rPr>
              <a:t>.</a:t>
            </a:r>
            <a:endParaRPr lang="en-US" sz="2800" dirty="0">
              <a:latin typeface="Calibri (Body)"/>
            </a:endParaRPr>
          </a:p>
          <a:p>
            <a:pPr>
              <a:buFontTx/>
              <a:buChar char="-"/>
            </a:pPr>
            <a:r>
              <a:rPr lang="en-US" sz="2800" dirty="0">
                <a:latin typeface="Calibri (Body)"/>
              </a:rPr>
              <a:t> Khi server </a:t>
            </a:r>
            <a:r>
              <a:rPr lang="en-US" sz="2800" dirty="0" err="1">
                <a:latin typeface="Calibri (Body)"/>
              </a:rPr>
              <a:t>thực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hiện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giải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mã</a:t>
            </a:r>
            <a:r>
              <a:rPr lang="en-US" sz="2800" dirty="0">
                <a:latin typeface="Calibri (Body)"/>
              </a:rPr>
              <a:t> RSA </a:t>
            </a:r>
            <a:r>
              <a:rPr lang="en-US" sz="2800" dirty="0" err="1">
                <a:latin typeface="Calibri (Body)"/>
              </a:rPr>
              <a:t>hoặc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kiểm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tra</a:t>
            </a:r>
            <a:r>
              <a:rPr lang="en-US" sz="2800" dirty="0">
                <a:latin typeface="Calibri (Body)"/>
              </a:rPr>
              <a:t> padding PKCS#1 v1.5, server </a:t>
            </a:r>
            <a:r>
              <a:rPr lang="en-US" sz="2800" dirty="0" err="1">
                <a:latin typeface="Calibri (Body)"/>
              </a:rPr>
              <a:t>sẽ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để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lộ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kết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quả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kiểm</a:t>
            </a:r>
            <a:r>
              <a:rPr lang="en-US" sz="2800" dirty="0">
                <a:latin typeface="Calibri (Body)"/>
              </a:rPr>
              <a:t> </a:t>
            </a:r>
            <a:r>
              <a:rPr lang="en-US" sz="2800" dirty="0" err="1">
                <a:latin typeface="Calibri (Body)"/>
              </a:rPr>
              <a:t>tra</a:t>
            </a:r>
            <a:r>
              <a:rPr lang="en-US" sz="2800" dirty="0">
                <a:latin typeface="Calibri (Body)"/>
              </a:rPr>
              <a:t> padding:</a:t>
            </a:r>
          </a:p>
          <a:p>
            <a:pPr lvl="1">
              <a:buFontTx/>
              <a:buChar char="-"/>
            </a:pPr>
            <a:r>
              <a:rPr lang="en-US" sz="2600" dirty="0" err="1">
                <a:latin typeface="Calibri (Body)"/>
              </a:rPr>
              <a:t>Trả</a:t>
            </a:r>
            <a:r>
              <a:rPr lang="en-US" sz="2600" dirty="0">
                <a:latin typeface="Calibri (Body)"/>
              </a:rPr>
              <a:t> </a:t>
            </a:r>
            <a:r>
              <a:rPr lang="en-US" sz="2600" dirty="0" err="1">
                <a:latin typeface="Calibri (Body)"/>
              </a:rPr>
              <a:t>về</a:t>
            </a:r>
            <a:r>
              <a:rPr lang="en-US" sz="2600" dirty="0">
                <a:latin typeface="Calibri (Body)"/>
              </a:rPr>
              <a:t> OK/FAIL</a:t>
            </a:r>
          </a:p>
          <a:p>
            <a:pPr lvl="1">
              <a:buFontTx/>
              <a:buChar char="-"/>
            </a:pPr>
            <a:r>
              <a:rPr lang="en-US" sz="2600" dirty="0">
                <a:latin typeface="Calibri (Body)"/>
              </a:rPr>
              <a:t>Timing </a:t>
            </a:r>
            <a:r>
              <a:rPr lang="en-US" sz="2600" dirty="0" err="1">
                <a:latin typeface="Calibri (Body)"/>
              </a:rPr>
              <a:t>khác</a:t>
            </a:r>
            <a:r>
              <a:rPr lang="en-US" sz="2600" dirty="0">
                <a:latin typeface="Calibri (Body)"/>
              </a:rPr>
              <a:t> </a:t>
            </a:r>
            <a:r>
              <a:rPr lang="en-US" sz="2600" dirty="0" err="1">
                <a:latin typeface="Calibri (Body)"/>
              </a:rPr>
              <a:t>nhau</a:t>
            </a:r>
            <a:endParaRPr lang="en-US" sz="26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63286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058400" cy="1450757"/>
          </a:xfrm>
        </p:spPr>
        <p:txBody>
          <a:bodyPr/>
          <a:lstStyle/>
          <a:p>
            <a:r>
              <a:rPr lang="en-US" dirty="0"/>
              <a:t>Attack A - </a:t>
            </a:r>
            <a:r>
              <a:rPr lang="en-US" sz="4800" dirty="0" err="1"/>
              <a:t>Bleichenbacher</a:t>
            </a:r>
            <a:r>
              <a:rPr lang="en-US" sz="4800" dirty="0"/>
              <a:t> padding oracle </a:t>
            </a:r>
            <a:endParaRPr lang="en-US" dirty="0"/>
          </a:p>
        </p:txBody>
      </p:sp>
      <p:pic>
        <p:nvPicPr>
          <p:cNvPr id="31" name="Content Placeholder 30" descr="A diagram of a computer&#10;&#10;AI-generated content may be incorrect.">
            <a:extLst>
              <a:ext uri="{FF2B5EF4-FFF2-40B4-BE49-F238E27FC236}">
                <a16:creationId xmlns:a16="http://schemas.microsoft.com/office/drawing/2014/main" id="{5E5E9C88-CB8B-0BEA-A81F-FBA26CF5E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1058"/>
            <a:ext cx="12192000" cy="2301754"/>
          </a:xfrm>
        </p:spPr>
      </p:pic>
    </p:spTree>
    <p:extLst>
      <p:ext uri="{BB962C8B-B14F-4D97-AF65-F5344CB8AC3E}">
        <p14:creationId xmlns:p14="http://schemas.microsoft.com/office/powerpoint/2010/main" val="1710472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058400" cy="1450757"/>
          </a:xfrm>
        </p:spPr>
        <p:txBody>
          <a:bodyPr/>
          <a:lstStyle/>
          <a:p>
            <a:r>
              <a:rPr lang="en-US" dirty="0"/>
              <a:t>Attack A - </a:t>
            </a:r>
            <a:r>
              <a:rPr lang="en-US" sz="4800" dirty="0" err="1"/>
              <a:t>Bleichenbacher</a:t>
            </a:r>
            <a:r>
              <a:rPr lang="en-US" sz="4800" dirty="0"/>
              <a:t> padding oracle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C01D4-651F-4472-7EE1-4BFB0762C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45" y="1948383"/>
            <a:ext cx="7240846" cy="1848884"/>
          </a:xfrm>
        </p:spPr>
        <p:txBody>
          <a:bodyPr>
            <a:normAutofit/>
          </a:bodyPr>
          <a:lstStyle/>
          <a:p>
            <a:r>
              <a:rPr lang="en-US" dirty="0"/>
              <a:t>- Demo Lab:</a:t>
            </a:r>
          </a:p>
          <a:p>
            <a:pPr lvl="1"/>
            <a:r>
              <a:rPr lang="en-US" dirty="0"/>
              <a:t>Server </a:t>
            </a:r>
            <a:r>
              <a:rPr lang="en-US" dirty="0" err="1"/>
              <a:t>dùng</a:t>
            </a:r>
            <a:r>
              <a:rPr lang="en-US" dirty="0"/>
              <a:t> RSA PCKS#1 v1.5 </a:t>
            </a:r>
            <a:r>
              <a:rPr lang="en-US" dirty="0" err="1"/>
              <a:t>để</a:t>
            </a:r>
            <a:r>
              <a:rPr lang="en-US" dirty="0"/>
              <a:t> gen key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endParaRPr lang="en-US" dirty="0"/>
          </a:p>
          <a:p>
            <a:pPr lvl="1"/>
            <a:r>
              <a:rPr lang="en-US" dirty="0"/>
              <a:t>Server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OK/FAIL</a:t>
            </a:r>
          </a:p>
          <a:p>
            <a:r>
              <a:rPr lang="en-US" dirty="0"/>
              <a:t>-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48 byte premaster secret (plaintext)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D32CD3A-B210-41D0-F547-DA6B19A8E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7268"/>
            <a:ext cx="7352990" cy="25552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7108EC3-6A2C-AE20-EF98-01E93F2FD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990" y="2059583"/>
            <a:ext cx="4839010" cy="429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9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058400" cy="1450757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- Attack 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61B6EB-A329-0870-5659-F3DECF4D0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968570"/>
              </p:ext>
            </p:extLst>
          </p:nvPr>
        </p:nvGraphicFramePr>
        <p:xfrm>
          <a:off x="847592" y="1837396"/>
          <a:ext cx="10056810" cy="4023206"/>
        </p:xfrm>
        <a:graphic>
          <a:graphicData uri="http://schemas.openxmlformats.org/drawingml/2006/table">
            <a:tbl>
              <a:tblPr/>
              <a:tblGrid>
                <a:gridCol w="2011362">
                  <a:extLst>
                    <a:ext uri="{9D8B030D-6E8A-4147-A177-3AD203B41FA5}">
                      <a16:colId xmlns:a16="http://schemas.microsoft.com/office/drawing/2014/main" val="1153841641"/>
                    </a:ext>
                  </a:extLst>
                </a:gridCol>
                <a:gridCol w="2011362">
                  <a:extLst>
                    <a:ext uri="{9D8B030D-6E8A-4147-A177-3AD203B41FA5}">
                      <a16:colId xmlns:a16="http://schemas.microsoft.com/office/drawing/2014/main" val="4206797455"/>
                    </a:ext>
                  </a:extLst>
                </a:gridCol>
                <a:gridCol w="2011362">
                  <a:extLst>
                    <a:ext uri="{9D8B030D-6E8A-4147-A177-3AD203B41FA5}">
                      <a16:colId xmlns:a16="http://schemas.microsoft.com/office/drawing/2014/main" val="2453286802"/>
                    </a:ext>
                  </a:extLst>
                </a:gridCol>
                <a:gridCol w="2011362">
                  <a:extLst>
                    <a:ext uri="{9D8B030D-6E8A-4147-A177-3AD203B41FA5}">
                      <a16:colId xmlns:a16="http://schemas.microsoft.com/office/drawing/2014/main" val="1995105878"/>
                    </a:ext>
                  </a:extLst>
                </a:gridCol>
                <a:gridCol w="2011362">
                  <a:extLst>
                    <a:ext uri="{9D8B030D-6E8A-4147-A177-3AD203B41FA5}">
                      <a16:colId xmlns:a16="http://schemas.microsoft.com/office/drawing/2014/main" val="2954228350"/>
                    </a:ext>
                  </a:extLst>
                </a:gridCol>
              </a:tblGrid>
              <a:tr h="365702">
                <a:tc>
                  <a:txBody>
                    <a:bodyPr/>
                    <a:lstStyle/>
                    <a:p>
                      <a:r>
                        <a:rPr lang="en-US" sz="1800"/>
                        <a:t>Run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Queries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Time (s)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Avg / query (s)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QPS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889057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183,346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360.38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0.001966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508.76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757432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194,874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381.57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0.001958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510.72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206877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298,513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576.78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0.001932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517.55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270124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53,511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107.14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0.002002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499.44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528959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/>
                        <a:t>5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46,068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101.14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0.002195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455.51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268828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/>
                        <a:t>6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366,681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709.11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0.001934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517.10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476309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/>
                        <a:t>7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582,094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1152.26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0.001980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505.18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69557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/>
                        <a:t>8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405,583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851.15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0.002099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476.51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440649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/>
                        <a:t>9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779,375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1722.48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0.002210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452.47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192908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/>
                        <a:t>10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372,417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821.20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0.002205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453.50</a:t>
                      </a:r>
                    </a:p>
                  </a:txBody>
                  <a:tcPr marL="91426" marR="91426" marT="45713" marB="457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671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057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058400" cy="1450757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- Attack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50B79-4971-0890-4933-4B8D772F6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0625"/>
            <a:ext cx="10058400" cy="4023360"/>
          </a:xfrm>
        </p:spPr>
        <p:txBody>
          <a:bodyPr/>
          <a:lstStyle/>
          <a:p>
            <a:pPr lvl="1">
              <a:buFontTx/>
              <a:buChar char="-"/>
            </a:pPr>
            <a:r>
              <a:rPr lang="en-US" dirty="0" err="1">
                <a:latin typeface="Calibri (Body)"/>
              </a:rPr>
              <a:t>Số</a:t>
            </a:r>
            <a:r>
              <a:rPr lang="en-US" dirty="0">
                <a:latin typeface="Calibri (Body)"/>
              </a:rPr>
              <a:t> oracle queries </a:t>
            </a:r>
            <a:r>
              <a:rPr lang="en-US" dirty="0" err="1">
                <a:latin typeface="Calibri (Body)"/>
              </a:rPr>
              <a:t>trung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bình</a:t>
            </a:r>
            <a:r>
              <a:rPr lang="en-US" dirty="0">
                <a:latin typeface="Calibri (Body)"/>
              </a:rPr>
              <a:t>≈ 327,846 queries / run</a:t>
            </a:r>
          </a:p>
          <a:p>
            <a:pPr lvl="1">
              <a:buFontTx/>
              <a:buChar char="-"/>
            </a:pPr>
            <a:r>
              <a:rPr lang="en-US" dirty="0" err="1">
                <a:latin typeface="Calibri (Body)"/>
              </a:rPr>
              <a:t>Thời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gian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tấn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công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trung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bình</a:t>
            </a:r>
            <a:r>
              <a:rPr lang="en-US" dirty="0">
                <a:latin typeface="Calibri (Body)"/>
              </a:rPr>
              <a:t>≈ 678.72 </a:t>
            </a:r>
            <a:r>
              <a:rPr lang="en-US" dirty="0" err="1">
                <a:latin typeface="Calibri (Body)"/>
              </a:rPr>
              <a:t>giây</a:t>
            </a:r>
            <a:r>
              <a:rPr lang="en-US" dirty="0">
                <a:latin typeface="Calibri (Body)"/>
              </a:rPr>
              <a:t> ≈ 11.31 </a:t>
            </a:r>
            <a:r>
              <a:rPr lang="en-US" dirty="0" err="1">
                <a:latin typeface="Calibri (Body)"/>
              </a:rPr>
              <a:t>phút</a:t>
            </a:r>
            <a:endParaRPr lang="en-US" dirty="0">
              <a:latin typeface="Calibri (Body)"/>
            </a:endParaRPr>
          </a:p>
          <a:p>
            <a:pPr lvl="1">
              <a:buFontTx/>
              <a:buChar char="-"/>
            </a:pPr>
            <a:r>
              <a:rPr lang="en-US" dirty="0" err="1">
                <a:latin typeface="Calibri (Body)"/>
              </a:rPr>
              <a:t>Thời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gian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trung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bình</a:t>
            </a:r>
            <a:r>
              <a:rPr lang="en-US" dirty="0">
                <a:latin typeface="Calibri (Body)"/>
              </a:rPr>
              <a:t> / query≈ 0.002048 </a:t>
            </a:r>
            <a:r>
              <a:rPr lang="en-US" dirty="0" err="1">
                <a:latin typeface="Calibri (Body)"/>
              </a:rPr>
              <a:t>giây</a:t>
            </a:r>
            <a:r>
              <a:rPr lang="en-US" dirty="0">
                <a:latin typeface="Calibri (Body)"/>
              </a:rPr>
              <a:t> ≈ 2.05 </a:t>
            </a:r>
            <a:r>
              <a:rPr lang="en-US" dirty="0" err="1">
                <a:latin typeface="Calibri (Body)"/>
              </a:rPr>
              <a:t>ms</a:t>
            </a:r>
            <a:endParaRPr lang="en-US" dirty="0">
              <a:latin typeface="Calibri (Body)"/>
            </a:endParaRPr>
          </a:p>
          <a:p>
            <a:pPr lvl="1">
              <a:buFontTx/>
              <a:buChar char="-"/>
            </a:pPr>
            <a:r>
              <a:rPr lang="en-US" dirty="0">
                <a:latin typeface="Calibri (Body)"/>
              </a:rPr>
              <a:t>Throughput (QPS) </a:t>
            </a:r>
            <a:r>
              <a:rPr lang="en-US" dirty="0" err="1">
                <a:latin typeface="Calibri (Body)"/>
              </a:rPr>
              <a:t>trung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bình</a:t>
            </a:r>
            <a:r>
              <a:rPr lang="en-US" dirty="0">
                <a:latin typeface="Calibri (Body)"/>
              </a:rPr>
              <a:t>≈ 489.82 queries / second</a:t>
            </a:r>
          </a:p>
          <a:p>
            <a:pPr lvl="1">
              <a:buFontTx/>
              <a:buChar char="-"/>
            </a:pPr>
            <a:r>
              <a:rPr lang="vi-VN" dirty="0">
                <a:latin typeface="Calibri (Body)"/>
              </a:rPr>
              <a:t>Avg time / query:Rất ổn định: ~1.93–2.21 ms</a:t>
            </a:r>
            <a:r>
              <a:rPr lang="en-US" dirty="0">
                <a:latin typeface="Calibri (Body)"/>
              </a:rPr>
              <a:t> -&gt;</a:t>
            </a:r>
            <a:r>
              <a:rPr lang="vi-VN" dirty="0">
                <a:latin typeface="Calibri (Body)"/>
              </a:rPr>
              <a:t> chứng minh uniform timing path</a:t>
            </a:r>
            <a:endParaRPr lang="en-US" dirty="0">
              <a:latin typeface="Calibri (Body)"/>
            </a:endParaRPr>
          </a:p>
          <a:p>
            <a:pPr lvl="1">
              <a:buFontTx/>
              <a:buChar char="-"/>
            </a:pPr>
            <a:r>
              <a:rPr lang="en-US" dirty="0">
                <a:latin typeface="Calibri (Body)"/>
              </a:rPr>
              <a:t>QPS: ~450–520 QPS</a:t>
            </a:r>
          </a:p>
          <a:p>
            <a:pPr lvl="1">
              <a:buFontTx/>
              <a:buChar char="-"/>
            </a:pPr>
            <a:r>
              <a:rPr lang="vi-VN" dirty="0">
                <a:latin typeface="Calibri (Body)"/>
              </a:rPr>
              <a:t>Queries:</a:t>
            </a:r>
            <a:endParaRPr lang="en-US" dirty="0">
              <a:latin typeface="Calibri (Body)"/>
            </a:endParaRPr>
          </a:p>
          <a:p>
            <a:pPr lvl="2">
              <a:buFontTx/>
              <a:buChar char="-"/>
            </a:pPr>
            <a:r>
              <a:rPr lang="vi-VN" dirty="0">
                <a:latin typeface="Calibri (Body)"/>
              </a:rPr>
              <a:t>Min: 46k</a:t>
            </a:r>
            <a:endParaRPr lang="en-US" dirty="0">
              <a:latin typeface="Calibri (Body)"/>
            </a:endParaRPr>
          </a:p>
          <a:p>
            <a:pPr lvl="2">
              <a:buFontTx/>
              <a:buChar char="-"/>
            </a:pPr>
            <a:r>
              <a:rPr lang="vi-VN" dirty="0">
                <a:latin typeface="Calibri (Body)"/>
              </a:rPr>
              <a:t>Max: 779k</a:t>
            </a:r>
            <a:r>
              <a:rPr lang="en-US" dirty="0">
                <a:latin typeface="Calibri (Body)"/>
              </a:rPr>
              <a:t> -&gt; </a:t>
            </a:r>
            <a:r>
              <a:rPr lang="vi-VN" dirty="0">
                <a:latin typeface="Calibri (Body)"/>
              </a:rPr>
              <a:t>dao động lớn (</a:t>
            </a:r>
            <a:r>
              <a:rPr lang="en-US" dirty="0" err="1">
                <a:latin typeface="Calibri (Body)"/>
              </a:rPr>
              <a:t>phụ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thuộc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vào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việc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đoán</a:t>
            </a:r>
            <a:r>
              <a:rPr lang="en-US" dirty="0">
                <a:latin typeface="Calibri (Body)"/>
              </a:rPr>
              <a:t> s0 </a:t>
            </a:r>
            <a:r>
              <a:rPr lang="en-US" dirty="0" err="1">
                <a:latin typeface="Calibri (Body)"/>
              </a:rPr>
              <a:t>và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độ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hẹp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khoảng</a:t>
            </a:r>
            <a:r>
              <a:rPr lang="en-US" dirty="0">
                <a:latin typeface="Calibri (Body)"/>
              </a:rPr>
              <a:t> M</a:t>
            </a:r>
            <a:r>
              <a:rPr lang="vi-VN" dirty="0">
                <a:latin typeface="Calibri (Body)"/>
              </a:rPr>
              <a:t>)</a:t>
            </a:r>
            <a:endParaRPr lang="en-US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609478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058400" cy="1450757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- Attack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50B79-4971-0890-4933-4B8D772F6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64475"/>
            <a:ext cx="5727940" cy="4023360"/>
          </a:xfrm>
        </p:spPr>
        <p:txBody>
          <a:bodyPr>
            <a:normAutofit/>
          </a:bodyPr>
          <a:lstStyle/>
          <a:p>
            <a:pPr lvl="1">
              <a:buFontTx/>
              <a:buChar char="-"/>
            </a:pPr>
            <a:r>
              <a:rPr lang="en-US" sz="2400" dirty="0" err="1">
                <a:latin typeface="Calibri (Body)"/>
              </a:rPr>
              <a:t>Vá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bằng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cách</a:t>
            </a:r>
            <a:r>
              <a:rPr lang="en-US" sz="2400" dirty="0">
                <a:latin typeface="Calibri (Body)"/>
              </a:rPr>
              <a:t>:</a:t>
            </a:r>
          </a:p>
          <a:p>
            <a:pPr lvl="2">
              <a:buFontTx/>
              <a:buChar char="-"/>
            </a:pPr>
            <a:r>
              <a:rPr lang="en-US" sz="2000" dirty="0" err="1">
                <a:latin typeface="Calibri (Body)"/>
              </a:rPr>
              <a:t>Thay</a:t>
            </a:r>
            <a:r>
              <a:rPr lang="en-US" sz="2000" dirty="0">
                <a:latin typeface="Calibri (Body)"/>
              </a:rPr>
              <a:t> PKCS#1 v1.5 </a:t>
            </a:r>
            <a:r>
              <a:rPr lang="en-US" sz="2000" dirty="0" err="1">
                <a:latin typeface="Calibri (Body)"/>
              </a:rPr>
              <a:t>thành</a:t>
            </a:r>
            <a:r>
              <a:rPr lang="en-US" sz="2000" dirty="0">
                <a:latin typeface="Calibri (Body)"/>
              </a:rPr>
              <a:t> OAEP</a:t>
            </a:r>
          </a:p>
          <a:p>
            <a:pPr lvl="2">
              <a:buFontTx/>
              <a:buChar char="-"/>
            </a:pPr>
            <a:r>
              <a:rPr lang="en-US" sz="2000" dirty="0" err="1">
                <a:latin typeface="Calibri (Body)"/>
              </a:rPr>
              <a:t>Đổi</a:t>
            </a:r>
            <a:r>
              <a:rPr lang="en-US" sz="2000" dirty="0">
                <a:latin typeface="Calibri (Body)"/>
              </a:rPr>
              <a:t> response </a:t>
            </a:r>
            <a:r>
              <a:rPr lang="en-US" sz="2000" dirty="0" err="1">
                <a:latin typeface="Calibri (Body)"/>
              </a:rPr>
              <a:t>của</a:t>
            </a:r>
            <a:r>
              <a:rPr lang="en-US" sz="2000" dirty="0">
                <a:latin typeface="Calibri (Body)"/>
              </a:rPr>
              <a:t> server </a:t>
            </a:r>
            <a:r>
              <a:rPr lang="en-US" sz="2000" dirty="0" err="1">
                <a:latin typeface="Calibri (Body)"/>
              </a:rPr>
              <a:t>thành</a:t>
            </a:r>
            <a:r>
              <a:rPr lang="en-US" sz="2000" dirty="0">
                <a:latin typeface="Calibri (Body)"/>
              </a:rPr>
              <a:t> </a:t>
            </a:r>
            <a:r>
              <a:rPr lang="en-US" sz="2000" dirty="0" err="1">
                <a:latin typeface="Calibri (Body)"/>
              </a:rPr>
              <a:t>cùng</a:t>
            </a:r>
            <a:r>
              <a:rPr lang="en-US" sz="2000" dirty="0">
                <a:latin typeface="Calibri (Body)"/>
              </a:rPr>
              <a:t> </a:t>
            </a:r>
            <a:r>
              <a:rPr lang="en-US" sz="2000" dirty="0" err="1">
                <a:latin typeface="Calibri (Body)"/>
              </a:rPr>
              <a:t>một</a:t>
            </a:r>
            <a:r>
              <a:rPr lang="en-US" sz="2000" dirty="0">
                <a:latin typeface="Calibri (Body)"/>
              </a:rPr>
              <a:t> </a:t>
            </a:r>
            <a:r>
              <a:rPr lang="en-US" sz="2000" dirty="0" err="1">
                <a:latin typeface="Calibri (Body)"/>
              </a:rPr>
              <a:t>kết</a:t>
            </a:r>
            <a:r>
              <a:rPr lang="en-US" sz="2000" dirty="0">
                <a:latin typeface="Calibri (Body)"/>
              </a:rPr>
              <a:t> </a:t>
            </a:r>
            <a:r>
              <a:rPr lang="en-US" sz="2000" dirty="0" err="1">
                <a:latin typeface="Calibri (Body)"/>
              </a:rPr>
              <a:t>quả</a:t>
            </a:r>
            <a:r>
              <a:rPr lang="en-US" sz="2000" dirty="0">
                <a:latin typeface="Calibri (Body)"/>
              </a:rPr>
              <a:t> (OK)</a:t>
            </a:r>
          </a:p>
          <a:p>
            <a:pPr lvl="2">
              <a:buFontTx/>
              <a:buChar char="-"/>
            </a:pPr>
            <a:r>
              <a:rPr lang="en-US" sz="2000" dirty="0" err="1">
                <a:latin typeface="Calibri (Body)"/>
              </a:rPr>
              <a:t>Thêm</a:t>
            </a:r>
            <a:r>
              <a:rPr lang="en-US" sz="2000" dirty="0">
                <a:latin typeface="Calibri (Body)"/>
              </a:rPr>
              <a:t> </a:t>
            </a:r>
            <a:r>
              <a:rPr lang="en-US" sz="2000" dirty="0" err="1">
                <a:latin typeface="Calibri (Body)"/>
              </a:rPr>
              <a:t>tính</a:t>
            </a:r>
            <a:r>
              <a:rPr lang="en-US" sz="2000" dirty="0">
                <a:latin typeface="Calibri (Body)"/>
              </a:rPr>
              <a:t> random </a:t>
            </a:r>
            <a:r>
              <a:rPr lang="en-US" sz="2000" dirty="0" err="1">
                <a:latin typeface="Calibri (Body)"/>
              </a:rPr>
              <a:t>cho</a:t>
            </a:r>
            <a:r>
              <a:rPr lang="en-US" sz="2000" dirty="0">
                <a:latin typeface="Calibri (Body)"/>
              </a:rPr>
              <a:t> </a:t>
            </a:r>
            <a:r>
              <a:rPr lang="en-US" sz="2000" dirty="0" err="1">
                <a:latin typeface="Calibri (Body)"/>
              </a:rPr>
              <a:t>thời</a:t>
            </a:r>
            <a:r>
              <a:rPr lang="en-US" sz="2000" dirty="0">
                <a:latin typeface="Calibri (Body)"/>
              </a:rPr>
              <a:t> </a:t>
            </a:r>
            <a:r>
              <a:rPr lang="en-US" sz="2000" dirty="0" err="1">
                <a:latin typeface="Calibri (Body)"/>
              </a:rPr>
              <a:t>gian</a:t>
            </a:r>
            <a:r>
              <a:rPr lang="en-US" sz="2000" dirty="0">
                <a:latin typeface="Calibri (Body)"/>
              </a:rPr>
              <a:t> </a:t>
            </a:r>
            <a:r>
              <a:rPr lang="en-US" sz="2000" dirty="0" err="1">
                <a:latin typeface="Calibri (Body)"/>
              </a:rPr>
              <a:t>trả</a:t>
            </a:r>
            <a:r>
              <a:rPr lang="en-US" sz="2000" dirty="0">
                <a:latin typeface="Calibri (Body)"/>
              </a:rPr>
              <a:t> </a:t>
            </a:r>
            <a:r>
              <a:rPr lang="en-US" sz="2000" dirty="0" err="1">
                <a:latin typeface="Calibri (Body)"/>
              </a:rPr>
              <a:t>về</a:t>
            </a:r>
            <a:endParaRPr lang="en-US" sz="2000" dirty="0">
              <a:latin typeface="Calibri (Body)"/>
            </a:endParaRPr>
          </a:p>
          <a:p>
            <a:pPr lvl="1">
              <a:buFontTx/>
              <a:buChar char="-"/>
            </a:pPr>
            <a:r>
              <a:rPr lang="en-US" sz="2400" dirty="0">
                <a:latin typeface="Calibri (Body)"/>
              </a:rPr>
              <a:t>Sau </a:t>
            </a:r>
            <a:r>
              <a:rPr lang="en-US" sz="2400" dirty="0" err="1">
                <a:latin typeface="Calibri (Body)"/>
              </a:rPr>
              <a:t>khi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vá</a:t>
            </a:r>
            <a:r>
              <a:rPr lang="en-US" sz="2400" dirty="0">
                <a:latin typeface="Calibri (Body)"/>
              </a:rPr>
              <a:t>, ta </a:t>
            </a:r>
            <a:r>
              <a:rPr lang="en-US" sz="2400" dirty="0" err="1">
                <a:latin typeface="Calibri (Body)"/>
              </a:rPr>
              <a:t>gửi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các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gói</a:t>
            </a:r>
            <a:r>
              <a:rPr lang="en-US" sz="2400" dirty="0">
                <a:latin typeface="Calibri (Body)"/>
              </a:rPr>
              <a:t> tin </a:t>
            </a:r>
            <a:r>
              <a:rPr lang="en-US" sz="2400" dirty="0" err="1">
                <a:latin typeface="Calibri (Body)"/>
              </a:rPr>
              <a:t>để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kiểm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thử</a:t>
            </a:r>
            <a:endParaRPr lang="en-US" sz="2400" dirty="0">
              <a:latin typeface="Calibri (Body)"/>
            </a:endParaRPr>
          </a:p>
          <a:p>
            <a:pPr marL="201168" lvl="1" indent="0">
              <a:buNone/>
            </a:pPr>
            <a:r>
              <a:rPr lang="en-US" sz="2400" dirty="0">
                <a:latin typeface="Calibri (Body)"/>
              </a:rPr>
              <a:t>=&gt; </a:t>
            </a:r>
            <a:r>
              <a:rPr lang="en-US" sz="2400" dirty="0" err="1">
                <a:latin typeface="Calibri (Body)"/>
              </a:rPr>
              <a:t>Các</a:t>
            </a:r>
            <a:r>
              <a:rPr lang="en-US" sz="2400" dirty="0">
                <a:latin typeface="Calibri (Body)"/>
              </a:rPr>
              <a:t> response </a:t>
            </a:r>
            <a:r>
              <a:rPr lang="en-US" sz="2400" dirty="0" err="1">
                <a:latin typeface="Calibri (Body)"/>
              </a:rPr>
              <a:t>từ</a:t>
            </a:r>
            <a:r>
              <a:rPr lang="en-US" sz="2400" dirty="0">
                <a:latin typeface="Calibri (Body)"/>
              </a:rPr>
              <a:t> server </a:t>
            </a:r>
            <a:r>
              <a:rPr lang="en-US" sz="2400" dirty="0" err="1">
                <a:latin typeface="Calibri (Body)"/>
              </a:rPr>
              <a:t>đều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là</a:t>
            </a:r>
            <a:r>
              <a:rPr lang="en-US" sz="2400" dirty="0">
                <a:latin typeface="Calibri (Body)"/>
              </a:rPr>
              <a:t> OK </a:t>
            </a:r>
            <a:r>
              <a:rPr lang="en-US" sz="2400" dirty="0" err="1">
                <a:latin typeface="Calibri (Body)"/>
              </a:rPr>
              <a:t>và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có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thời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gian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trả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lời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gần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nhau</a:t>
            </a:r>
            <a:endParaRPr lang="en-US" sz="2400" dirty="0">
              <a:latin typeface="Calibri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4CBC2-8ECE-729F-847D-534F99875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414" y="2264475"/>
            <a:ext cx="5915851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255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763E-AC7F-EB28-BD09-03DC5045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" y="286603"/>
            <a:ext cx="10058400" cy="1450757"/>
          </a:xfrm>
        </p:spPr>
        <p:txBody>
          <a:bodyPr/>
          <a:lstStyle/>
          <a:p>
            <a:r>
              <a:rPr lang="en-US" dirty="0"/>
              <a:t>Attack B – Timing Attack on RSA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77B03A-88B7-2B6F-52C8-CD9332AEB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2405" y="1879474"/>
            <a:ext cx="7481022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Loại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tấn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công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Side-channel attack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Không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phá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vỡ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giả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định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toán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học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của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RSA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Khai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thác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rò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rỉ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thời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gian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thực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thi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trong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quá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trình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RSA signing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RSA decryption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 err="1">
                <a:solidFill>
                  <a:schemeClr val="tx1"/>
                </a:solidFill>
                <a:latin typeface="Calibri (Body)"/>
              </a:rPr>
              <a:t>Mục</a:t>
            </a: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alibri (Body)"/>
              </a:rPr>
              <a:t>tiêu</a:t>
            </a: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alibri (Body)"/>
              </a:rPr>
              <a:t>thường</a:t>
            </a: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alibri (Body)"/>
              </a:rPr>
              <a:t>nắm</a:t>
            </a:r>
            <a:r>
              <a:rPr lang="en-US" altLang="en-US" sz="28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alibri (Body)"/>
              </a:rPr>
              <a:t>vào</a:t>
            </a:r>
            <a:endParaRPr lang="en-US" altLang="en-US" sz="2800" dirty="0">
              <a:solidFill>
                <a:schemeClr val="tx1"/>
              </a:solidFill>
              <a:latin typeface="Calibri (Body)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Smart card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600" dirty="0" err="1">
                <a:solidFill>
                  <a:schemeClr val="tx1"/>
                </a:solidFill>
                <a:latin typeface="Calibri (Body)"/>
              </a:rPr>
              <a:t>Các</a:t>
            </a:r>
            <a:r>
              <a:rPr lang="en-US" altLang="en-US" sz="26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n-US" altLang="en-US" sz="2600" dirty="0" err="1">
                <a:solidFill>
                  <a:schemeClr val="tx1"/>
                </a:solidFill>
                <a:latin typeface="Calibri (Body)"/>
              </a:rPr>
              <a:t>thiết</a:t>
            </a:r>
            <a:r>
              <a:rPr lang="en-US" altLang="en-US" sz="2600" dirty="0">
                <a:solidFill>
                  <a:schemeClr val="tx1"/>
                </a:solidFill>
                <a:latin typeface="Calibri (Body)"/>
              </a:rPr>
              <a:t> </a:t>
            </a:r>
            <a:r>
              <a:rPr lang="en-US" altLang="en-US" sz="2600" dirty="0" err="1">
                <a:solidFill>
                  <a:schemeClr val="tx1"/>
                </a:solidFill>
                <a:latin typeface="Calibri (Body)"/>
              </a:rPr>
              <a:t>bị</a:t>
            </a:r>
            <a:r>
              <a:rPr lang="en-US" altLang="en-US" sz="2600" dirty="0">
                <a:solidFill>
                  <a:schemeClr val="tx1"/>
                </a:solidFill>
                <a:latin typeface="Calibri (Body)"/>
              </a:rPr>
              <a:t> IoT </a:t>
            </a:r>
            <a:r>
              <a:rPr lang="en-US" altLang="en-US" sz="2600" dirty="0" err="1">
                <a:solidFill>
                  <a:schemeClr val="tx1"/>
                </a:solidFill>
                <a:latin typeface="Calibri (Body)"/>
              </a:rPr>
              <a:t>cũ</a:t>
            </a:r>
            <a:endParaRPr lang="en-US" altLang="en-US" sz="2600" dirty="0">
              <a:solidFill>
                <a:schemeClr val="tx1"/>
              </a:solidFill>
              <a:latin typeface="Calibri (Body)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TLS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c</a:t>
            </a:r>
            <a:r>
              <a:rPr lang="en-US" altLang="en-US" sz="2600" dirty="0" err="1">
                <a:solidFill>
                  <a:schemeClr val="tx1"/>
                </a:solidFill>
                <a:latin typeface="Calibri (Body)"/>
              </a:rPr>
              <a:t>ũ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987054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763E-AC7F-EB28-BD09-03DC5045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" y="286603"/>
            <a:ext cx="10058400" cy="1450757"/>
          </a:xfrm>
        </p:spPr>
        <p:txBody>
          <a:bodyPr/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A103C-824D-63E5-19B2-5C4B19B5A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69343"/>
            <a:ext cx="12191999" cy="378375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Biết public key (𝑁,𝑒)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 quyền gửi nhiều message / ciphertext tuỳ ý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vi-V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 được thời gian xử lý 𝑇</a:t>
            </a:r>
            <a:r>
              <a:rPr lang="vi-V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𝑖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 mỗi lần ký / giải mã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Mục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phục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private exponent 𝑑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từng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bit</a:t>
            </a:r>
          </a:p>
        </p:txBody>
      </p:sp>
    </p:spTree>
    <p:extLst>
      <p:ext uri="{BB962C8B-B14F-4D97-AF65-F5344CB8AC3E}">
        <p14:creationId xmlns:p14="http://schemas.microsoft.com/office/powerpoint/2010/main" val="3417480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763E-AC7F-EB28-BD09-03DC5045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" y="286603"/>
            <a:ext cx="10058400" cy="1450757"/>
          </a:xfrm>
        </p:spPr>
        <p:txBody>
          <a:bodyPr/>
          <a:lstStyle/>
          <a:p>
            <a:r>
              <a:rPr lang="en-US" dirty="0"/>
              <a:t>Decryption/Signing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7A103C-824D-63E5-19B2-5C4B19B5A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969343"/>
                <a:ext cx="12191999" cy="3783757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 RSA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sẽ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giải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mã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công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thức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𝑑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𝑚𝑜𝑑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en-US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 Khi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số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mũ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rất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lớn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ta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sẽ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dùng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các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thuật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toán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để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tính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toán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nhanh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hơn</a:t>
                </a:r>
                <a:endParaRPr lang="en-US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-&gt;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thuật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toán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phổ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biến</a:t>
                </a:r>
                <a:r>
                  <a:rPr lang="en-US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Square and </a:t>
                </a:r>
                <a:r>
                  <a:rPr lang="en-US" sz="32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Mutiply</a:t>
                </a:r>
                <a:endParaRPr lang="en-US" sz="3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7A103C-824D-63E5-19B2-5C4B19B5A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969343"/>
                <a:ext cx="12191999" cy="3783757"/>
              </a:xfrm>
              <a:blipFill>
                <a:blip r:embed="rId2"/>
                <a:stretch>
                  <a:fillRect l="-1250" t="-3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036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763E-AC7F-EB28-BD09-03DC5045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" y="286603"/>
            <a:ext cx="10058400" cy="1450757"/>
          </a:xfrm>
        </p:spPr>
        <p:txBody>
          <a:bodyPr/>
          <a:lstStyle/>
          <a:p>
            <a:r>
              <a:rPr lang="en-US" dirty="0"/>
              <a:t>Square and Multiply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A103C-824D-63E5-19B2-5C4B19B5A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69343"/>
            <a:ext cx="12191999" cy="378375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sẽ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chuyển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về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cơ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số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2,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bit d:</a:t>
            </a:r>
          </a:p>
          <a:p>
            <a:pPr lvl="1"/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gặp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sẽ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bình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phương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gặp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sẽ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bình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phương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sau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đó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nhân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cơ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số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cuối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cùng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chia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dư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ở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Lưu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ý: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gặp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bit 1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sẽ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nhiều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hơn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=&gt;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thời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gian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tính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lâu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hơn</a:t>
            </a:r>
            <a:r>
              <a:rPr lang="en-US" sz="3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=&gt; oracle</a:t>
            </a:r>
          </a:p>
          <a:p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952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763E-AC7F-EB28-BD09-03DC5045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" y="286603"/>
            <a:ext cx="10058400" cy="1450757"/>
          </a:xfrm>
        </p:spPr>
        <p:txBody>
          <a:bodyPr/>
          <a:lstStyle/>
          <a:p>
            <a:r>
              <a:rPr lang="en-US" dirty="0"/>
              <a:t>Thu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A103C-824D-63E5-19B2-5C4B19B5A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69343"/>
            <a:ext cx="12192000" cy="4422831"/>
          </a:xfrm>
        </p:spPr>
        <p:txBody>
          <a:bodyPr>
            <a:normAutofit lnSpcReduction="10000"/>
          </a:bodyPr>
          <a:lstStyle/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Gửi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nhiều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ciphertext/message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lần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gửi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ta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sẽ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thời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gian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server(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từ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lúc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gửi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request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đến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server reply)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Sau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đó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lưu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lại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 m</a:t>
            </a:r>
          </a:p>
          <a:p>
            <a:pPr lvl="1"/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Thời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duration_ns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/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Nhãn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dự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đoán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Montgomery Multiplication</a:t>
            </a:r>
          </a:p>
          <a:p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Với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giả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thuyết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bit 0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hoặc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1: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Chia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dữ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thành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nhóm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timing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sánh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bằng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kê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(Welch’s t-test)</a:t>
            </a:r>
          </a:p>
          <a:p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Bit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t-score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cao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hơn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bit </a:t>
            </a:r>
            <a:r>
              <a:rPr lang="en-US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đúng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582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763E-AC7F-EB28-BD09-03DC5045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" y="286603"/>
            <a:ext cx="10058400" cy="1450757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attack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A103C-824D-63E5-19B2-5C4B19B5A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69344"/>
            <a:ext cx="12191999" cy="112848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Thử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khôi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phục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62 bits d  = 11110001001111001001101011100100100100111000100010100110110001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Thời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gian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tiếng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FD6FFC-3CDA-6CB2-4582-255955054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7823"/>
            <a:ext cx="6430272" cy="32675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598032-5BF6-FD2F-93A8-EEE8FD8C4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272" y="3398808"/>
            <a:ext cx="545782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70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058400" cy="1450757"/>
          </a:xfrm>
        </p:spPr>
        <p:txBody>
          <a:bodyPr/>
          <a:lstStyle/>
          <a:p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RQ2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50B79-4971-0890-4933-4B8D772F6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940625"/>
            <a:ext cx="11749177" cy="4023360"/>
          </a:xfrm>
        </p:spPr>
        <p:txBody>
          <a:bodyPr>
            <a:normAutofit/>
          </a:bodyPr>
          <a:lstStyle/>
          <a:p>
            <a:pPr lvl="1">
              <a:buFontTx/>
              <a:buChar char="-"/>
            </a:pPr>
            <a:endParaRPr lang="en-US" sz="2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784287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763E-AC7F-EB28-BD09-03DC5045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" y="286603"/>
            <a:ext cx="10058400" cy="1450757"/>
          </a:xfrm>
        </p:spPr>
        <p:txBody>
          <a:bodyPr/>
          <a:lstStyle/>
          <a:p>
            <a:r>
              <a:rPr lang="en-US" dirty="0"/>
              <a:t>Attack C – Wiener’s Attack / low 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A103C-824D-63E5-19B2-5C4B19B5A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69343"/>
            <a:ext cx="12191999" cy="3783757"/>
          </a:xfrm>
        </p:spPr>
        <p:txBody>
          <a:bodyPr>
            <a:normAutofit/>
          </a:bodyPr>
          <a:lstStyle/>
          <a:p>
            <a:r>
              <a:rPr lang="en-US" sz="2800" dirty="0"/>
              <a:t>- </a:t>
            </a:r>
            <a:r>
              <a:rPr lang="en-US" sz="2800" dirty="0" err="1"/>
              <a:t>Khai</a:t>
            </a:r>
            <a:r>
              <a:rPr lang="en-US" sz="2800" dirty="0"/>
              <a:t> </a:t>
            </a:r>
            <a:r>
              <a:rPr lang="en-US" sz="2800" dirty="0" err="1"/>
              <a:t>thác</a:t>
            </a:r>
            <a:r>
              <a:rPr lang="en-US" sz="2800" dirty="0"/>
              <a:t> </a:t>
            </a:r>
            <a:r>
              <a:rPr lang="en-US" sz="2800" dirty="0" err="1"/>
              <a:t>cấu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RSA </a:t>
            </a:r>
            <a:r>
              <a:rPr lang="en-US" sz="2800" b="1" dirty="0" err="1"/>
              <a:t>không</a:t>
            </a:r>
            <a:r>
              <a:rPr lang="en-US" sz="2800" b="1" dirty="0"/>
              <a:t> an </a:t>
            </a:r>
            <a:r>
              <a:rPr lang="en-US" sz="2800" b="1" dirty="0" err="1"/>
              <a:t>toàn</a:t>
            </a:r>
            <a:r>
              <a:rPr lang="en-US" sz="2800" b="1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b="1" dirty="0"/>
              <a:t>private exponent 𝑑 </a:t>
            </a:r>
            <a:r>
              <a:rPr lang="en-US" sz="2800" b="1" dirty="0" err="1"/>
              <a:t>quá</a:t>
            </a:r>
            <a:r>
              <a:rPr lang="en-US" sz="2800" b="1" dirty="0"/>
              <a:t> </a:t>
            </a:r>
            <a:r>
              <a:rPr lang="en-US" sz="2800" b="1" dirty="0" err="1"/>
              <a:t>nhỏ</a:t>
            </a:r>
            <a:r>
              <a:rPr lang="en-US" sz="2800" dirty="0"/>
              <a:t>,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phép</a:t>
            </a:r>
            <a:r>
              <a:rPr lang="en-US" sz="2800" dirty="0"/>
              <a:t>:</a:t>
            </a:r>
          </a:p>
          <a:p>
            <a:pPr lvl="1"/>
            <a:r>
              <a:rPr lang="en-US" sz="2800" dirty="0" err="1"/>
              <a:t>Khôi</a:t>
            </a:r>
            <a:r>
              <a:rPr lang="en-US" sz="2800" dirty="0"/>
              <a:t> </a:t>
            </a:r>
            <a:r>
              <a:rPr lang="en-US" sz="2800" dirty="0" err="1"/>
              <a:t>phục</a:t>
            </a:r>
            <a:r>
              <a:rPr lang="en-US" sz="2800" dirty="0"/>
              <a:t> private key</a:t>
            </a:r>
          </a:p>
          <a:p>
            <a:pPr lvl="1"/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khóa</a:t>
            </a:r>
            <a:r>
              <a:rPr lang="en-US" sz="2800" dirty="0"/>
              <a:t>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khai</a:t>
            </a:r>
            <a:r>
              <a:rPr lang="en-US" sz="2800" dirty="0"/>
              <a:t> (</a:t>
            </a:r>
            <a:r>
              <a:rPr lang="en-US" sz="2800" dirty="0" err="1"/>
              <a:t>N,e</a:t>
            </a:r>
            <a:r>
              <a:rPr lang="en-US" sz="2800" dirty="0"/>
              <a:t>)</a:t>
            </a:r>
          </a:p>
          <a:p>
            <a:pPr marL="201168" lvl="1" indent="0">
              <a:buNone/>
            </a:pPr>
            <a:r>
              <a:rPr lang="en-US" sz="2800" dirty="0"/>
              <a:t>=&gt; </a:t>
            </a:r>
            <a:r>
              <a:rPr lang="en-US" sz="2800" dirty="0" err="1"/>
              <a:t>Dẫn</a:t>
            </a:r>
            <a:r>
              <a:rPr lang="en-US" sz="2800" dirty="0"/>
              <a:t> </a:t>
            </a:r>
            <a:r>
              <a:rPr lang="en-US" sz="2800" dirty="0" err="1"/>
              <a:t>tới</a:t>
            </a:r>
            <a:r>
              <a:rPr lang="en-US" sz="2800" dirty="0"/>
              <a:t> forgery </a:t>
            </a:r>
            <a:r>
              <a:rPr lang="en-US" sz="2800" dirty="0" err="1"/>
              <a:t>chữ</a:t>
            </a:r>
            <a:r>
              <a:rPr lang="en-US" sz="2800" dirty="0"/>
              <a:t> </a:t>
            </a:r>
            <a:r>
              <a:rPr lang="en-US" sz="2800" dirty="0" err="1"/>
              <a:t>kí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Broken Access Control</a:t>
            </a:r>
          </a:p>
        </p:txBody>
      </p:sp>
    </p:spTree>
    <p:extLst>
      <p:ext uri="{BB962C8B-B14F-4D97-AF65-F5344CB8AC3E}">
        <p14:creationId xmlns:p14="http://schemas.microsoft.com/office/powerpoint/2010/main" val="2941509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763E-AC7F-EB28-BD09-03DC5045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05" y="286603"/>
            <a:ext cx="10058400" cy="1450757"/>
          </a:xfrm>
        </p:spPr>
        <p:txBody>
          <a:bodyPr/>
          <a:lstStyle/>
          <a:p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7A103C-824D-63E5-19B2-5C4B19B5A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969343"/>
                <a:ext cx="12191999" cy="3783757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Wiener </a:t>
                </a:r>
                <a:r>
                  <a:rPr lang="en-US" sz="3200" dirty="0" err="1"/>
                  <a:t>chứng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minh</a:t>
                </a:r>
                <a:r>
                  <a:rPr lang="en-US" sz="3200" dirty="0"/>
                  <a:t> </a:t>
                </a:r>
                <a:r>
                  <a:rPr lang="en-US" sz="3200" dirty="0" err="1"/>
                  <a:t>tấn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công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thành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công</a:t>
                </a:r>
                <a:r>
                  <a:rPr lang="en-US" sz="3200" dirty="0"/>
                  <a:t> </a:t>
                </a:r>
                <a:r>
                  <a:rPr lang="en-US" sz="3200" dirty="0" err="1"/>
                  <a:t>nếu</a:t>
                </a:r>
                <a:r>
                  <a:rPr lang="en-US" sz="3200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 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endParaRPr lang="en-US" sz="3200" dirty="0"/>
              </a:p>
              <a:p>
                <a:r>
                  <a:rPr lang="vi-VN" sz="3200" dirty="0">
                    <a:latin typeface="Calibri (Body)"/>
                  </a:rPr>
                  <a:t>với giả thiết RSA chuẩn: p, q có kích thước gần nhau.</a:t>
                </a:r>
              </a:p>
              <a:p>
                <a:r>
                  <a:rPr lang="en-US" sz="2800" dirty="0"/>
                  <a:t>- </a:t>
                </a:r>
                <a:r>
                  <a:rPr lang="en-US" sz="2800" dirty="0" err="1"/>
                  <a:t>Thường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thấy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trong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việc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tự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triển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khai</a:t>
                </a:r>
                <a:r>
                  <a:rPr lang="en-US" sz="2800" dirty="0"/>
                  <a:t> RSA</a:t>
                </a:r>
              </a:p>
              <a:p>
                <a:r>
                  <a:rPr lang="en-US" sz="2800" dirty="0"/>
                  <a:t>- </a:t>
                </a:r>
                <a:r>
                  <a:rPr lang="en-US" sz="2800" dirty="0" err="1"/>
                  <a:t>Các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phần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cứng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bị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chế</a:t>
                </a:r>
                <a:r>
                  <a:rPr lang="en-US" sz="2800" dirty="0"/>
                  <a:t>, </a:t>
                </a:r>
                <a:r>
                  <a:rPr lang="en-US" sz="2800" dirty="0" err="1"/>
                  <a:t>phải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tối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ưu</a:t>
                </a: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7A103C-824D-63E5-19B2-5C4B19B5A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969343"/>
                <a:ext cx="12191999" cy="3783757"/>
              </a:xfrm>
              <a:blipFill>
                <a:blip r:embed="rId2"/>
                <a:stretch>
                  <a:fillRect l="-1250" t="-3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365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38B6-F7AA-F477-A900-EC70CD09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49" y="301628"/>
            <a:ext cx="10058400" cy="1450757"/>
          </a:xfrm>
        </p:spPr>
        <p:txBody>
          <a:bodyPr/>
          <a:lstStyle/>
          <a:p>
            <a:r>
              <a:rPr lang="en-US" dirty="0"/>
              <a:t>Ý </a:t>
            </a:r>
            <a:r>
              <a:rPr lang="en-US" dirty="0" err="1"/>
              <a:t>tưởng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148CA2-C224-7EF2-54DA-633C3196CD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75208"/>
                <a:ext cx="7237095" cy="436456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b="1" dirty="0"/>
                  <a:t>Quan </a:t>
                </a:r>
                <a:r>
                  <a:rPr lang="en-US" b="1" dirty="0" err="1"/>
                  <a:t>sát</a:t>
                </a:r>
                <a:r>
                  <a:rPr lang="en-US" b="1" dirty="0"/>
                  <a:t> </a:t>
                </a:r>
                <a:r>
                  <a:rPr lang="en-US" b="1" dirty="0" err="1"/>
                  <a:t>chính</a:t>
                </a:r>
                <a:endParaRPr lang="en-US" b="1" dirty="0"/>
              </a:p>
              <a:p>
                <a:r>
                  <a:rPr lang="en-US" dirty="0"/>
                  <a:t>Trong RSA, ta </a:t>
                </a:r>
                <a:r>
                  <a:rPr lang="en-US" dirty="0" err="1"/>
                  <a:t>có</a:t>
                </a:r>
                <a:r>
                  <a:rPr lang="en-US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Chia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vế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VÌ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), </a:t>
                </a:r>
                <a:r>
                  <a:rPr lang="en-US" dirty="0" err="1"/>
                  <a:t>nên</a:t>
                </a:r>
                <a:r>
                  <a:rPr lang="en-US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mấu</a:t>
                </a:r>
                <a:r>
                  <a:rPr lang="en-US" dirty="0"/>
                  <a:t> </a:t>
                </a:r>
                <a:r>
                  <a:rPr lang="en-US" dirty="0" err="1"/>
                  <a:t>chốt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Wiener, </a:t>
                </a:r>
                <a:r>
                  <a:rPr lang="en-US" dirty="0" err="1"/>
                  <a:t>nếu</a:t>
                </a:r>
                <a:r>
                  <a:rPr lang="en-US" dirty="0"/>
                  <a:t> d </a:t>
                </a:r>
                <a:r>
                  <a:rPr lang="en-US" dirty="0" err="1"/>
                  <a:t>rất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xuất</a:t>
                </a:r>
                <a:r>
                  <a:rPr lang="en-US" dirty="0"/>
                  <a:t> </a:t>
                </a:r>
                <a:r>
                  <a:rPr lang="en-US" dirty="0" err="1"/>
                  <a:t>hiện</a:t>
                </a:r>
                <a:r>
                  <a:rPr lang="en-US" dirty="0"/>
                  <a:t> </a:t>
                </a:r>
                <a:r>
                  <a:rPr lang="en-US" dirty="0" err="1"/>
                  <a:t>như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convergent </a:t>
                </a:r>
                <a:r>
                  <a:rPr lang="en-US" dirty="0" err="1"/>
                  <a:t>trong</a:t>
                </a:r>
                <a:r>
                  <a:rPr lang="en-US" dirty="0"/>
                  <a:t> continued fraction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148CA2-C224-7EF2-54DA-633C3196C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75208"/>
                <a:ext cx="7237095" cy="4364566"/>
              </a:xfrm>
              <a:blipFill>
                <a:blip r:embed="rId2"/>
                <a:stretch>
                  <a:fillRect l="-505" t="-2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307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38B6-F7AA-F477-A900-EC70CD09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4374"/>
            <a:ext cx="10058400" cy="1450757"/>
          </a:xfrm>
        </p:spPr>
        <p:txBody>
          <a:bodyPr/>
          <a:lstStyle/>
          <a:p>
            <a:r>
              <a:rPr lang="en-US" dirty="0"/>
              <a:t>Ý </a:t>
            </a:r>
            <a:r>
              <a:rPr lang="en-US" dirty="0" err="1"/>
              <a:t>tưởng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148CA2-C224-7EF2-54DA-633C3196CD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49328"/>
                <a:ext cx="7237095" cy="3369653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Cách </a:t>
                </a:r>
                <a:r>
                  <a:rPr lang="en-US" sz="2000" b="1" dirty="0" err="1"/>
                  <a:t>tấn</a:t>
                </a:r>
                <a:r>
                  <a:rPr lang="en-US" sz="2000" b="1" dirty="0"/>
                  <a:t> </a:t>
                </a:r>
                <a:r>
                  <a:rPr lang="en-US" sz="2000" b="1" dirty="0" err="1"/>
                  <a:t>công</a:t>
                </a:r>
                <a:endParaRPr lang="en-US" sz="2000" b="1" dirty="0"/>
              </a:p>
              <a:p>
                <a:r>
                  <a:rPr lang="en-US" sz="2000" dirty="0"/>
                  <a:t>1. </a:t>
                </a:r>
                <a:r>
                  <a:rPr lang="en-US" sz="2000" dirty="0" err="1"/>
                  <a:t>Tính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từng</a:t>
                </a:r>
                <a:r>
                  <a:rPr lang="en-US" sz="2000" dirty="0"/>
                  <a:t> continued fraction </a:t>
                </a:r>
                <a:r>
                  <a:rPr lang="en-US" sz="2000" dirty="0" err="1"/>
                  <a:t>của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2. </a:t>
                </a:r>
                <a:r>
                  <a:rPr lang="en-US" sz="2000" dirty="0" err="1"/>
                  <a:t>Duyệt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từng</a:t>
                </a:r>
                <a:r>
                  <a:rPr lang="en-US" sz="2000" dirty="0"/>
                  <a:t> convergent </a:t>
                </a:r>
                <a:r>
                  <a:rPr lang="en-US" sz="2000" dirty="0" err="1"/>
                  <a:t>của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sz="2000" dirty="0"/>
                  <a:t>3. </a:t>
                </a:r>
                <a:r>
                  <a:rPr lang="en-US" sz="2000" dirty="0" err="1"/>
                  <a:t>Với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mỗi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en-US" sz="2000" dirty="0" err="1"/>
                  <a:t>suy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ra</a:t>
                </a:r>
                <a:r>
                  <a:rPr lang="en-US" sz="2000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sz="2000" dirty="0"/>
                  <a:t>4. </a:t>
                </a:r>
                <a:r>
                  <a:rPr lang="en-US" sz="2000" dirty="0" err="1"/>
                  <a:t>Từ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giải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p,q</a:t>
                </a:r>
                <a:r>
                  <a:rPr lang="en-US" sz="2000" dirty="0"/>
                  <a:t> =&gt; </a:t>
                </a:r>
                <a:r>
                  <a:rPr lang="en-US" sz="2000" dirty="0" err="1"/>
                  <a:t>dựng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lại</a:t>
                </a:r>
                <a:r>
                  <a:rPr lang="en-US" sz="2000" dirty="0"/>
                  <a:t> private key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148CA2-C224-7EF2-54DA-633C3196CD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49328"/>
                <a:ext cx="7237095" cy="3369653"/>
              </a:xfrm>
              <a:blipFill>
                <a:blip r:embed="rId2"/>
                <a:stretch>
                  <a:fillRect l="-842" t="-1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57AEDB6B-24DF-EDCC-2B35-516C7CC95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08311"/>
            <a:ext cx="12192000" cy="149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49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058400" cy="1450757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- Attack 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5CED2E-5034-A152-2EF1-5CE331C2D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4777" y="1855703"/>
            <a:ext cx="8387223" cy="4024313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A28423-2208-1782-0F63-59F4812F628A}"/>
              </a:ext>
            </a:extLst>
          </p:cNvPr>
          <p:cNvSpPr txBox="1">
            <a:spLocks/>
          </p:cNvSpPr>
          <p:nvPr/>
        </p:nvSpPr>
        <p:spPr>
          <a:xfrm>
            <a:off x="0" y="1940625"/>
            <a:ext cx="366361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Symbol" panose="05050102010706020507" pitchFamily="18" charset="2"/>
              <a:buChar char="Þ"/>
            </a:pPr>
            <a:r>
              <a:rPr lang="en-US" sz="2400" dirty="0" err="1">
                <a:latin typeface="Calibri (Body)"/>
              </a:rPr>
              <a:t>Tốn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khoảng</a:t>
            </a:r>
            <a:r>
              <a:rPr lang="en-US" sz="2400" dirty="0">
                <a:latin typeface="Calibri (Body)"/>
              </a:rPr>
              <a:t> 0.02s </a:t>
            </a:r>
            <a:r>
              <a:rPr lang="en-US" sz="2400" dirty="0" err="1">
                <a:latin typeface="Calibri (Body)"/>
              </a:rPr>
              <a:t>để</a:t>
            </a:r>
            <a:r>
              <a:rPr lang="en-US" sz="2400" dirty="0">
                <a:latin typeface="Calibri (Body)"/>
              </a:rPr>
              <a:t> attack </a:t>
            </a:r>
            <a:r>
              <a:rPr lang="en-US" sz="2400" dirty="0" err="1">
                <a:latin typeface="Calibri (Body)"/>
              </a:rPr>
              <a:t>thành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công</a:t>
            </a:r>
            <a:endParaRPr lang="en-US" sz="2400" dirty="0">
              <a:latin typeface="Calibri (Body)"/>
            </a:endParaRPr>
          </a:p>
          <a:p>
            <a:pPr lvl="1">
              <a:buFontTx/>
              <a:buChar char="-"/>
            </a:pPr>
            <a:r>
              <a:rPr lang="en-US" dirty="0">
                <a:latin typeface="Calibri (Body)"/>
              </a:rPr>
              <a:t>Qua </a:t>
            </a:r>
            <a:r>
              <a:rPr lang="en-US" dirty="0" err="1">
                <a:latin typeface="Calibri (Body)"/>
              </a:rPr>
              <a:t>đó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chứng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minh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rằng</a:t>
            </a:r>
            <a:r>
              <a:rPr lang="en-US" dirty="0">
                <a:latin typeface="Calibri (Body)"/>
              </a:rPr>
              <a:t>: </a:t>
            </a:r>
          </a:p>
          <a:p>
            <a:pPr marL="201168" lvl="1" indent="0">
              <a:buNone/>
            </a:pPr>
            <a:r>
              <a:rPr lang="en-US" dirty="0" err="1">
                <a:latin typeface="Calibri (Body)"/>
              </a:rPr>
              <a:t>Giả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thuyết</a:t>
            </a:r>
            <a:r>
              <a:rPr lang="en-US" dirty="0">
                <a:latin typeface="Calibri (Body)"/>
              </a:rPr>
              <a:t> small exponent </a:t>
            </a:r>
            <a:r>
              <a:rPr lang="en-US" dirty="0" err="1">
                <a:latin typeface="Calibri (Body)"/>
              </a:rPr>
              <a:t>misue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nguyên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nhân</a:t>
            </a:r>
            <a:r>
              <a:rPr lang="en-US" dirty="0">
                <a:latin typeface="Calibri (Body)"/>
              </a:rPr>
              <a:t> compromise </a:t>
            </a:r>
            <a:r>
              <a:rPr lang="en-US" dirty="0" err="1">
                <a:latin typeface="Calibri (Body)"/>
              </a:rPr>
              <a:t>thực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tế</a:t>
            </a:r>
            <a:r>
              <a:rPr lang="en-US" dirty="0">
                <a:latin typeface="Calibri (Body)"/>
              </a:rPr>
              <a:t>, </a:t>
            </a:r>
            <a:r>
              <a:rPr lang="en-US" dirty="0" err="1">
                <a:latin typeface="Calibri (Body)"/>
              </a:rPr>
              <a:t>có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thể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dẫn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đến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cơ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chế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xác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thực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không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còn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đáng</a:t>
            </a:r>
            <a:r>
              <a:rPr lang="en-US" dirty="0">
                <a:latin typeface="Calibri (Body)"/>
              </a:rPr>
              <a:t> tin</a:t>
            </a:r>
          </a:p>
        </p:txBody>
      </p:sp>
    </p:spTree>
    <p:extLst>
      <p:ext uri="{BB962C8B-B14F-4D97-AF65-F5344CB8AC3E}">
        <p14:creationId xmlns:p14="http://schemas.microsoft.com/office/powerpoint/2010/main" val="1552816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B0150-081F-3211-A95E-E15A98B8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3527"/>
            <a:ext cx="10058400" cy="1450757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- Attack 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5CED2E-5034-A152-2EF1-5CE331C2D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4777" y="1855703"/>
            <a:ext cx="8387223" cy="4024313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A28423-2208-1782-0F63-59F4812F628A}"/>
              </a:ext>
            </a:extLst>
          </p:cNvPr>
          <p:cNvSpPr txBox="1">
            <a:spLocks/>
          </p:cNvSpPr>
          <p:nvPr/>
        </p:nvSpPr>
        <p:spPr>
          <a:xfrm>
            <a:off x="0" y="1940625"/>
            <a:ext cx="3663616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Symbol" panose="05050102010706020507" pitchFamily="18" charset="2"/>
              <a:buChar char="Þ"/>
            </a:pPr>
            <a:r>
              <a:rPr lang="en-US" sz="2400" dirty="0" err="1">
                <a:latin typeface="Calibri (Body)"/>
              </a:rPr>
              <a:t>Tốn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khoảng</a:t>
            </a:r>
            <a:r>
              <a:rPr lang="en-US" sz="2400" dirty="0">
                <a:latin typeface="Calibri (Body)"/>
              </a:rPr>
              <a:t> 0.02s </a:t>
            </a:r>
            <a:r>
              <a:rPr lang="en-US" sz="2400" dirty="0" err="1">
                <a:latin typeface="Calibri (Body)"/>
              </a:rPr>
              <a:t>để</a:t>
            </a:r>
            <a:r>
              <a:rPr lang="en-US" sz="2400" dirty="0">
                <a:latin typeface="Calibri (Body)"/>
              </a:rPr>
              <a:t> attack </a:t>
            </a:r>
            <a:r>
              <a:rPr lang="en-US" sz="2400" dirty="0" err="1">
                <a:latin typeface="Calibri (Body)"/>
              </a:rPr>
              <a:t>thành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công</a:t>
            </a:r>
            <a:endParaRPr lang="en-US" sz="2400" dirty="0">
              <a:latin typeface="Calibri (Body)"/>
            </a:endParaRPr>
          </a:p>
          <a:p>
            <a:pPr marL="201168" lvl="1" indent="0">
              <a:buNone/>
            </a:pPr>
            <a:r>
              <a:rPr lang="en-US" dirty="0">
                <a:latin typeface="Calibri (Body)"/>
              </a:rPr>
              <a:t>- Qua </a:t>
            </a:r>
            <a:r>
              <a:rPr lang="en-US" dirty="0" err="1">
                <a:latin typeface="Calibri (Body)"/>
              </a:rPr>
              <a:t>đó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chứng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minh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rằng</a:t>
            </a:r>
            <a:r>
              <a:rPr lang="en-US" dirty="0">
                <a:latin typeface="Calibri (Body)"/>
              </a:rPr>
              <a:t>, </a:t>
            </a:r>
            <a:r>
              <a:rPr lang="en-US" dirty="0" err="1">
                <a:latin typeface="Calibri (Body)"/>
              </a:rPr>
              <a:t>giả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thuyết</a:t>
            </a:r>
            <a:r>
              <a:rPr lang="en-US" dirty="0">
                <a:latin typeface="Calibri (Body)"/>
              </a:rPr>
              <a:t> small exponent </a:t>
            </a:r>
            <a:r>
              <a:rPr lang="en-US" dirty="0" err="1">
                <a:latin typeface="Calibri (Body)"/>
              </a:rPr>
              <a:t>misue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nguyên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nhân</a:t>
            </a:r>
            <a:r>
              <a:rPr lang="en-US" dirty="0">
                <a:latin typeface="Calibri (Body)"/>
              </a:rPr>
              <a:t> compromise </a:t>
            </a:r>
            <a:r>
              <a:rPr lang="en-US" dirty="0" err="1">
                <a:latin typeface="Calibri (Body)"/>
              </a:rPr>
              <a:t>thực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tế</a:t>
            </a:r>
            <a:r>
              <a:rPr lang="en-US" dirty="0">
                <a:latin typeface="Calibri (Body)"/>
              </a:rPr>
              <a:t>, </a:t>
            </a:r>
            <a:r>
              <a:rPr lang="en-US" dirty="0" err="1">
                <a:latin typeface="Calibri (Body)"/>
              </a:rPr>
              <a:t>có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thể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dẫn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đến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cơ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chế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xác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thực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không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còn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đáng</a:t>
            </a:r>
            <a:r>
              <a:rPr lang="en-US" dirty="0">
                <a:latin typeface="Calibri (Body)"/>
              </a:rPr>
              <a:t> tin</a:t>
            </a:r>
          </a:p>
        </p:txBody>
      </p:sp>
    </p:spTree>
    <p:extLst>
      <p:ext uri="{BB962C8B-B14F-4D97-AF65-F5344CB8AC3E}">
        <p14:creationId xmlns:p14="http://schemas.microsoft.com/office/powerpoint/2010/main" val="34332523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0978-8FD7-9E73-86CD-1D5BED9A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" y="208311"/>
            <a:ext cx="10058400" cy="1450757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- Attack 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CB913E-247B-B5E5-E7F4-7C5FA6821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4584"/>
            <a:ext cx="12192000" cy="154268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5FC503-25AF-2A19-1C5B-C0C441F4E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38487"/>
            <a:ext cx="6459855" cy="658919"/>
          </a:xfrm>
        </p:spPr>
        <p:txBody>
          <a:bodyPr/>
          <a:lstStyle/>
          <a:p>
            <a:r>
              <a:rPr lang="en-US" b="1" dirty="0"/>
              <a:t>- D bits </a:t>
            </a:r>
            <a:r>
              <a:rPr lang="en-US" b="1" dirty="0" err="1"/>
              <a:t>trước</a:t>
            </a:r>
            <a:r>
              <a:rPr lang="en-US" b="1" dirty="0"/>
              <a:t> </a:t>
            </a:r>
            <a:r>
              <a:rPr lang="en-US" b="1" dirty="0" err="1"/>
              <a:t>khi</a:t>
            </a:r>
            <a:r>
              <a:rPr lang="en-US" b="1" dirty="0"/>
              <a:t> </a:t>
            </a:r>
            <a:r>
              <a:rPr lang="en-US" b="1" dirty="0" err="1"/>
              <a:t>vá</a:t>
            </a:r>
            <a:r>
              <a:rPr lang="en-US" b="1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6E877C-D3F9-D5BB-984E-1538F6E46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6596"/>
            <a:ext cx="8935968" cy="1651042"/>
          </a:xfrm>
          <a:prstGeom prst="rect">
            <a:avLst/>
          </a:prstGeom>
        </p:spPr>
      </p:pic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1A90F1BE-1D35-FE8C-7192-78B83413B14A}"/>
              </a:ext>
            </a:extLst>
          </p:cNvPr>
          <p:cNvSpPr txBox="1">
            <a:spLocks/>
          </p:cNvSpPr>
          <p:nvPr/>
        </p:nvSpPr>
        <p:spPr>
          <a:xfrm>
            <a:off x="0" y="4365747"/>
            <a:ext cx="6459855" cy="6589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- D bits </a:t>
            </a:r>
            <a:r>
              <a:rPr lang="en-US" b="1" dirty="0" err="1"/>
              <a:t>sau</a:t>
            </a:r>
            <a:r>
              <a:rPr lang="en-US" b="1" dirty="0"/>
              <a:t> </a:t>
            </a:r>
            <a:r>
              <a:rPr lang="en-US" b="1" dirty="0" err="1"/>
              <a:t>khi</a:t>
            </a:r>
            <a:r>
              <a:rPr lang="en-US" b="1" dirty="0"/>
              <a:t> </a:t>
            </a:r>
            <a:r>
              <a:rPr lang="en-US" b="1" dirty="0" err="1"/>
              <a:t>vá</a:t>
            </a:r>
            <a:r>
              <a:rPr lang="en-US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33539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0978-8FD7-9E73-86CD-1D5BED9A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" y="208311"/>
            <a:ext cx="10058400" cy="1450757"/>
          </a:xfrm>
        </p:spPr>
        <p:txBody>
          <a:bodyPr/>
          <a:lstStyle/>
          <a:p>
            <a:r>
              <a:rPr lang="en-US" dirty="0"/>
              <a:t>Fault attack: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45FC503-25AF-2A19-1C5B-C0C441F4E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38487"/>
                <a:ext cx="12192000" cy="4200004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- Khi </a:t>
                </a:r>
                <a:r>
                  <a:rPr lang="en-US" sz="2800" dirty="0" err="1"/>
                  <a:t>triển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khai</a:t>
                </a:r>
                <a:r>
                  <a:rPr lang="en-US" sz="2800" dirty="0"/>
                  <a:t> RSA, </a:t>
                </a:r>
                <a:r>
                  <a:rPr lang="en-US" sz="2800" dirty="0" err="1"/>
                  <a:t>định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lý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thặng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dư</a:t>
                </a:r>
                <a:r>
                  <a:rPr lang="en-US" sz="2800" dirty="0"/>
                  <a:t> Trung Hoa </a:t>
                </a:r>
                <a:r>
                  <a:rPr lang="en-US" sz="2800" dirty="0" err="1"/>
                  <a:t>được</a:t>
                </a:r>
                <a:r>
                  <a:rPr lang="en-US" sz="2800" dirty="0"/>
                  <a:t> dung </a:t>
                </a:r>
                <a:r>
                  <a:rPr lang="en-US" sz="2800" dirty="0" err="1"/>
                  <a:t>để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tăng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tốc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độ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kí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giải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mã</a:t>
                </a:r>
                <a:r>
                  <a:rPr lang="en-US" sz="2800" dirty="0"/>
                  <a:t> (</a:t>
                </a:r>
                <a:r>
                  <a:rPr lang="en-US" sz="2800" dirty="0" err="1"/>
                  <a:t>nhanh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khoảng</a:t>
                </a:r>
                <a:r>
                  <a:rPr lang="en-US" sz="2800" dirty="0"/>
                  <a:t> 4 </a:t>
                </a:r>
                <a:r>
                  <a:rPr lang="en-US" sz="2800" dirty="0" err="1"/>
                  <a:t>lần</a:t>
                </a:r>
                <a:r>
                  <a:rPr lang="en-US" sz="2800" dirty="0"/>
                  <a:t>)</a:t>
                </a:r>
              </a:p>
              <a:p>
                <a:r>
                  <a:rPr lang="en-US" sz="2800" dirty="0"/>
                  <a:t>- Quy </a:t>
                </a:r>
                <a:r>
                  <a:rPr lang="en-US" sz="2800" dirty="0" err="1"/>
                  <a:t>trình</a:t>
                </a:r>
                <a:r>
                  <a:rPr lang="en-US" sz="2800" dirty="0"/>
                  <a:t>: </a:t>
                </a:r>
                <a:r>
                  <a:rPr lang="en-US" sz="2800" dirty="0" err="1"/>
                  <a:t>Thay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vì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tính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dư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trên</a:t>
                </a:r>
                <a:r>
                  <a:rPr lang="en-US" sz="2800" dirty="0"/>
                  <a:t> N, </a:t>
                </a:r>
                <a:r>
                  <a:rPr lang="en-US" sz="2800" dirty="0" err="1"/>
                  <a:t>hệ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thống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tính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trên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hai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nhánh</a:t>
                </a:r>
                <a:r>
                  <a:rPr lang="en-US" sz="2800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- Sau </a:t>
                </a:r>
                <a:r>
                  <a:rPr lang="en-US" sz="2800" dirty="0" err="1"/>
                  <a:t>đó</a:t>
                </a:r>
                <a:r>
                  <a:rPr lang="en-US" sz="2800" dirty="0"/>
                  <a:t>, </a:t>
                </a:r>
                <a:r>
                  <a:rPr lang="en-US" sz="2800" dirty="0" err="1"/>
                  <a:t>gộp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lại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bằng</a:t>
                </a:r>
                <a:r>
                  <a:rPr lang="en-US" sz="2800" dirty="0"/>
                  <a:t> CRT </a:t>
                </a:r>
                <a:r>
                  <a:rPr lang="en-US" sz="2800" dirty="0" err="1"/>
                  <a:t>để</a:t>
                </a:r>
                <a:r>
                  <a:rPr lang="en-US" sz="2800" dirty="0"/>
                  <a:t> </a:t>
                </a:r>
                <a:r>
                  <a:rPr lang="en-US" sz="2800" dirty="0" err="1"/>
                  <a:t>ra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chữ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kí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800" dirty="0"/>
                  <a:t>.</a:t>
                </a:r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45FC503-25AF-2A19-1C5B-C0C441F4E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38487"/>
                <a:ext cx="12192000" cy="4200004"/>
              </a:xfrm>
              <a:blipFill>
                <a:blip r:embed="rId2"/>
                <a:stretch>
                  <a:fillRect l="-1000" t="-2467" r="-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3285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0978-8FD7-9E73-86CD-1D5BED9A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" y="208311"/>
            <a:ext cx="10058400" cy="1450757"/>
          </a:xfrm>
        </p:spPr>
        <p:txBody>
          <a:bodyPr/>
          <a:lstStyle/>
          <a:p>
            <a:r>
              <a:rPr lang="en-US" dirty="0" err="1"/>
              <a:t>Bellcore</a:t>
            </a:r>
            <a:r>
              <a:rPr lang="en-US" dirty="0"/>
              <a:t> Attack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45FC503-25AF-2A19-1C5B-C0C441F4E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838487"/>
                <a:ext cx="11222966" cy="4200004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Gi</a:t>
                </a:r>
                <a:r>
                  <a:rPr lang="en-US" sz="2800" dirty="0" err="1"/>
                  <a:t>ả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định</a:t>
                </a:r>
                <a:r>
                  <a:rPr lang="en-US" sz="2800" dirty="0"/>
                  <a:t>: attacker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thể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tạo</a:t>
                </a:r>
                <a:r>
                  <a:rPr lang="en-US" sz="2800" dirty="0"/>
                  <a:t> </a:t>
                </a:r>
                <a:r>
                  <a:rPr lang="en-US" sz="2800" dirty="0" err="1"/>
                  <a:t>ra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lỗi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tính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toán</a:t>
                </a:r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:r>
                  <a:rPr lang="en-US" sz="2800" dirty="0" err="1"/>
                  <a:t>trong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đó</a:t>
                </a:r>
                <a:r>
                  <a:rPr lang="en-US" sz="2800" dirty="0"/>
                  <a:t> server </a:t>
                </a:r>
                <a:r>
                  <a:rPr lang="en-US" sz="2800" dirty="0" err="1"/>
                  <a:t>lại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tính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toán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đúng</a:t>
                </a:r>
                <a:r>
                  <a:rPr lang="en-US" sz="2800" dirty="0"/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800" dirty="0"/>
              </a:p>
              <a:p>
                <a:r>
                  <a:rPr lang="en-US" sz="2800" dirty="0" err="1"/>
                  <a:t>Từ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đó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khi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gộp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lại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sẽ</a:t>
                </a:r>
                <a:r>
                  <a:rPr lang="en-US" sz="2800" dirty="0"/>
                  <a:t> chia </a:t>
                </a:r>
                <a:r>
                  <a:rPr lang="en-US" sz="2800" dirty="0" err="1"/>
                  <a:t>hết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cho</a:t>
                </a:r>
                <a:r>
                  <a:rPr lang="en-US" sz="2800" dirty="0"/>
                  <a:t> p </a:t>
                </a:r>
                <a:r>
                  <a:rPr lang="en-US" sz="2800" dirty="0" err="1"/>
                  <a:t>nhưng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không</a:t>
                </a:r>
                <a:r>
                  <a:rPr lang="en-US" sz="2800" dirty="0"/>
                  <a:t> chia </a:t>
                </a:r>
                <a:r>
                  <a:rPr lang="en-US" sz="2800" dirty="0" err="1"/>
                  <a:t>hết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cho</a:t>
                </a:r>
                <a:r>
                  <a:rPr lang="en-US" sz="2800" dirty="0"/>
                  <a:t> q:</a:t>
                </a: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sup>
                            </m:s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145FC503-25AF-2A19-1C5B-C0C441F4E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838487"/>
                <a:ext cx="11222966" cy="4200004"/>
              </a:xfrm>
              <a:blipFill>
                <a:blip r:embed="rId2"/>
                <a:stretch>
                  <a:fillRect l="-1086" t="-2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340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C28B-16E5-1A84-EF3F-88CF63A00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947" y="534569"/>
            <a:ext cx="10515600" cy="1325563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DB8B-8E67-8881-EFDE-8726FE1E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" y="1972093"/>
            <a:ext cx="10515600" cy="4351338"/>
          </a:xfrm>
        </p:spPr>
        <p:txBody>
          <a:bodyPr/>
          <a:lstStyle/>
          <a:p>
            <a:pPr marL="514350" indent="-514350">
              <a:spcBef>
                <a:spcPts val="2000"/>
              </a:spcBef>
              <a:buAutoNum type="arabicParenR"/>
            </a:pPr>
            <a:r>
              <a:rPr lang="en-US" dirty="0"/>
              <a:t>Key size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: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2048 bit, </a:t>
            </a:r>
            <a:r>
              <a:rPr lang="en-US" dirty="0" err="1"/>
              <a:t>khuyến</a:t>
            </a:r>
            <a:r>
              <a:rPr lang="en-US" dirty="0"/>
              <a:t> </a:t>
            </a:r>
            <a:r>
              <a:rPr lang="en-US" dirty="0" err="1"/>
              <a:t>khích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3072 bit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.</a:t>
            </a:r>
          </a:p>
          <a:p>
            <a:pPr marL="514350" indent="-514350">
              <a:spcBef>
                <a:spcPts val="2000"/>
              </a:spcBef>
              <a:buAutoNum type="arabicParenR"/>
            </a:pP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.</a:t>
            </a:r>
          </a:p>
          <a:p>
            <a:pPr marL="514350" indent="-514350">
              <a:spcBef>
                <a:spcPts val="2000"/>
              </a:spcBef>
              <a:buAutoNum type="arabicParenR"/>
            </a:pPr>
            <a:r>
              <a:rPr lang="en-US" dirty="0" err="1"/>
              <a:t>Tránh</a:t>
            </a:r>
            <a:r>
              <a:rPr lang="en-US" dirty="0"/>
              <a:t> dung </a:t>
            </a:r>
            <a:r>
              <a:rPr lang="en-US" dirty="0" err="1"/>
              <a:t>chung</a:t>
            </a:r>
            <a:r>
              <a:rPr lang="en-US" dirty="0"/>
              <a:t> 1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pPr marL="514350" indent="-514350">
              <a:spcBef>
                <a:spcPts val="2000"/>
              </a:spcBef>
              <a:buAutoNum type="arabicParenR"/>
            </a:pP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kĩ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phá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.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sang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,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5422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02C9-43C9-2BCE-5DB3-E90CC5CDE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3" y="511773"/>
            <a:ext cx="10515600" cy="1325563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9A5CB-4CC6-E56D-5F11-96E4F9804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4" y="1994889"/>
            <a:ext cx="11249025" cy="4351338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  <a:buFontTx/>
              <a:buChar char="-"/>
            </a:pPr>
            <a:r>
              <a:rPr lang="en-US" sz="2400" dirty="0">
                <a:latin typeface="Calibri (Body)"/>
              </a:rPr>
              <a:t> RSA </a:t>
            </a:r>
            <a:r>
              <a:rPr lang="en-US" sz="2400" dirty="0" err="1">
                <a:latin typeface="Calibri (Body)"/>
              </a:rPr>
              <a:t>vẫn</a:t>
            </a:r>
            <a:r>
              <a:rPr lang="en-US" sz="2400" dirty="0">
                <a:latin typeface="Calibri (Body)"/>
              </a:rPr>
              <a:t> an </a:t>
            </a:r>
            <a:r>
              <a:rPr lang="en-US" sz="2400" dirty="0" err="1">
                <a:latin typeface="Calibri (Body)"/>
              </a:rPr>
              <a:t>toàn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nếu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triển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khai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chuẩn</a:t>
            </a:r>
            <a:r>
              <a:rPr lang="en-US" sz="2400" dirty="0">
                <a:latin typeface="Calibri (Body)"/>
              </a:rPr>
              <a:t>, </a:t>
            </a:r>
            <a:r>
              <a:rPr lang="en-US" sz="2400" dirty="0" err="1">
                <a:latin typeface="Calibri (Body)"/>
              </a:rPr>
              <a:t>đầy</a:t>
            </a:r>
            <a:r>
              <a:rPr lang="en-US" sz="2400" dirty="0">
                <a:latin typeface="Calibri (Body)"/>
              </a:rPr>
              <a:t> </a:t>
            </a:r>
            <a:r>
              <a:rPr lang="en-US" sz="2400" dirty="0" err="1">
                <a:latin typeface="Calibri (Body)"/>
              </a:rPr>
              <a:t>đủ</a:t>
            </a:r>
            <a:endParaRPr lang="en-US" sz="2400" dirty="0">
              <a:latin typeface="Calibri (Body)"/>
            </a:endParaRPr>
          </a:p>
          <a:p>
            <a:pPr>
              <a:spcBef>
                <a:spcPts val="2000"/>
              </a:spcBef>
              <a:buFontTx/>
              <a:buChar char="-"/>
            </a:pPr>
            <a:r>
              <a:rPr lang="en-US" sz="2400" dirty="0">
                <a:latin typeface="Calibri (Body)"/>
              </a:rPr>
              <a:t> </a:t>
            </a:r>
            <a:r>
              <a:rPr lang="vi-VN" sz="2400" dirty="0">
                <a:latin typeface="Calibri (Body)"/>
              </a:rPr>
              <a:t>Ưu tiên RSASSA-PSS cho chữ ký và tránh PKCS#1 v1.5 khi có thể.</a:t>
            </a:r>
            <a:endParaRPr lang="en-US" sz="2400" dirty="0">
              <a:latin typeface="Calibri (Body)"/>
            </a:endParaRPr>
          </a:p>
          <a:p>
            <a:pPr>
              <a:spcBef>
                <a:spcPts val="2000"/>
              </a:spcBef>
              <a:buFontTx/>
              <a:buChar char="-"/>
            </a:pPr>
            <a:r>
              <a:rPr lang="en-US" sz="2400" dirty="0">
                <a:latin typeface="Calibri (Body)"/>
              </a:rPr>
              <a:t> </a:t>
            </a:r>
            <a:r>
              <a:rPr lang="vi-VN" sz="2400" dirty="0">
                <a:latin typeface="Calibri (Body)"/>
              </a:rPr>
              <a:t>Dùng kích thước khóa lớn (≥3072 bit) hoặc chuyển sang ECC/PQC cho bảo vệ dài hạn.</a:t>
            </a:r>
            <a:endParaRPr lang="en-US" sz="2400" dirty="0">
              <a:latin typeface="Calibri (Body)"/>
            </a:endParaRPr>
          </a:p>
          <a:p>
            <a:pPr>
              <a:spcBef>
                <a:spcPts val="2000"/>
              </a:spcBef>
              <a:buFontTx/>
              <a:buChar char="-"/>
            </a:pPr>
            <a:r>
              <a:rPr lang="en-US" sz="2400" dirty="0">
                <a:latin typeface="Calibri (Body)"/>
              </a:rPr>
              <a:t> </a:t>
            </a:r>
            <a:r>
              <a:rPr lang="vi-VN" sz="2400" dirty="0">
                <a:latin typeface="Calibri (Body)"/>
              </a:rPr>
              <a:t>Vô hiệu hóa RSA key exchange trong TLS, ưu tiên ECDHE cho forward secrecy.</a:t>
            </a:r>
            <a:endParaRPr lang="en-US" sz="2400" dirty="0">
              <a:latin typeface="Calibri (Body)"/>
            </a:endParaRPr>
          </a:p>
          <a:p>
            <a:pPr>
              <a:spcBef>
                <a:spcPts val="2000"/>
              </a:spcBef>
              <a:buFontTx/>
              <a:buChar char="-"/>
            </a:pPr>
            <a:r>
              <a:rPr lang="en-US" sz="2400" dirty="0">
                <a:latin typeface="Calibri (Body)"/>
              </a:rPr>
              <a:t> </a:t>
            </a:r>
            <a:r>
              <a:rPr lang="vi-VN" sz="2400" dirty="0">
                <a:latin typeface="Calibri (Body)"/>
              </a:rPr>
              <a:t>Áp dụng exponent &amp; CRT blinding, constant-time modular exponentiation, và CSPRNG mạnh cho keygen.</a:t>
            </a:r>
            <a:endParaRPr lang="en-US" sz="2400" dirty="0">
              <a:latin typeface="Calibri (Body)"/>
            </a:endParaRPr>
          </a:p>
          <a:p>
            <a:pPr>
              <a:spcBef>
                <a:spcPts val="2000"/>
              </a:spcBef>
              <a:buFontTx/>
              <a:buChar char="-"/>
            </a:pPr>
            <a:r>
              <a:rPr lang="en-US" sz="2400" dirty="0">
                <a:latin typeface="Calibri (Body)"/>
              </a:rPr>
              <a:t> </a:t>
            </a:r>
            <a:r>
              <a:rPr lang="vi-VN" sz="2400" dirty="0">
                <a:latin typeface="Calibri (Body)"/>
              </a:rPr>
              <a:t>Lưu private key </a:t>
            </a:r>
            <a:r>
              <a:rPr lang="en-US" sz="2400" dirty="0" err="1">
                <a:latin typeface="Calibri (Body)"/>
              </a:rPr>
              <a:t>kĩ</a:t>
            </a:r>
            <a:r>
              <a:rPr lang="vi-VN" sz="2400" dirty="0">
                <a:latin typeface="Calibri (Body)"/>
              </a:rPr>
              <a:t>, giới hạn API và dùng uniform error messages.</a:t>
            </a:r>
            <a:endParaRPr lang="en-US" sz="2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70422170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B1C9C9CFBA54554FAB72A368ED558EE9" ma:contentTypeVersion="4" ma:contentTypeDescription="Tạo tài liệu mới." ma:contentTypeScope="" ma:versionID="7afe8246de33ba856f7f9004637ff618">
  <xsd:schema xmlns:xsd="http://www.w3.org/2001/XMLSchema" xmlns:xs="http://www.w3.org/2001/XMLSchema" xmlns:p="http://schemas.microsoft.com/office/2006/metadata/properties" xmlns:ns3="7804a6fb-3003-4c78-85cc-87186ae6e246" targetNamespace="http://schemas.microsoft.com/office/2006/metadata/properties" ma:root="true" ma:fieldsID="1dbbbb438070c4d288d95d0c153f475e" ns3:_="">
    <xsd:import namespace="7804a6fb-3003-4c78-85cc-87186ae6e24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04a6fb-3003-4c78-85cc-87186ae6e24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B0FCB8-DB46-4959-B9E6-F720DF2AB4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04a6fb-3003-4c78-85cc-87186ae6e2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A294DC-FDDB-4C19-A732-9D70B934EF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EA5A663-36CB-4D52-ACF0-0994F2B58167}">
  <ds:schemaRefs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7804a6fb-3003-4c78-85cc-87186ae6e24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4161</TotalTime>
  <Words>1981</Words>
  <Application>Microsoft Office PowerPoint</Application>
  <PresentationFormat>Widescreen</PresentationFormat>
  <Paragraphs>228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-apple-system</vt:lpstr>
      <vt:lpstr>Arial</vt:lpstr>
      <vt:lpstr>Calibri</vt:lpstr>
      <vt:lpstr>Calibri (Body)</vt:lpstr>
      <vt:lpstr>Calibri Light</vt:lpstr>
      <vt:lpstr>Cambria Math</vt:lpstr>
      <vt:lpstr>Courier New</vt:lpstr>
      <vt:lpstr>Symbol</vt:lpstr>
      <vt:lpstr>Retrospect</vt:lpstr>
      <vt:lpstr>Cryptanalysis on Asymmetric Ciphers — RSA &amp; RSA‑Based Signatures</vt:lpstr>
      <vt:lpstr>1. Bối cảnh</vt:lpstr>
      <vt:lpstr>Rủi ro</vt:lpstr>
      <vt:lpstr>Security Goals</vt:lpstr>
      <vt:lpstr>2. Các  câu hỏi nghiên cứu và giả thuyết</vt:lpstr>
      <vt:lpstr>2. Các  câu hỏi nghiên cứu và giả thuyết</vt:lpstr>
      <vt:lpstr>2. Các  câu hỏi nghiên cứu và giả thuyết</vt:lpstr>
      <vt:lpstr>3. Kịch bản triển khai</vt:lpstr>
      <vt:lpstr>Các attack triển khai</vt:lpstr>
      <vt:lpstr>Attack A - Bleichenbacher padding oracle </vt:lpstr>
      <vt:lpstr>PKCS#1 v1.5 Padding</vt:lpstr>
      <vt:lpstr>Padding Oracle là gì?</vt:lpstr>
      <vt:lpstr>Attack A - Bleichenbacher padding oracle </vt:lpstr>
      <vt:lpstr>Attack A - Bleichenbacher padding oracle </vt:lpstr>
      <vt:lpstr>Kết quả - Attack A</vt:lpstr>
      <vt:lpstr>Kết quả - Attack A</vt:lpstr>
      <vt:lpstr>Kết quả - Attack A</vt:lpstr>
      <vt:lpstr>Attack B – Timing Attack on RSA</vt:lpstr>
      <vt:lpstr>Điều kiện</vt:lpstr>
      <vt:lpstr>Decryption/Signing</vt:lpstr>
      <vt:lpstr>Square and Multiply</vt:lpstr>
      <vt:lpstr>Thu thập dữ liệu và thống kê</vt:lpstr>
      <vt:lpstr>Kết quả attack B</vt:lpstr>
      <vt:lpstr>Trả lời câu hỏi RQ2</vt:lpstr>
      <vt:lpstr>Attack C – Wiener’s Attack / low d</vt:lpstr>
      <vt:lpstr>Điều kiện</vt:lpstr>
      <vt:lpstr>Ý tưởng</vt:lpstr>
      <vt:lpstr>Ý tưởng</vt:lpstr>
      <vt:lpstr>Kết quả - Attack C</vt:lpstr>
      <vt:lpstr>Kết quả - Attack C</vt:lpstr>
      <vt:lpstr>Kết quả - Attack C</vt:lpstr>
      <vt:lpstr>Fault attack: mở rộng</vt:lpstr>
      <vt:lpstr>Bellcore Attack</vt:lpstr>
      <vt:lpstr>4. Kiến trúc giải pháp</vt:lpstr>
      <vt:lpstr>Kết luận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Nguyễn Thành Long</dc:creator>
  <cp:lastModifiedBy>Phạm Nguyễn Thành Long</cp:lastModifiedBy>
  <cp:revision>17</cp:revision>
  <dcterms:created xsi:type="dcterms:W3CDTF">2025-12-19T07:28:18Z</dcterms:created>
  <dcterms:modified xsi:type="dcterms:W3CDTF">2025-12-28T17:16:53Z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0x010100B1C9C9CFBA54554FAB72A368ED558EE9</vt:lpwstr>
  </property>
</Properties>
</file>