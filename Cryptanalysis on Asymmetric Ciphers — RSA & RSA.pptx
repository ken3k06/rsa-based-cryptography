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63" r:id="rId14"/>
    <p:sldId id="270" r:id="rId15"/>
    <p:sldId id="272" r:id="rId16"/>
    <p:sldId id="271" r:id="rId17"/>
    <p:sldId id="264" r:id="rId18"/>
    <p:sldId id="259" r:id="rId19"/>
    <p:sldId id="26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9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6230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4855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secret;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61B6EB-A329-0870-5659-F3DECF4D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968570"/>
              </p:ext>
            </p:extLst>
          </p:nvPr>
        </p:nvGraphicFramePr>
        <p:xfrm>
          <a:off x="847592" y="1837396"/>
          <a:ext cx="10056810" cy="4023206"/>
        </p:xfrm>
        <a:graphic>
          <a:graphicData uri="http://schemas.openxmlformats.org/drawingml/2006/table">
            <a:tbl>
              <a:tblPr/>
              <a:tblGrid>
                <a:gridCol w="2011362">
                  <a:extLst>
                    <a:ext uri="{9D8B030D-6E8A-4147-A177-3AD203B41FA5}">
                      <a16:colId xmlns:a16="http://schemas.microsoft.com/office/drawing/2014/main" val="1153841641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4206797455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453286802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1995105878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954228350"/>
                    </a:ext>
                  </a:extLst>
                </a:gridCol>
              </a:tblGrid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Run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Queries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Time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Avg / query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QPS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890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183,346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360.38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0.001966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508.76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757432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194,874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381.57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0.001958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510.72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20687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298,513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576.78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517.55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270124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53,511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107.14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0.002002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499.44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52895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46,068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101.14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0.002195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455.51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26882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366,681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709.11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47630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582,094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1152.26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0.001980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505.18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695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405,583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851.15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0.002099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476.51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44064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779,375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1722.48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452.47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19290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372,417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821.20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0.002205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453.50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671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Số</a:t>
            </a:r>
            <a:r>
              <a:rPr lang="en-US" dirty="0">
                <a:latin typeface="Calibri (Body)"/>
              </a:rPr>
              <a:t> oracle queries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327,846 queries / run</a:t>
            </a: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tấn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678.72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11.31 </a:t>
            </a:r>
            <a:r>
              <a:rPr lang="en-US" dirty="0" err="1">
                <a:latin typeface="Calibri (Body)"/>
              </a:rPr>
              <a:t>phút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 / query≈ 0.002048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2.05 </a:t>
            </a:r>
            <a:r>
              <a:rPr lang="en-US" dirty="0" err="1">
                <a:latin typeface="Calibri (Body)"/>
              </a:rPr>
              <a:t>ms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Throughput (QPS)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489.82 queries / second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Avg time / query:Rất ổn định: ~1.93–2.21 ms</a:t>
            </a:r>
            <a:r>
              <a:rPr lang="en-US" dirty="0">
                <a:latin typeface="Calibri (Body)"/>
              </a:rPr>
              <a:t> -&gt;</a:t>
            </a:r>
            <a:r>
              <a:rPr lang="vi-VN" dirty="0">
                <a:latin typeface="Calibri (Body)"/>
              </a:rPr>
              <a:t> chứng minh uniform timing path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QPS: ~450–520 QPS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Queries: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Min: 46k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Max: 779k</a:t>
            </a:r>
            <a:r>
              <a:rPr lang="en-US" dirty="0">
                <a:latin typeface="Calibri (Body)"/>
              </a:rPr>
              <a:t> -&gt; </a:t>
            </a:r>
            <a:r>
              <a:rPr lang="vi-VN" dirty="0">
                <a:latin typeface="Calibri (Body)"/>
              </a:rPr>
              <a:t>dao động lớn (</a:t>
            </a:r>
            <a:r>
              <a:rPr lang="en-US" dirty="0" err="1">
                <a:latin typeface="Calibri (Body)"/>
              </a:rPr>
              <a:t>phụ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thuộc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vào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việc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đoán</a:t>
            </a:r>
            <a:r>
              <a:rPr lang="en-US" dirty="0">
                <a:latin typeface="Calibri (Body)"/>
              </a:rPr>
              <a:t> s0 </a:t>
            </a:r>
            <a:r>
              <a:rPr lang="en-US" dirty="0" err="1">
                <a:latin typeface="Calibri (Body)"/>
              </a:rPr>
              <a:t>và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độ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hẹp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khoảng</a:t>
            </a:r>
            <a:r>
              <a:rPr lang="en-US" dirty="0">
                <a:latin typeface="Calibri (Body)"/>
              </a:rPr>
              <a:t> M</a:t>
            </a:r>
            <a:r>
              <a:rPr lang="vi-VN" dirty="0">
                <a:latin typeface="Calibri (Body)"/>
              </a:rPr>
              <a:t>)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609478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r>
              <a:rPr lang="en-US" sz="2400" dirty="0">
                <a:latin typeface="Calibri (Body)"/>
              </a:rPr>
              <a:t>Sau </a:t>
            </a:r>
            <a:r>
              <a:rPr lang="en-US" sz="2400" dirty="0" err="1">
                <a:latin typeface="Calibri (Body)"/>
              </a:rPr>
              <a:t>khi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, ta </a:t>
            </a:r>
            <a:r>
              <a:rPr lang="en-US" sz="2400" dirty="0" err="1">
                <a:latin typeface="Calibri (Body)"/>
              </a:rPr>
              <a:t>gửi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gói</a:t>
            </a:r>
            <a:r>
              <a:rPr lang="en-US" sz="2400" dirty="0">
                <a:latin typeface="Calibri (Body)"/>
              </a:rPr>
              <a:t> tin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kiểm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thử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response </a:t>
            </a:r>
            <a:r>
              <a:rPr lang="en-US" sz="2400" dirty="0" err="1">
                <a:latin typeface="Calibri (Body)"/>
              </a:rPr>
              <a:t>từ</a:t>
            </a:r>
            <a:r>
              <a:rPr lang="en-US" sz="2400" dirty="0">
                <a:latin typeface="Calibri (Body)"/>
              </a:rPr>
              <a:t> server </a:t>
            </a:r>
            <a:r>
              <a:rPr lang="en-US" sz="2400" dirty="0" err="1">
                <a:latin typeface="Calibri (Body)"/>
              </a:rPr>
              <a:t>đều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là</a:t>
            </a:r>
            <a:r>
              <a:rPr lang="en-US" sz="2400" dirty="0">
                <a:latin typeface="Calibri (Body)"/>
              </a:rPr>
              <a:t> OK </a:t>
            </a:r>
            <a:r>
              <a:rPr lang="en-US" sz="2400" dirty="0" err="1">
                <a:latin typeface="Calibri (Body)"/>
              </a:rPr>
              <a:t>và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có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gian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trả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gần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nhau</a:t>
            </a:r>
            <a:endParaRPr lang="en-US" sz="2400" dirty="0">
              <a:latin typeface="Calibri (Body)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4CBC2-8ECE-729F-847D-534F99875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889" y="2046628"/>
            <a:ext cx="591585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255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552816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Biện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3867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Ưu tiên RSASSA-PSS cho chữ ký và tránh PKCS#1 v1.5 khi có thể.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Dùng kích thước khóa lớn (≥3072 bit) hoặc chuyển sang ECC/PQC cho bảo vệ dài hạn.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Vô hiệu hóa RSA key exchange trong TLS, ưu tiên ECDHE cho forward secrecy.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Áp dụng exponent &amp; CRT blinding, constant-time modular exponentiation, và CSPRNG mạnh cho keygen.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Lưu private key </a:t>
            </a:r>
            <a:r>
              <a:rPr lang="en-US" dirty="0" err="1"/>
              <a:t>kĩ</a:t>
            </a:r>
            <a:r>
              <a:rPr lang="vi-VN" dirty="0"/>
              <a:t>, giới hạn API và dùng uniform error messages.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661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5A89-CD67-D4A0-B52B-738FC7656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00062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EC9D7-4EE0-2023-7142-B54AFCC3B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0515600" cy="4351338"/>
          </a:xfrm>
        </p:spPr>
        <p:txBody>
          <a:bodyPr/>
          <a:lstStyle/>
          <a:p>
            <a:r>
              <a:rPr lang="en-US" dirty="0"/>
              <a:t>- RSA </a:t>
            </a:r>
            <a:r>
              <a:rPr lang="en-US" dirty="0" err="1"/>
              <a:t>vẫn</a:t>
            </a:r>
            <a:r>
              <a:rPr lang="en-US" dirty="0"/>
              <a:t> an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, </a:t>
            </a:r>
            <a:r>
              <a:rPr lang="en-US" dirty="0" err="1"/>
              <a:t>đầy</a:t>
            </a:r>
            <a:r>
              <a:rPr lang="en-US" dirty="0"/>
              <a:t> </a:t>
            </a:r>
            <a:r>
              <a:rPr lang="en-US" dirty="0" err="1"/>
              <a:t>đủ</a:t>
            </a:r>
            <a:endParaRPr lang="en-US" dirty="0"/>
          </a:p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78741355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3190</TotalTime>
  <Words>966</Words>
  <Application>Microsoft Office PowerPoint</Application>
  <PresentationFormat>Widescreen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-apple-system</vt:lpstr>
      <vt:lpstr>Arial</vt:lpstr>
      <vt:lpstr>Calibri</vt:lpstr>
      <vt:lpstr>Calibri (Body)</vt:lpstr>
      <vt:lpstr>Calibri Light</vt:lpstr>
      <vt:lpstr>Courier New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Kết quả - Attack A</vt:lpstr>
      <vt:lpstr>Kết quả - Attack A</vt:lpstr>
      <vt:lpstr>Kết quả - Attack A</vt:lpstr>
      <vt:lpstr>Kết quả - Attack C</vt:lpstr>
      <vt:lpstr>Biện pháp khắc phục 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9</cp:revision>
  <dcterms:created xsi:type="dcterms:W3CDTF">2025-12-19T07:28:18Z</dcterms:created>
  <dcterms:modified xsi:type="dcterms:W3CDTF">2025-12-26T09:36:15Z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