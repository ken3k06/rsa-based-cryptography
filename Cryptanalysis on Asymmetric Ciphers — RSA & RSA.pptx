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8" r:id="rId4"/>
  </p:sldMasterIdLst>
  <p:sldIdLst>
    <p:sldId id="256" r:id="rId5"/>
    <p:sldId id="257" r:id="rId6"/>
    <p:sldId id="258" r:id="rId7"/>
    <p:sldId id="260" r:id="rId8"/>
    <p:sldId id="266" r:id="rId9"/>
    <p:sldId id="269" r:id="rId10"/>
    <p:sldId id="268" r:id="rId11"/>
    <p:sldId id="261" r:id="rId12"/>
    <p:sldId id="262" r:id="rId13"/>
    <p:sldId id="274" r:id="rId14"/>
    <p:sldId id="275" r:id="rId15"/>
    <p:sldId id="278" r:id="rId16"/>
    <p:sldId id="276" r:id="rId17"/>
    <p:sldId id="277" r:id="rId18"/>
    <p:sldId id="263" r:id="rId19"/>
    <p:sldId id="270" r:id="rId20"/>
    <p:sldId id="272" r:id="rId21"/>
    <p:sldId id="279" r:id="rId22"/>
    <p:sldId id="287" r:id="rId23"/>
    <p:sldId id="289" r:id="rId24"/>
    <p:sldId id="292" r:id="rId25"/>
    <p:sldId id="293" r:id="rId26"/>
    <p:sldId id="290" r:id="rId27"/>
    <p:sldId id="273" r:id="rId28"/>
    <p:sldId id="288" r:id="rId29"/>
    <p:sldId id="280" r:id="rId30"/>
    <p:sldId id="281" r:id="rId31"/>
    <p:sldId id="294" r:id="rId32"/>
    <p:sldId id="271" r:id="rId33"/>
    <p:sldId id="283" r:id="rId34"/>
    <p:sldId id="284" r:id="rId35"/>
    <p:sldId id="295" r:id="rId36"/>
    <p:sldId id="296" r:id="rId37"/>
    <p:sldId id="259" r:id="rId38"/>
    <p:sldId id="264" r:id="rId3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159" d="100"/>
          <a:sy n="159" d="100"/>
        </p:scale>
        <p:origin x="390" y="13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slide" Target="slides/slide35.xml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42" Type="http://schemas.openxmlformats.org/officeDocument/2006/relationships/theme" Target="theme/theme1.xml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slide" Target="slides/slide25.xml"/><Relationship Id="rId41" Type="http://schemas.openxmlformats.org/officeDocument/2006/relationships/viewProps" Target="view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40" Type="http://schemas.openxmlformats.org/officeDocument/2006/relationships/presProps" Target="presProp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slide" Target="slides/slide27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tableStyles" Target="tableStyles.xml"/><Relationship Id="rId8" Type="http://schemas.openxmlformats.org/officeDocument/2006/relationships/slide" Target="slides/slide4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455620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525300-05E8-4D28-85DB-000DB90F5912}" type="datetimeFigureOut">
              <a:rPr lang="en-US" smtClean="0"/>
              <a:t>12/29/2025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A904E4-DD49-4406-9C6D-DC1F0A4BC90A}" type="slidenum">
              <a:rPr lang="en-US" smtClean="0"/>
              <a:t>‹#›</a:t>
            </a:fld>
            <a:endParaRPr lang="en-US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0605975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marL="0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525300-05E8-4D28-85DB-000DB90F5912}" type="datetimeFigureOut">
              <a:rPr lang="en-US" smtClean="0"/>
              <a:t>12/29/2025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A904E4-DD49-4406-9C6D-DC1F0A4BC90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89677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525300-05E8-4D28-85DB-000DB90F5912}" type="datetimeFigureOut">
              <a:rPr lang="en-US" smtClean="0"/>
              <a:t>12/29/2025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A904E4-DD49-4406-9C6D-DC1F0A4BC90A}" type="slidenum">
              <a:rPr lang="en-US" smtClean="0"/>
              <a:t>‹#›</a:t>
            </a:fld>
            <a:endParaRPr lang="en-US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1320960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79" y="1845734"/>
            <a:ext cx="493776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525300-05E8-4D28-85DB-000DB90F5912}" type="datetimeFigureOut">
              <a:rPr lang="en-US" smtClean="0"/>
              <a:t>12/29/2025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A904E4-DD49-4406-9C6D-DC1F0A4BC90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524285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582334"/>
            <a:ext cx="4937760" cy="3378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1792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920" y="2582334"/>
            <a:ext cx="4937760" cy="3378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525300-05E8-4D28-85DB-000DB90F5912}" type="datetimeFigureOut">
              <a:rPr lang="en-US" smtClean="0"/>
              <a:t>12/29/2025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A904E4-DD49-4406-9C6D-DC1F0A4BC90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41665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525300-05E8-4D28-85DB-000DB90F5912}" type="datetimeFigureOut">
              <a:rPr lang="en-US" smtClean="0"/>
              <a:t>12/29/2025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A904E4-DD49-4406-9C6D-DC1F0A4BC90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12384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" name="Rectangle 5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525300-05E8-4D28-85DB-000DB90F5912}" type="datetimeFigureOut">
              <a:rPr lang="en-US" smtClean="0"/>
              <a:t>12/29/2025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A904E4-DD49-4406-9C6D-DC1F0A4BC90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675123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0" y="731520"/>
            <a:ext cx="6492240" cy="52578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926080"/>
            <a:ext cx="32004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65512" y="6459785"/>
            <a:ext cx="2618510" cy="365125"/>
          </a:xfrm>
        </p:spPr>
        <p:txBody>
          <a:bodyPr/>
          <a:lstStyle>
            <a:lvl1pPr algn="l">
              <a:defRPr/>
            </a:lvl1pPr>
          </a:lstStyle>
          <a:p>
            <a:fld id="{E1525300-05E8-4D28-85DB-000DB90F5912}" type="datetimeFigureOut">
              <a:rPr lang="en-US" smtClean="0"/>
              <a:t>12/29/2025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800600" y="6459785"/>
            <a:ext cx="464820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70A904E4-DD49-4406-9C6D-DC1F0A4BC90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796639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74920"/>
            <a:ext cx="10113264" cy="822960"/>
          </a:xfrm>
        </p:spPr>
        <p:txBody>
          <a:bodyPr lIns="91440" tIns="0" rIns="9144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915076"/>
          </a:xfrm>
          <a:blipFill>
            <a:blip r:embed="rId2"/>
            <a:stretch>
              <a:fillRect/>
            </a:stretch>
          </a:blipFill>
        </p:spPr>
        <p:txBody>
          <a:bodyPr lIns="457200" tIns="457200" anchor="t"/>
          <a:lstStyle>
            <a:lvl1pPr marL="0" indent="0">
              <a:buNone/>
              <a:defRPr sz="3200">
                <a:solidFill>
                  <a:schemeClr val="bg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80" y="5907023"/>
            <a:ext cx="10113264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525300-05E8-4D28-85DB-000DB90F5912}" type="datetimeFigureOut">
              <a:rPr lang="en-US" smtClean="0"/>
              <a:t>12/29/2025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A904E4-DD49-4406-9C6D-DC1F0A4BC90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941650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525300-05E8-4D28-85DB-000DB90F5912}" type="datetimeFigureOut">
              <a:rPr lang="en-US" smtClean="0"/>
              <a:t>12/29/2025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A904E4-DD49-4406-9C6D-DC1F0A4BC90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973271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4778"/>
            <a:ext cx="2628900" cy="5757421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4778"/>
            <a:ext cx="7734300" cy="5757422"/>
          </a:xfrm>
        </p:spPr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525300-05E8-4D28-85DB-000DB90F5912}" type="datetimeFigureOut">
              <a:rPr lang="en-US" smtClean="0"/>
              <a:t>12/29/2025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A904E4-DD49-4406-9C6D-DC1F0A4BC90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066097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0" y="6334316"/>
            <a:ext cx="12192001" cy="659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fld id="{E1525300-05E8-4D28-85DB-000DB90F5912}" type="datetimeFigureOut">
              <a:rPr lang="en-US" smtClean="0"/>
              <a:t>12/29/2025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fld id="{70A904E4-DD49-4406-9C6D-DC1F0A4BC90A}" type="slidenum">
              <a:rPr lang="en-US" smtClean="0"/>
              <a:t>‹#›</a:t>
            </a:fld>
            <a:endParaRPr lang="en-US"/>
          </a:p>
        </p:txBody>
      </p:sp>
      <p:cxnSp>
        <p:nvCxnSpPr>
          <p:cNvPr id="10" name="Straight Connector 9"/>
          <p:cNvCxnSpPr/>
          <p:nvPr/>
        </p:nvCxnSpPr>
        <p:spPr>
          <a:xfrm>
            <a:off x="1193532" y="1737845"/>
            <a:ext cx="996696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396534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9" r:id="rId1"/>
    <p:sldLayoutId id="2147483680" r:id="rId2"/>
    <p:sldLayoutId id="2147483681" r:id="rId3"/>
    <p:sldLayoutId id="2147483682" r:id="rId4"/>
    <p:sldLayoutId id="2147483683" r:id="rId5"/>
    <p:sldLayoutId id="2147483684" r:id="rId6"/>
    <p:sldLayoutId id="2147483685" r:id="rId7"/>
    <p:sldLayoutId id="2147483686" r:id="rId8"/>
    <p:sldLayoutId id="2147483687" r:id="rId9"/>
    <p:sldLayoutId id="2147483688" r:id="rId10"/>
    <p:sldLayoutId id="2147483689" r:id="rId11"/>
  </p:sldLayoutIdLst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0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AutoShape 4">
            <a:extLst>
              <a:ext uri="{FF2B5EF4-FFF2-40B4-BE49-F238E27FC236}">
                <a16:creationId xmlns:a16="http://schemas.microsoft.com/office/drawing/2014/main" id="{E7E577F2-1107-AEB4-5611-905F7AB78C5F}"/>
              </a:ext>
            </a:extLst>
          </p:cNvPr>
          <p:cNvSpPr>
            <a:spLocks noGrp="1" noChangeAspect="1" noChangeArrowheads="1"/>
          </p:cNvSpPr>
          <p:nvPr>
            <p:ph type="ctrTitle"/>
          </p:nvPr>
        </p:nvSpPr>
        <p:spPr bwMode="auto">
          <a:xfrm>
            <a:off x="1342845" y="484038"/>
            <a:ext cx="9144000" cy="2387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 fontScale="90000"/>
          </a:bodyPr>
          <a:lstStyle/>
          <a:p>
            <a:r>
              <a:rPr lang="en-US" i="0" dirty="0">
                <a:solidFill>
                  <a:srgbClr val="1F2328"/>
                </a:solidFill>
                <a:effectLst/>
                <a:latin typeface="-apple-system"/>
              </a:rPr>
              <a:t>Cryptanalysis on Asymmetric Ciphers — RSA &amp; RSA‑Based Signatures</a:t>
            </a:r>
          </a:p>
        </p:txBody>
      </p:sp>
    </p:spTree>
    <p:extLst>
      <p:ext uri="{BB962C8B-B14F-4D97-AF65-F5344CB8AC3E}">
        <p14:creationId xmlns:p14="http://schemas.microsoft.com/office/powerpoint/2010/main" val="225465069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63F865-B938-0204-A786-4DFC29D08F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353413"/>
            <a:ext cx="10515600" cy="1325563"/>
          </a:xfrm>
        </p:spPr>
        <p:txBody>
          <a:bodyPr/>
          <a:lstStyle/>
          <a:p>
            <a:r>
              <a:rPr lang="en-US" dirty="0"/>
              <a:t>1. </a:t>
            </a:r>
            <a:r>
              <a:rPr lang="en-US" dirty="0" err="1"/>
              <a:t>Bối</a:t>
            </a:r>
            <a:r>
              <a:rPr lang="en-US" dirty="0"/>
              <a:t> </a:t>
            </a:r>
            <a:r>
              <a:rPr lang="en-US" dirty="0" err="1"/>
              <a:t>cảnh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3D87684-54E6-6F24-93FC-5F8A1EE2801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7702" y="1747987"/>
            <a:ext cx="10515600" cy="4351338"/>
          </a:xfrm>
        </p:spPr>
        <p:txBody>
          <a:bodyPr/>
          <a:lstStyle/>
          <a:p>
            <a:r>
              <a:rPr lang="en-US" dirty="0"/>
              <a:t>RSA </a:t>
            </a:r>
            <a:r>
              <a:rPr lang="en-US" dirty="0" err="1"/>
              <a:t>là</a:t>
            </a:r>
            <a:r>
              <a:rPr lang="en-US" dirty="0"/>
              <a:t> </a:t>
            </a:r>
            <a:r>
              <a:rPr lang="en-US" dirty="0" err="1"/>
              <a:t>thuật</a:t>
            </a:r>
            <a:r>
              <a:rPr lang="en-US" dirty="0"/>
              <a:t> </a:t>
            </a:r>
            <a:r>
              <a:rPr lang="en-US" dirty="0" err="1"/>
              <a:t>toán</a:t>
            </a:r>
            <a:r>
              <a:rPr lang="en-US" dirty="0"/>
              <a:t> </a:t>
            </a:r>
            <a:r>
              <a:rPr lang="en-US" dirty="0" err="1"/>
              <a:t>mã</a:t>
            </a:r>
            <a:r>
              <a:rPr lang="en-US" dirty="0"/>
              <a:t> </a:t>
            </a:r>
            <a:r>
              <a:rPr lang="en-US" dirty="0" err="1"/>
              <a:t>hóa</a:t>
            </a:r>
            <a:r>
              <a:rPr lang="en-US" dirty="0"/>
              <a:t> </a:t>
            </a:r>
            <a:r>
              <a:rPr lang="en-US" dirty="0" err="1"/>
              <a:t>được</a:t>
            </a:r>
            <a:r>
              <a:rPr lang="en-US" dirty="0"/>
              <a:t> </a:t>
            </a:r>
            <a:r>
              <a:rPr lang="en-US" dirty="0" err="1"/>
              <a:t>sử</a:t>
            </a:r>
            <a:r>
              <a:rPr lang="en-US" dirty="0"/>
              <a:t> </a:t>
            </a:r>
            <a:r>
              <a:rPr lang="en-US" dirty="0" err="1"/>
              <a:t>dụng</a:t>
            </a:r>
            <a:r>
              <a:rPr lang="en-US" dirty="0"/>
              <a:t> </a:t>
            </a:r>
            <a:r>
              <a:rPr lang="en-US" dirty="0" err="1"/>
              <a:t>rộng</a:t>
            </a:r>
            <a:r>
              <a:rPr lang="en-US" dirty="0"/>
              <a:t> </a:t>
            </a:r>
            <a:r>
              <a:rPr lang="en-US" dirty="0" err="1"/>
              <a:t>rãi</a:t>
            </a:r>
            <a:r>
              <a:rPr lang="en-US" dirty="0"/>
              <a:t> ở </a:t>
            </a:r>
            <a:r>
              <a:rPr lang="en-US" dirty="0" err="1"/>
              <a:t>nhiều</a:t>
            </a:r>
            <a:r>
              <a:rPr lang="en-US" dirty="0"/>
              <a:t> </a:t>
            </a:r>
            <a:r>
              <a:rPr lang="en-US" dirty="0" err="1"/>
              <a:t>công</a:t>
            </a:r>
            <a:r>
              <a:rPr lang="en-US" dirty="0"/>
              <a:t> </a:t>
            </a:r>
            <a:r>
              <a:rPr lang="en-US" dirty="0" err="1"/>
              <a:t>nghệ</a:t>
            </a:r>
            <a:r>
              <a:rPr lang="en-US" dirty="0"/>
              <a:t>:</a:t>
            </a:r>
          </a:p>
          <a:p>
            <a:pPr>
              <a:buFontTx/>
              <a:buChar char="-"/>
            </a:pPr>
            <a:r>
              <a:rPr lang="en-US" dirty="0"/>
              <a:t>Giao </a:t>
            </a:r>
            <a:r>
              <a:rPr lang="en-US" dirty="0" err="1"/>
              <a:t>thức</a:t>
            </a:r>
            <a:r>
              <a:rPr lang="en-US" dirty="0"/>
              <a:t> </a:t>
            </a:r>
            <a:r>
              <a:rPr lang="en-US" dirty="0" err="1"/>
              <a:t>mạng</a:t>
            </a:r>
            <a:r>
              <a:rPr lang="en-US" dirty="0"/>
              <a:t> </a:t>
            </a:r>
            <a:r>
              <a:rPr lang="en-US" dirty="0" err="1"/>
              <a:t>như</a:t>
            </a:r>
            <a:r>
              <a:rPr lang="en-US" dirty="0"/>
              <a:t> SSL/TLS, SSH, …</a:t>
            </a:r>
          </a:p>
          <a:p>
            <a:pPr>
              <a:buFontTx/>
              <a:buChar char="-"/>
            </a:pPr>
            <a:r>
              <a:rPr lang="en-US" dirty="0" err="1"/>
              <a:t>Dịch</a:t>
            </a:r>
            <a:r>
              <a:rPr lang="en-US" dirty="0"/>
              <a:t> </a:t>
            </a:r>
            <a:r>
              <a:rPr lang="en-US" dirty="0" err="1"/>
              <a:t>vụ</a:t>
            </a:r>
            <a:r>
              <a:rPr lang="en-US" dirty="0"/>
              <a:t> VPN</a:t>
            </a:r>
          </a:p>
          <a:p>
            <a:pPr>
              <a:buFontTx/>
              <a:buChar char="-"/>
            </a:pPr>
            <a:r>
              <a:rPr lang="en-US" dirty="0"/>
              <a:t>Smart Cards, </a:t>
            </a:r>
            <a:r>
              <a:rPr lang="en-US" dirty="0" err="1"/>
              <a:t>các</a:t>
            </a:r>
            <a:r>
              <a:rPr lang="en-US" dirty="0"/>
              <a:t> </a:t>
            </a:r>
            <a:r>
              <a:rPr lang="en-US" dirty="0" err="1"/>
              <a:t>thiết</a:t>
            </a:r>
            <a:r>
              <a:rPr lang="en-US" dirty="0"/>
              <a:t> </a:t>
            </a:r>
            <a:r>
              <a:rPr lang="en-US" dirty="0" err="1"/>
              <a:t>bị</a:t>
            </a:r>
            <a:r>
              <a:rPr lang="en-US" dirty="0"/>
              <a:t> IoT</a:t>
            </a:r>
          </a:p>
          <a:p>
            <a:r>
              <a:rPr lang="en-US" dirty="0" err="1"/>
              <a:t>Vấn</a:t>
            </a:r>
            <a:r>
              <a:rPr lang="en-US" dirty="0"/>
              <a:t> </a:t>
            </a:r>
            <a:r>
              <a:rPr lang="en-US" dirty="0" err="1"/>
              <a:t>đề</a:t>
            </a:r>
            <a:r>
              <a:rPr lang="en-US" dirty="0"/>
              <a:t>: </a:t>
            </a:r>
            <a:r>
              <a:rPr lang="en-US" dirty="0" err="1"/>
              <a:t>tuy</a:t>
            </a:r>
            <a:r>
              <a:rPr lang="en-US" dirty="0"/>
              <a:t> </a:t>
            </a:r>
            <a:r>
              <a:rPr lang="en-US" dirty="0" err="1"/>
              <a:t>phổ</a:t>
            </a:r>
            <a:r>
              <a:rPr lang="en-US" dirty="0"/>
              <a:t> </a:t>
            </a:r>
            <a:r>
              <a:rPr lang="en-US" dirty="0" err="1"/>
              <a:t>biến</a:t>
            </a:r>
            <a:r>
              <a:rPr lang="en-US" dirty="0"/>
              <a:t>, RSA </a:t>
            </a:r>
            <a:r>
              <a:rPr lang="en-US" dirty="0" err="1"/>
              <a:t>vẫn</a:t>
            </a:r>
            <a:r>
              <a:rPr lang="en-US" dirty="0"/>
              <a:t> </a:t>
            </a:r>
            <a:r>
              <a:rPr lang="en-US" dirty="0" err="1"/>
              <a:t>tiềm</a:t>
            </a:r>
            <a:r>
              <a:rPr lang="en-US" dirty="0"/>
              <a:t> </a:t>
            </a:r>
            <a:r>
              <a:rPr lang="en-US" dirty="0" err="1"/>
              <a:t>ẩn</a:t>
            </a:r>
            <a:r>
              <a:rPr lang="en-US" dirty="0"/>
              <a:t> </a:t>
            </a:r>
            <a:r>
              <a:rPr lang="en-US" dirty="0" err="1"/>
              <a:t>rủi</a:t>
            </a:r>
            <a:r>
              <a:rPr lang="en-US" dirty="0"/>
              <a:t> </a:t>
            </a:r>
            <a:r>
              <a:rPr lang="en-US" dirty="0" err="1"/>
              <a:t>ro</a:t>
            </a:r>
            <a:r>
              <a:rPr lang="en-US" dirty="0"/>
              <a:t> </a:t>
            </a:r>
            <a:r>
              <a:rPr lang="en-US" dirty="0" err="1"/>
              <a:t>cao</a:t>
            </a:r>
            <a:r>
              <a:rPr lang="en-US" dirty="0"/>
              <a:t> </a:t>
            </a:r>
            <a:r>
              <a:rPr lang="en-US" dirty="0" err="1"/>
              <a:t>nếu</a:t>
            </a:r>
            <a:r>
              <a:rPr lang="en-US" dirty="0"/>
              <a:t> </a:t>
            </a:r>
            <a:r>
              <a:rPr lang="en-US" dirty="0" err="1"/>
              <a:t>triển</a:t>
            </a:r>
            <a:r>
              <a:rPr lang="en-US" dirty="0"/>
              <a:t> </a:t>
            </a:r>
            <a:r>
              <a:rPr lang="en-US" dirty="0" err="1"/>
              <a:t>khai</a:t>
            </a:r>
            <a:r>
              <a:rPr lang="en-US" dirty="0"/>
              <a:t> </a:t>
            </a:r>
            <a:r>
              <a:rPr lang="en-US" dirty="0" err="1"/>
              <a:t>sai</a:t>
            </a:r>
            <a:r>
              <a:rPr lang="en-US" dirty="0"/>
              <a:t> </a:t>
            </a:r>
            <a:r>
              <a:rPr lang="en-US" dirty="0" err="1"/>
              <a:t>hoặc</a:t>
            </a:r>
            <a:r>
              <a:rPr lang="en-US" dirty="0"/>
              <a:t> </a:t>
            </a:r>
            <a:r>
              <a:rPr lang="en-US" dirty="0" err="1"/>
              <a:t>tham</a:t>
            </a:r>
            <a:r>
              <a:rPr lang="en-US" dirty="0"/>
              <a:t> </a:t>
            </a:r>
            <a:r>
              <a:rPr lang="en-US" dirty="0" err="1"/>
              <a:t>số</a:t>
            </a:r>
            <a:r>
              <a:rPr lang="en-US" dirty="0"/>
              <a:t> </a:t>
            </a:r>
            <a:r>
              <a:rPr lang="en-US" dirty="0" err="1"/>
              <a:t>đầu</a:t>
            </a:r>
            <a:r>
              <a:rPr lang="en-US" dirty="0"/>
              <a:t> </a:t>
            </a:r>
            <a:r>
              <a:rPr lang="en-US" dirty="0" err="1"/>
              <a:t>vào</a:t>
            </a:r>
            <a:r>
              <a:rPr lang="en-US" dirty="0"/>
              <a:t> </a:t>
            </a:r>
            <a:r>
              <a:rPr lang="en-US" dirty="0" err="1"/>
              <a:t>không</a:t>
            </a:r>
            <a:r>
              <a:rPr lang="en-US" dirty="0"/>
              <a:t> </a:t>
            </a:r>
            <a:r>
              <a:rPr lang="en-US" dirty="0" err="1"/>
              <a:t>đạt</a:t>
            </a:r>
            <a:r>
              <a:rPr lang="en-US" dirty="0"/>
              <a:t> </a:t>
            </a:r>
            <a:r>
              <a:rPr lang="en-US" dirty="0" err="1"/>
              <a:t>chuẩn</a:t>
            </a:r>
            <a:r>
              <a:rPr lang="en-US" dirty="0"/>
              <a:t>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6549921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2EADD6-AB03-4EC7-EEDD-C6639EB92D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9460" y="322537"/>
            <a:ext cx="10515600" cy="1325563"/>
          </a:xfrm>
        </p:spPr>
        <p:txBody>
          <a:bodyPr/>
          <a:lstStyle/>
          <a:p>
            <a:r>
              <a:rPr lang="en-US" dirty="0" err="1"/>
              <a:t>Rủi</a:t>
            </a:r>
            <a:r>
              <a:rPr lang="en-US" dirty="0"/>
              <a:t> </a:t>
            </a:r>
            <a:r>
              <a:rPr lang="en-US" dirty="0" err="1"/>
              <a:t>ro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E1E0B4F-C6AC-0CDE-7AA7-6BE4A778502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" y="1716657"/>
            <a:ext cx="7573992" cy="4818806"/>
          </a:xfrm>
        </p:spPr>
        <p:txBody>
          <a:bodyPr>
            <a:normAutofit/>
          </a:bodyPr>
          <a:lstStyle/>
          <a:p>
            <a:r>
              <a:rPr lang="en-US" sz="2400" dirty="0" err="1"/>
              <a:t>Nếu</a:t>
            </a:r>
            <a:r>
              <a:rPr lang="en-US" sz="2400" dirty="0"/>
              <a:t> </a:t>
            </a:r>
            <a:r>
              <a:rPr lang="en-US" sz="2400" dirty="0" err="1"/>
              <a:t>có</a:t>
            </a:r>
            <a:r>
              <a:rPr lang="en-US" sz="2400" dirty="0"/>
              <a:t> </a:t>
            </a:r>
            <a:r>
              <a:rPr lang="en-US" sz="2400" dirty="0" err="1"/>
              <a:t>thể</a:t>
            </a:r>
            <a:r>
              <a:rPr lang="en-US" sz="2400" dirty="0"/>
              <a:t> </a:t>
            </a:r>
            <a:r>
              <a:rPr lang="en-US" sz="2400" dirty="0" err="1"/>
              <a:t>phân</a:t>
            </a:r>
            <a:r>
              <a:rPr lang="en-US" sz="2400" dirty="0"/>
              <a:t> </a:t>
            </a:r>
            <a:r>
              <a:rPr lang="en-US" sz="2400" dirty="0" err="1"/>
              <a:t>tích</a:t>
            </a:r>
            <a:r>
              <a:rPr lang="en-US" sz="2400" dirty="0"/>
              <a:t> </a:t>
            </a:r>
            <a:r>
              <a:rPr lang="en-US" sz="2400" dirty="0" err="1"/>
              <a:t>thừa</a:t>
            </a:r>
            <a:r>
              <a:rPr lang="en-US" sz="2400" dirty="0"/>
              <a:t> </a:t>
            </a:r>
            <a:r>
              <a:rPr lang="en-US" sz="2400" dirty="0" err="1"/>
              <a:t>số</a:t>
            </a:r>
            <a:r>
              <a:rPr lang="en-US" sz="2400" dirty="0"/>
              <a:t> N </a:t>
            </a:r>
            <a:r>
              <a:rPr lang="en-US" sz="2400" dirty="0" err="1"/>
              <a:t>và</a:t>
            </a:r>
            <a:r>
              <a:rPr lang="en-US" sz="2400" dirty="0"/>
              <a:t> </a:t>
            </a:r>
            <a:r>
              <a:rPr lang="en-US" sz="2400" dirty="0" err="1"/>
              <a:t>tìm</a:t>
            </a:r>
            <a:r>
              <a:rPr lang="en-US" sz="2400" dirty="0"/>
              <a:t> </a:t>
            </a:r>
            <a:r>
              <a:rPr lang="en-US" sz="2400" dirty="0" err="1"/>
              <a:t>được</a:t>
            </a:r>
            <a:r>
              <a:rPr lang="en-US" sz="2400" dirty="0"/>
              <a:t> </a:t>
            </a:r>
            <a:r>
              <a:rPr lang="en-US" sz="2400" dirty="0" err="1"/>
              <a:t>p,q</a:t>
            </a:r>
            <a:r>
              <a:rPr lang="en-US" sz="2400" dirty="0"/>
              <a:t>, </a:t>
            </a:r>
            <a:r>
              <a:rPr lang="en-US" sz="2400" dirty="0" err="1"/>
              <a:t>hệ</a:t>
            </a:r>
            <a:r>
              <a:rPr lang="en-US" sz="2400" dirty="0"/>
              <a:t> </a:t>
            </a:r>
            <a:r>
              <a:rPr lang="en-US" sz="2400" dirty="0" err="1"/>
              <a:t>thống</a:t>
            </a:r>
            <a:r>
              <a:rPr lang="en-US" sz="2400" dirty="0"/>
              <a:t> </a:t>
            </a:r>
            <a:r>
              <a:rPr lang="en-US" sz="2400" dirty="0" err="1"/>
              <a:t>sẽ</a:t>
            </a:r>
            <a:r>
              <a:rPr lang="en-US" sz="2400" dirty="0"/>
              <a:t> </a:t>
            </a:r>
            <a:r>
              <a:rPr lang="en-US" sz="2400" dirty="0" err="1"/>
              <a:t>gặp</a:t>
            </a:r>
            <a:r>
              <a:rPr lang="en-US" sz="2400" dirty="0"/>
              <a:t> </a:t>
            </a:r>
            <a:r>
              <a:rPr lang="en-US" sz="2400" dirty="0" err="1"/>
              <a:t>những</a:t>
            </a:r>
            <a:r>
              <a:rPr lang="en-US" sz="2400" dirty="0"/>
              <a:t> </a:t>
            </a:r>
            <a:r>
              <a:rPr lang="en-US" sz="2400" dirty="0" err="1"/>
              <a:t>rủi</a:t>
            </a:r>
            <a:r>
              <a:rPr lang="en-US" sz="2400" dirty="0"/>
              <a:t> </a:t>
            </a:r>
            <a:r>
              <a:rPr lang="en-US" sz="2400" dirty="0" err="1"/>
              <a:t>ro</a:t>
            </a:r>
            <a:r>
              <a:rPr lang="en-US" sz="2400" dirty="0"/>
              <a:t> </a:t>
            </a:r>
            <a:r>
              <a:rPr lang="en-US" sz="2400" dirty="0" err="1"/>
              <a:t>sau</a:t>
            </a:r>
            <a:r>
              <a:rPr lang="en-US" sz="2400" dirty="0"/>
              <a:t>:</a:t>
            </a:r>
          </a:p>
          <a:p>
            <a:pPr>
              <a:buFontTx/>
              <a:buChar char="-"/>
            </a:pPr>
            <a:r>
              <a:rPr lang="en-US" sz="2400" dirty="0" err="1"/>
              <a:t>Khôi</a:t>
            </a:r>
            <a:r>
              <a:rPr lang="en-US" sz="2400" dirty="0"/>
              <a:t> </a:t>
            </a:r>
            <a:r>
              <a:rPr lang="en-US" sz="2400" dirty="0" err="1"/>
              <a:t>phục</a:t>
            </a:r>
            <a:r>
              <a:rPr lang="en-US" sz="2400" dirty="0"/>
              <a:t> </a:t>
            </a:r>
            <a:r>
              <a:rPr lang="en-US" sz="2400" dirty="0" err="1"/>
              <a:t>lại</a:t>
            </a:r>
            <a:r>
              <a:rPr lang="en-US" sz="2400" dirty="0"/>
              <a:t> </a:t>
            </a:r>
            <a:r>
              <a:rPr lang="en-US" sz="2400" dirty="0" err="1"/>
              <a:t>được</a:t>
            </a:r>
            <a:r>
              <a:rPr lang="en-US" sz="2400" dirty="0"/>
              <a:t> private key</a:t>
            </a:r>
          </a:p>
          <a:p>
            <a:pPr>
              <a:buFontTx/>
              <a:buChar char="-"/>
            </a:pPr>
            <a:r>
              <a:rPr lang="en-US" sz="2400" dirty="0" err="1"/>
              <a:t>Mất</a:t>
            </a:r>
            <a:r>
              <a:rPr lang="en-US" sz="2400" dirty="0"/>
              <a:t> </a:t>
            </a:r>
            <a:r>
              <a:rPr lang="en-US" sz="2400" dirty="0" err="1"/>
              <a:t>tính</a:t>
            </a:r>
            <a:r>
              <a:rPr lang="en-US" sz="2400" dirty="0"/>
              <a:t> </a:t>
            </a:r>
            <a:r>
              <a:rPr lang="en-US" sz="2400" dirty="0" err="1"/>
              <a:t>bảo</a:t>
            </a:r>
            <a:r>
              <a:rPr lang="en-US" sz="2400" dirty="0"/>
              <a:t> </a:t>
            </a:r>
            <a:r>
              <a:rPr lang="en-US" sz="2400" dirty="0" err="1"/>
              <a:t>mật</a:t>
            </a:r>
            <a:r>
              <a:rPr lang="en-US" sz="2400" dirty="0"/>
              <a:t>: </a:t>
            </a:r>
            <a:r>
              <a:rPr lang="en-US" sz="2400" dirty="0" err="1"/>
              <a:t>dịch</a:t>
            </a:r>
            <a:r>
              <a:rPr lang="en-US" sz="2400" dirty="0"/>
              <a:t> </a:t>
            </a:r>
            <a:r>
              <a:rPr lang="en-US" sz="2400" dirty="0" err="1"/>
              <a:t>lại</a:t>
            </a:r>
            <a:r>
              <a:rPr lang="en-US" sz="2400" dirty="0"/>
              <a:t> </a:t>
            </a:r>
            <a:r>
              <a:rPr lang="en-US" sz="2400" dirty="0" err="1"/>
              <a:t>các</a:t>
            </a:r>
            <a:r>
              <a:rPr lang="en-US" sz="2400" dirty="0"/>
              <a:t> </a:t>
            </a:r>
            <a:r>
              <a:rPr lang="en-US" sz="2400" dirty="0" err="1"/>
              <a:t>dữ</a:t>
            </a:r>
            <a:r>
              <a:rPr lang="en-US" sz="2400" dirty="0"/>
              <a:t> </a:t>
            </a:r>
            <a:r>
              <a:rPr lang="en-US" sz="2400" dirty="0" err="1"/>
              <a:t>liệu</a:t>
            </a:r>
            <a:r>
              <a:rPr lang="en-US" sz="2400" dirty="0"/>
              <a:t> </a:t>
            </a:r>
            <a:r>
              <a:rPr lang="en-US" sz="2400" dirty="0" err="1"/>
              <a:t>như</a:t>
            </a:r>
            <a:r>
              <a:rPr lang="en-US" sz="2400" dirty="0"/>
              <a:t> </a:t>
            </a:r>
            <a:r>
              <a:rPr lang="en-US" sz="2400" dirty="0" err="1"/>
              <a:t>thông</a:t>
            </a:r>
            <a:r>
              <a:rPr lang="en-US" sz="2400" dirty="0"/>
              <a:t> tin </a:t>
            </a:r>
            <a:r>
              <a:rPr lang="en-US" sz="2400" dirty="0" err="1"/>
              <a:t>đăng</a:t>
            </a:r>
            <a:r>
              <a:rPr lang="en-US" sz="2400" dirty="0"/>
              <a:t> </a:t>
            </a:r>
            <a:r>
              <a:rPr lang="en-US" sz="2400" dirty="0" err="1"/>
              <a:t>nhập</a:t>
            </a:r>
            <a:r>
              <a:rPr lang="en-US" sz="2400" dirty="0"/>
              <a:t>, </a:t>
            </a:r>
            <a:r>
              <a:rPr lang="en-US" sz="2400" dirty="0" err="1"/>
              <a:t>các</a:t>
            </a:r>
            <a:r>
              <a:rPr lang="en-US" sz="2400" dirty="0"/>
              <a:t> </a:t>
            </a:r>
            <a:r>
              <a:rPr lang="en-US" sz="2400" dirty="0" err="1"/>
              <a:t>khóa</a:t>
            </a:r>
            <a:r>
              <a:rPr lang="en-US" sz="2400" dirty="0"/>
              <a:t> </a:t>
            </a:r>
            <a:r>
              <a:rPr lang="en-US" sz="2400" dirty="0" err="1"/>
              <a:t>phiên</a:t>
            </a:r>
            <a:r>
              <a:rPr lang="en-US" sz="2400" dirty="0"/>
              <a:t>, …</a:t>
            </a:r>
          </a:p>
          <a:p>
            <a:pPr>
              <a:buFontTx/>
              <a:buChar char="-"/>
            </a:pPr>
            <a:r>
              <a:rPr lang="en-US" sz="2400" dirty="0" err="1"/>
              <a:t>Mất</a:t>
            </a:r>
            <a:r>
              <a:rPr lang="en-US" sz="2400" dirty="0"/>
              <a:t> </a:t>
            </a:r>
            <a:r>
              <a:rPr lang="en-US" sz="2400" dirty="0" err="1"/>
              <a:t>tính</a:t>
            </a:r>
            <a:r>
              <a:rPr lang="en-US" sz="2400" dirty="0"/>
              <a:t> </a:t>
            </a:r>
            <a:r>
              <a:rPr lang="en-US" sz="2400" dirty="0" err="1"/>
              <a:t>tính</a:t>
            </a:r>
            <a:r>
              <a:rPr lang="en-US" sz="2400" dirty="0"/>
              <a:t> </a:t>
            </a:r>
            <a:r>
              <a:rPr lang="en-US" sz="2400" dirty="0" err="1"/>
              <a:t>toàn</a:t>
            </a:r>
            <a:r>
              <a:rPr lang="en-US" sz="2400" dirty="0"/>
              <a:t> </a:t>
            </a:r>
            <a:r>
              <a:rPr lang="en-US" sz="2400" dirty="0" err="1"/>
              <a:t>vẹn</a:t>
            </a:r>
            <a:r>
              <a:rPr lang="en-US" sz="2400" dirty="0"/>
              <a:t>, </a:t>
            </a:r>
            <a:r>
              <a:rPr lang="en-US" sz="2400" dirty="0" err="1"/>
              <a:t>tính</a:t>
            </a:r>
            <a:r>
              <a:rPr lang="en-US" sz="2400" dirty="0"/>
              <a:t> </a:t>
            </a:r>
            <a:r>
              <a:rPr lang="en-US" sz="2400" dirty="0" err="1"/>
              <a:t>xác</a:t>
            </a:r>
            <a:r>
              <a:rPr lang="en-US" sz="2400" dirty="0"/>
              <a:t> </a:t>
            </a:r>
            <a:r>
              <a:rPr lang="en-US" sz="2400" dirty="0" err="1"/>
              <a:t>thực</a:t>
            </a:r>
            <a:r>
              <a:rPr lang="en-US" sz="2400" dirty="0"/>
              <a:t>: </a:t>
            </a:r>
            <a:r>
              <a:rPr lang="en-US" sz="2400" dirty="0" err="1"/>
              <a:t>giả</a:t>
            </a:r>
            <a:r>
              <a:rPr lang="en-US" sz="2400" dirty="0"/>
              <a:t> </a:t>
            </a:r>
            <a:r>
              <a:rPr lang="en-US" sz="2400" dirty="0" err="1"/>
              <a:t>mạo</a:t>
            </a:r>
            <a:r>
              <a:rPr lang="en-US" sz="2400" dirty="0"/>
              <a:t> </a:t>
            </a:r>
            <a:r>
              <a:rPr lang="en-US" sz="2400" dirty="0" err="1"/>
              <a:t>chữ</a:t>
            </a:r>
            <a:r>
              <a:rPr lang="en-US" sz="2400" dirty="0"/>
              <a:t> </a:t>
            </a:r>
            <a:r>
              <a:rPr lang="en-US" sz="2400" dirty="0" err="1"/>
              <a:t>kí</a:t>
            </a:r>
            <a:endParaRPr lang="en-US" sz="2400" dirty="0"/>
          </a:p>
          <a:p>
            <a:pPr>
              <a:buFontTx/>
              <a:buChar char="-"/>
            </a:pPr>
            <a:r>
              <a:rPr lang="en-US" sz="2400" dirty="0" err="1"/>
              <a:t>Nếu</a:t>
            </a:r>
            <a:r>
              <a:rPr lang="en-US" sz="2400" dirty="0"/>
              <a:t> </a:t>
            </a:r>
            <a:r>
              <a:rPr lang="en-US" sz="2400" dirty="0" err="1"/>
              <a:t>các</a:t>
            </a:r>
            <a:r>
              <a:rPr lang="en-US" sz="2400" dirty="0"/>
              <a:t> </a:t>
            </a:r>
            <a:r>
              <a:rPr lang="en-US" sz="2400" dirty="0" err="1"/>
              <a:t>cặp</a:t>
            </a:r>
            <a:r>
              <a:rPr lang="en-US" sz="2400" dirty="0"/>
              <a:t> </a:t>
            </a:r>
            <a:r>
              <a:rPr lang="en-US" sz="2400" dirty="0" err="1"/>
              <a:t>khóa</a:t>
            </a:r>
            <a:r>
              <a:rPr lang="en-US" sz="2400" dirty="0"/>
              <a:t> </a:t>
            </a:r>
            <a:r>
              <a:rPr lang="en-US" sz="2400" dirty="0" err="1"/>
              <a:t>được</a:t>
            </a:r>
            <a:r>
              <a:rPr lang="en-US" sz="2400" dirty="0"/>
              <a:t> </a:t>
            </a:r>
            <a:r>
              <a:rPr lang="en-US" sz="2400" dirty="0" err="1"/>
              <a:t>tái</a:t>
            </a:r>
            <a:r>
              <a:rPr lang="en-US" sz="2400" dirty="0"/>
              <a:t> </a:t>
            </a:r>
            <a:r>
              <a:rPr lang="en-US" sz="2400" dirty="0" err="1"/>
              <a:t>sử</a:t>
            </a:r>
            <a:r>
              <a:rPr lang="en-US" sz="2400" dirty="0"/>
              <a:t> </a:t>
            </a:r>
            <a:r>
              <a:rPr lang="en-US" sz="2400" dirty="0" err="1"/>
              <a:t>dụng</a:t>
            </a:r>
            <a:r>
              <a:rPr lang="en-US" sz="2400" dirty="0"/>
              <a:t> </a:t>
            </a:r>
            <a:r>
              <a:rPr lang="en-US" sz="2400" dirty="0" err="1"/>
              <a:t>trên</a:t>
            </a:r>
            <a:r>
              <a:rPr lang="en-US" sz="2400" dirty="0"/>
              <a:t> </a:t>
            </a:r>
            <a:r>
              <a:rPr lang="en-US" sz="2400" dirty="0" err="1"/>
              <a:t>nhiều</a:t>
            </a:r>
            <a:r>
              <a:rPr lang="en-US" sz="2400" dirty="0"/>
              <a:t> service </a:t>
            </a:r>
            <a:r>
              <a:rPr lang="en-US" sz="2400" dirty="0" err="1"/>
              <a:t>của</a:t>
            </a:r>
            <a:r>
              <a:rPr lang="en-US" sz="2400" dirty="0"/>
              <a:t> </a:t>
            </a:r>
            <a:r>
              <a:rPr lang="en-US" sz="2400" dirty="0" err="1"/>
              <a:t>hệ</a:t>
            </a:r>
            <a:r>
              <a:rPr lang="en-US" sz="2400" dirty="0"/>
              <a:t> </a:t>
            </a:r>
            <a:r>
              <a:rPr lang="en-US" sz="2400" dirty="0" err="1"/>
              <a:t>thống</a:t>
            </a:r>
            <a:r>
              <a:rPr lang="en-US" sz="2400" dirty="0"/>
              <a:t> </a:t>
            </a:r>
            <a:r>
              <a:rPr lang="en-US" sz="2400" dirty="0" err="1"/>
              <a:t>thì</a:t>
            </a:r>
            <a:r>
              <a:rPr lang="en-US" sz="2400" dirty="0"/>
              <a:t> </a:t>
            </a:r>
            <a:r>
              <a:rPr lang="en-US" sz="2400" dirty="0" err="1"/>
              <a:t>có</a:t>
            </a:r>
            <a:r>
              <a:rPr lang="en-US" sz="2400" dirty="0"/>
              <a:t> </a:t>
            </a:r>
            <a:r>
              <a:rPr lang="en-US" sz="2400" dirty="0" err="1"/>
              <a:t>thể</a:t>
            </a:r>
            <a:r>
              <a:rPr lang="en-US" sz="2400" dirty="0"/>
              <a:t> </a:t>
            </a:r>
            <a:r>
              <a:rPr lang="en-US" sz="2400" dirty="0" err="1"/>
              <a:t>bị</a:t>
            </a:r>
            <a:r>
              <a:rPr lang="en-US" sz="2400" dirty="0"/>
              <a:t> </a:t>
            </a:r>
            <a:r>
              <a:rPr lang="en-US" sz="2400" dirty="0" err="1"/>
              <a:t>ảnh</a:t>
            </a:r>
            <a:r>
              <a:rPr lang="en-US" sz="2400" dirty="0"/>
              <a:t> </a:t>
            </a:r>
            <a:r>
              <a:rPr lang="en-US" sz="2400" dirty="0" err="1"/>
              <a:t>hưởng</a:t>
            </a:r>
            <a:endParaRPr lang="en-US" sz="2400" dirty="0"/>
          </a:p>
        </p:txBody>
      </p:sp>
      <p:pic>
        <p:nvPicPr>
          <p:cNvPr id="2052" name="Picture 4">
            <a:extLst>
              <a:ext uri="{FF2B5EF4-FFF2-40B4-BE49-F238E27FC236}">
                <a16:creationId xmlns:a16="http://schemas.microsoft.com/office/drawing/2014/main" id="{8808D2E8-5AC7-5FD4-BCCF-D415F4A87F5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3" t="1935" r="5582"/>
          <a:stretch/>
        </p:blipFill>
        <p:spPr bwMode="auto">
          <a:xfrm>
            <a:off x="7461850" y="1589447"/>
            <a:ext cx="4730150" cy="36204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3710851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10102D-985C-CC9C-EB7E-2C67506C1F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8022" y="189512"/>
            <a:ext cx="10515600" cy="1325563"/>
          </a:xfrm>
        </p:spPr>
        <p:txBody>
          <a:bodyPr/>
          <a:lstStyle/>
          <a:p>
            <a:r>
              <a:rPr lang="en-US" dirty="0"/>
              <a:t>Security Goals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F9B7E2-B0E8-A8BE-4A48-445B8F4B9FC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998154"/>
            <a:ext cx="10515600" cy="4351338"/>
          </a:xfrm>
        </p:spPr>
        <p:txBody>
          <a:bodyPr/>
          <a:lstStyle/>
          <a:p>
            <a:r>
              <a:rPr lang="en-US" dirty="0" err="1"/>
              <a:t>Bảo</a:t>
            </a:r>
            <a:r>
              <a:rPr lang="en-US" dirty="0"/>
              <a:t> </a:t>
            </a:r>
            <a:r>
              <a:rPr lang="en-US" dirty="0" err="1"/>
              <a:t>vệ</a:t>
            </a:r>
            <a:r>
              <a:rPr lang="en-US" dirty="0"/>
              <a:t> </a:t>
            </a:r>
            <a:r>
              <a:rPr lang="en-US" dirty="0" err="1"/>
              <a:t>dữ</a:t>
            </a:r>
            <a:r>
              <a:rPr lang="en-US" dirty="0"/>
              <a:t> </a:t>
            </a:r>
            <a:r>
              <a:rPr lang="en-US" dirty="0" err="1"/>
              <a:t>liệu</a:t>
            </a:r>
            <a:r>
              <a:rPr lang="en-US" dirty="0"/>
              <a:t>: </a:t>
            </a:r>
            <a:r>
              <a:rPr lang="en-US" dirty="0" err="1"/>
              <a:t>đảm</a:t>
            </a:r>
            <a:r>
              <a:rPr lang="en-US" dirty="0"/>
              <a:t> </a:t>
            </a:r>
            <a:r>
              <a:rPr lang="en-US" dirty="0" err="1"/>
              <a:t>bảo</a:t>
            </a:r>
            <a:r>
              <a:rPr lang="en-US" dirty="0"/>
              <a:t> </a:t>
            </a:r>
            <a:r>
              <a:rPr lang="en-US" dirty="0" err="1"/>
              <a:t>người</a:t>
            </a:r>
            <a:r>
              <a:rPr lang="en-US" dirty="0"/>
              <a:t> </a:t>
            </a:r>
            <a:r>
              <a:rPr lang="en-US" dirty="0" err="1"/>
              <a:t>được</a:t>
            </a:r>
            <a:r>
              <a:rPr lang="en-US" dirty="0"/>
              <a:t> </a:t>
            </a:r>
            <a:r>
              <a:rPr lang="en-US" dirty="0" err="1"/>
              <a:t>phép</a:t>
            </a:r>
            <a:r>
              <a:rPr lang="en-US" dirty="0"/>
              <a:t> </a:t>
            </a:r>
            <a:r>
              <a:rPr lang="en-US" dirty="0" err="1"/>
              <a:t>mới</a:t>
            </a:r>
            <a:r>
              <a:rPr lang="en-US" dirty="0"/>
              <a:t> </a:t>
            </a:r>
            <a:r>
              <a:rPr lang="en-US" dirty="0" err="1"/>
              <a:t>được</a:t>
            </a:r>
            <a:r>
              <a:rPr lang="en-US" dirty="0"/>
              <a:t> </a:t>
            </a:r>
            <a:r>
              <a:rPr lang="en-US" dirty="0" err="1"/>
              <a:t>đọc</a:t>
            </a:r>
            <a:r>
              <a:rPr lang="en-US" dirty="0"/>
              <a:t> </a:t>
            </a:r>
            <a:r>
              <a:rPr lang="en-US" dirty="0" err="1"/>
              <a:t>dữ</a:t>
            </a:r>
            <a:r>
              <a:rPr lang="en-US" dirty="0"/>
              <a:t> </a:t>
            </a:r>
            <a:r>
              <a:rPr lang="en-US" dirty="0" err="1"/>
              <a:t>liệu</a:t>
            </a:r>
            <a:r>
              <a:rPr lang="en-US" dirty="0"/>
              <a:t>.</a:t>
            </a:r>
          </a:p>
          <a:p>
            <a:r>
              <a:rPr lang="en-US" dirty="0" err="1"/>
              <a:t>Tính</a:t>
            </a:r>
            <a:r>
              <a:rPr lang="en-US" dirty="0"/>
              <a:t> </a:t>
            </a:r>
            <a:r>
              <a:rPr lang="en-US" dirty="0" err="1"/>
              <a:t>toàn</a:t>
            </a:r>
            <a:r>
              <a:rPr lang="en-US" dirty="0"/>
              <a:t> </a:t>
            </a:r>
            <a:r>
              <a:rPr lang="en-US" dirty="0" err="1"/>
              <a:t>vẹn</a:t>
            </a:r>
            <a:r>
              <a:rPr lang="en-US" dirty="0"/>
              <a:t>: </a:t>
            </a:r>
            <a:r>
              <a:rPr lang="en-US" dirty="0" err="1"/>
              <a:t>dữ</a:t>
            </a:r>
            <a:r>
              <a:rPr lang="en-US" dirty="0"/>
              <a:t> </a:t>
            </a:r>
            <a:r>
              <a:rPr lang="en-US" dirty="0" err="1"/>
              <a:t>liệu</a:t>
            </a:r>
            <a:r>
              <a:rPr lang="en-US" dirty="0"/>
              <a:t> </a:t>
            </a:r>
            <a:r>
              <a:rPr lang="en-US" dirty="0" err="1"/>
              <a:t>gốc</a:t>
            </a:r>
            <a:r>
              <a:rPr lang="en-US" dirty="0"/>
              <a:t> </a:t>
            </a:r>
            <a:r>
              <a:rPr lang="en-US" dirty="0" err="1"/>
              <a:t>không</a:t>
            </a:r>
            <a:r>
              <a:rPr lang="en-US" dirty="0"/>
              <a:t> </a:t>
            </a:r>
            <a:r>
              <a:rPr lang="en-US" dirty="0" err="1"/>
              <a:t>bị</a:t>
            </a:r>
            <a:r>
              <a:rPr lang="en-US" dirty="0"/>
              <a:t> </a:t>
            </a:r>
            <a:r>
              <a:rPr lang="en-US" dirty="0" err="1"/>
              <a:t>thay</a:t>
            </a:r>
            <a:r>
              <a:rPr lang="en-US" dirty="0"/>
              <a:t> </a:t>
            </a:r>
            <a:r>
              <a:rPr lang="en-US" dirty="0" err="1"/>
              <a:t>đổi</a:t>
            </a:r>
            <a:r>
              <a:rPr lang="en-US" dirty="0"/>
              <a:t> </a:t>
            </a:r>
            <a:r>
              <a:rPr lang="en-US" dirty="0" err="1"/>
              <a:t>khi</a:t>
            </a:r>
            <a:r>
              <a:rPr lang="en-US" dirty="0"/>
              <a:t> </a:t>
            </a:r>
            <a:r>
              <a:rPr lang="en-US" dirty="0" err="1"/>
              <a:t>được</a:t>
            </a:r>
            <a:r>
              <a:rPr lang="en-US" dirty="0"/>
              <a:t> </a:t>
            </a:r>
            <a:r>
              <a:rPr lang="en-US" dirty="0" err="1"/>
              <a:t>mã</a:t>
            </a:r>
            <a:r>
              <a:rPr lang="en-US" dirty="0"/>
              <a:t> </a:t>
            </a:r>
            <a:r>
              <a:rPr lang="en-US" dirty="0" err="1"/>
              <a:t>hóa</a:t>
            </a:r>
            <a:r>
              <a:rPr lang="en-US" dirty="0"/>
              <a:t>.</a:t>
            </a:r>
          </a:p>
          <a:p>
            <a:r>
              <a:rPr lang="en-US" dirty="0" err="1"/>
              <a:t>Tính</a:t>
            </a:r>
            <a:r>
              <a:rPr lang="en-US" dirty="0"/>
              <a:t> </a:t>
            </a:r>
            <a:r>
              <a:rPr lang="en-US" dirty="0" err="1"/>
              <a:t>xác</a:t>
            </a:r>
            <a:r>
              <a:rPr lang="en-US" dirty="0"/>
              <a:t> </a:t>
            </a:r>
            <a:r>
              <a:rPr lang="en-US" dirty="0" err="1"/>
              <a:t>thực</a:t>
            </a:r>
            <a:r>
              <a:rPr lang="en-US" dirty="0"/>
              <a:t>: </a:t>
            </a:r>
            <a:r>
              <a:rPr lang="en-US" dirty="0" err="1"/>
              <a:t>biết</a:t>
            </a:r>
            <a:r>
              <a:rPr lang="en-US" dirty="0"/>
              <a:t> </a:t>
            </a:r>
            <a:r>
              <a:rPr lang="en-US" dirty="0" err="1"/>
              <a:t>chắc</a:t>
            </a:r>
            <a:r>
              <a:rPr lang="en-US" dirty="0"/>
              <a:t> </a:t>
            </a:r>
            <a:r>
              <a:rPr lang="en-US" dirty="0" err="1"/>
              <a:t>chắn</a:t>
            </a:r>
            <a:r>
              <a:rPr lang="en-US" dirty="0"/>
              <a:t> </a:t>
            </a:r>
            <a:r>
              <a:rPr lang="en-US" dirty="0" err="1"/>
              <a:t>dữ</a:t>
            </a:r>
            <a:r>
              <a:rPr lang="en-US" dirty="0"/>
              <a:t> </a:t>
            </a:r>
            <a:r>
              <a:rPr lang="en-US" dirty="0" err="1"/>
              <a:t>liệu</a:t>
            </a:r>
            <a:r>
              <a:rPr lang="en-US" dirty="0"/>
              <a:t> </a:t>
            </a:r>
            <a:r>
              <a:rPr lang="en-US" dirty="0" err="1"/>
              <a:t>đến</a:t>
            </a:r>
            <a:r>
              <a:rPr lang="en-US" dirty="0"/>
              <a:t> </a:t>
            </a:r>
            <a:r>
              <a:rPr lang="en-US" dirty="0" err="1"/>
              <a:t>từ</a:t>
            </a:r>
            <a:r>
              <a:rPr lang="en-US" dirty="0"/>
              <a:t> </a:t>
            </a:r>
            <a:r>
              <a:rPr lang="en-US" dirty="0" err="1"/>
              <a:t>đâu</a:t>
            </a:r>
            <a:r>
              <a:rPr lang="en-US" dirty="0"/>
              <a:t>, </a:t>
            </a:r>
            <a:r>
              <a:rPr lang="en-US" dirty="0" err="1"/>
              <a:t>xác</a:t>
            </a:r>
            <a:r>
              <a:rPr lang="en-US" dirty="0"/>
              <a:t> </a:t>
            </a:r>
            <a:r>
              <a:rPr lang="en-US" dirty="0" err="1"/>
              <a:t>định</a:t>
            </a:r>
            <a:r>
              <a:rPr lang="en-US" dirty="0"/>
              <a:t> </a:t>
            </a:r>
            <a:r>
              <a:rPr lang="en-US" dirty="0" err="1"/>
              <a:t>được</a:t>
            </a:r>
            <a:r>
              <a:rPr lang="en-US" dirty="0"/>
              <a:t> </a:t>
            </a:r>
            <a:r>
              <a:rPr lang="en-US" dirty="0" err="1"/>
              <a:t>người</a:t>
            </a:r>
            <a:r>
              <a:rPr lang="en-US" dirty="0"/>
              <a:t> </a:t>
            </a:r>
            <a:r>
              <a:rPr lang="en-US" dirty="0" err="1"/>
              <a:t>gửi</a:t>
            </a:r>
            <a:r>
              <a:rPr lang="en-US" dirty="0"/>
              <a:t>.</a:t>
            </a:r>
          </a:p>
          <a:p>
            <a:r>
              <a:rPr lang="en-US" dirty="0" err="1"/>
              <a:t>Chống</a:t>
            </a:r>
            <a:r>
              <a:rPr lang="en-US" dirty="0"/>
              <a:t> </a:t>
            </a:r>
            <a:r>
              <a:rPr lang="en-US" dirty="0" err="1"/>
              <a:t>các</a:t>
            </a:r>
            <a:r>
              <a:rPr lang="en-US" dirty="0"/>
              <a:t> </a:t>
            </a:r>
            <a:r>
              <a:rPr lang="en-US" dirty="0" err="1"/>
              <a:t>cuộc</a:t>
            </a:r>
            <a:r>
              <a:rPr lang="en-US" dirty="0"/>
              <a:t> </a:t>
            </a:r>
            <a:r>
              <a:rPr lang="en-US" dirty="0" err="1"/>
              <a:t>tấn</a:t>
            </a:r>
            <a:r>
              <a:rPr lang="en-US" dirty="0"/>
              <a:t> </a:t>
            </a:r>
            <a:r>
              <a:rPr lang="en-US" dirty="0" err="1"/>
              <a:t>công</a:t>
            </a:r>
            <a:r>
              <a:rPr lang="en-US" dirty="0"/>
              <a:t> </a:t>
            </a:r>
            <a:r>
              <a:rPr lang="en-US" dirty="0" err="1"/>
              <a:t>khi</a:t>
            </a:r>
            <a:r>
              <a:rPr lang="en-US" dirty="0"/>
              <a:t> </a:t>
            </a:r>
            <a:r>
              <a:rPr lang="en-US" dirty="0" err="1"/>
              <a:t>triển</a:t>
            </a:r>
            <a:r>
              <a:rPr lang="en-US" dirty="0"/>
              <a:t> </a:t>
            </a:r>
            <a:r>
              <a:rPr lang="en-US" dirty="0" err="1"/>
              <a:t>khai</a:t>
            </a:r>
            <a:r>
              <a:rPr lang="en-US" dirty="0"/>
              <a:t> </a:t>
            </a:r>
            <a:r>
              <a:rPr lang="en-US" dirty="0" err="1"/>
              <a:t>thực</a:t>
            </a:r>
            <a:r>
              <a:rPr lang="en-US" dirty="0"/>
              <a:t> </a:t>
            </a:r>
            <a:r>
              <a:rPr lang="en-US" dirty="0" err="1"/>
              <a:t>tế</a:t>
            </a:r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9954156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10102D-985C-CC9C-EB7E-2C67506C1F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413797"/>
            <a:ext cx="10515600" cy="1325563"/>
          </a:xfrm>
        </p:spPr>
        <p:txBody>
          <a:bodyPr/>
          <a:lstStyle/>
          <a:p>
            <a:r>
              <a:rPr lang="en-US" dirty="0"/>
              <a:t>2. </a:t>
            </a:r>
            <a:r>
              <a:rPr lang="en-US" dirty="0" err="1"/>
              <a:t>Các</a:t>
            </a:r>
            <a:r>
              <a:rPr lang="en-US" dirty="0"/>
              <a:t>  </a:t>
            </a:r>
            <a:r>
              <a:rPr lang="en-US" dirty="0" err="1"/>
              <a:t>câu</a:t>
            </a:r>
            <a:r>
              <a:rPr lang="en-US" dirty="0"/>
              <a:t> </a:t>
            </a:r>
            <a:r>
              <a:rPr lang="en-US" dirty="0" err="1"/>
              <a:t>hỏi</a:t>
            </a:r>
            <a:r>
              <a:rPr lang="en-US" dirty="0"/>
              <a:t> </a:t>
            </a:r>
            <a:r>
              <a:rPr lang="en-US" dirty="0" err="1"/>
              <a:t>nghiên</a:t>
            </a:r>
            <a:r>
              <a:rPr lang="en-US" dirty="0"/>
              <a:t> </a:t>
            </a:r>
            <a:r>
              <a:rPr lang="en-US" dirty="0" err="1"/>
              <a:t>cứu</a:t>
            </a:r>
            <a:r>
              <a:rPr lang="en-US" dirty="0"/>
              <a:t> </a:t>
            </a:r>
            <a:r>
              <a:rPr lang="en-US" dirty="0" err="1"/>
              <a:t>và</a:t>
            </a:r>
            <a:r>
              <a:rPr lang="en-US" dirty="0"/>
              <a:t> </a:t>
            </a:r>
            <a:r>
              <a:rPr lang="en-US" dirty="0" err="1"/>
              <a:t>giả</a:t>
            </a:r>
            <a:r>
              <a:rPr lang="en-US" dirty="0"/>
              <a:t> </a:t>
            </a:r>
            <a:r>
              <a:rPr lang="en-US" dirty="0" err="1"/>
              <a:t>thuyết</a:t>
            </a:r>
            <a:endParaRPr lang="en-US" dirty="0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53F9B7E2-B0E8-A8BE-4A48-445B8F4B9FC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3517" y="1739360"/>
            <a:ext cx="10515600" cy="2159779"/>
          </a:xfrm>
        </p:spPr>
        <p:txBody>
          <a:bodyPr>
            <a:noAutofit/>
          </a:bodyPr>
          <a:lstStyle/>
          <a:p>
            <a:pPr>
              <a:lnSpc>
                <a:spcPct val="150000"/>
              </a:lnSpc>
              <a:buFont typeface="Courier New" panose="02070309020205020404" pitchFamily="49" charset="0"/>
              <a:buChar char="o"/>
            </a:pPr>
            <a:r>
              <a:rPr lang="en-US" sz="2800" dirty="0"/>
              <a:t>RQ1: Trong </a:t>
            </a:r>
            <a:r>
              <a:rPr lang="en-US" sz="2800" dirty="0" err="1"/>
              <a:t>kịch</a:t>
            </a:r>
            <a:r>
              <a:rPr lang="en-US" sz="2800" dirty="0"/>
              <a:t> </a:t>
            </a:r>
            <a:r>
              <a:rPr lang="en-US" sz="2800" dirty="0" err="1"/>
              <a:t>bản</a:t>
            </a:r>
            <a:r>
              <a:rPr lang="en-US" sz="2800" dirty="0"/>
              <a:t> </a:t>
            </a:r>
            <a:r>
              <a:rPr lang="en-US" sz="2800" dirty="0" err="1"/>
              <a:t>triển</a:t>
            </a:r>
            <a:r>
              <a:rPr lang="en-US" sz="2800" dirty="0"/>
              <a:t> </a:t>
            </a:r>
            <a:r>
              <a:rPr lang="en-US" sz="2800" dirty="0" err="1"/>
              <a:t>khai</a:t>
            </a:r>
            <a:r>
              <a:rPr lang="en-US" sz="2800" dirty="0"/>
              <a:t> </a:t>
            </a:r>
            <a:r>
              <a:rPr lang="en-US" sz="2800" dirty="0" err="1"/>
              <a:t>thực</a:t>
            </a:r>
            <a:r>
              <a:rPr lang="en-US" sz="2800" dirty="0"/>
              <a:t> </a:t>
            </a:r>
            <a:r>
              <a:rPr lang="en-US" sz="2800" dirty="0" err="1"/>
              <a:t>tế</a:t>
            </a:r>
            <a:r>
              <a:rPr lang="en-US" sz="2800" dirty="0"/>
              <a:t> (TLS, JWT, code signing), </a:t>
            </a:r>
            <a:r>
              <a:rPr lang="en-US" sz="2800" dirty="0" err="1"/>
              <a:t>đâu</a:t>
            </a:r>
            <a:r>
              <a:rPr lang="en-US" sz="2800" dirty="0"/>
              <a:t> </a:t>
            </a:r>
            <a:r>
              <a:rPr lang="en-US" sz="2800" dirty="0" err="1"/>
              <a:t>là</a:t>
            </a:r>
            <a:r>
              <a:rPr lang="en-US" sz="2800" dirty="0"/>
              <a:t> </a:t>
            </a:r>
            <a:r>
              <a:rPr lang="en-US" sz="2800" dirty="0" err="1"/>
              <a:t>các</a:t>
            </a:r>
            <a:r>
              <a:rPr lang="en-US" sz="2800" dirty="0"/>
              <a:t> </a:t>
            </a:r>
            <a:r>
              <a:rPr lang="en-US" sz="2800" dirty="0" err="1"/>
              <a:t>điểm</a:t>
            </a:r>
            <a:r>
              <a:rPr lang="en-US" sz="2800" dirty="0"/>
              <a:t> </a:t>
            </a:r>
            <a:r>
              <a:rPr lang="en-US" sz="2800" dirty="0" err="1"/>
              <a:t>yếu</a:t>
            </a:r>
            <a:r>
              <a:rPr lang="en-US" sz="2800" dirty="0"/>
              <a:t> </a:t>
            </a:r>
            <a:r>
              <a:rPr lang="en-US" sz="2800" dirty="0" err="1"/>
              <a:t>phổ</a:t>
            </a:r>
            <a:r>
              <a:rPr lang="en-US" sz="2800" dirty="0"/>
              <a:t> </a:t>
            </a:r>
            <a:r>
              <a:rPr lang="en-US" sz="2800" dirty="0" err="1"/>
              <a:t>biến</a:t>
            </a:r>
            <a:r>
              <a:rPr lang="en-US" sz="2800" dirty="0"/>
              <a:t> </a:t>
            </a:r>
            <a:r>
              <a:rPr lang="en-US" sz="2800" dirty="0" err="1"/>
              <a:t>nhất</a:t>
            </a:r>
            <a:r>
              <a:rPr lang="en-US" sz="2800" dirty="0"/>
              <a:t> </a:t>
            </a:r>
            <a:r>
              <a:rPr lang="en-US" sz="2800" dirty="0" err="1"/>
              <a:t>liên</a:t>
            </a:r>
            <a:r>
              <a:rPr lang="en-US" sz="2800" dirty="0"/>
              <a:t> </a:t>
            </a:r>
            <a:r>
              <a:rPr lang="en-US" sz="2800" dirty="0" err="1"/>
              <a:t>quan</a:t>
            </a:r>
            <a:r>
              <a:rPr lang="en-US" sz="2800" dirty="0"/>
              <a:t> </a:t>
            </a:r>
            <a:r>
              <a:rPr lang="en-US" sz="2800" dirty="0" err="1"/>
              <a:t>tới</a:t>
            </a:r>
            <a:r>
              <a:rPr lang="en-US" sz="2800" dirty="0"/>
              <a:t> RSA </a:t>
            </a:r>
            <a:r>
              <a:rPr lang="en-US" sz="2800" dirty="0" err="1"/>
              <a:t>và</a:t>
            </a:r>
            <a:r>
              <a:rPr lang="en-US" sz="2800" dirty="0"/>
              <a:t> </a:t>
            </a:r>
            <a:r>
              <a:rPr lang="en-US" sz="2800" dirty="0" err="1"/>
              <a:t>chúng</a:t>
            </a:r>
            <a:r>
              <a:rPr lang="en-US" sz="2800" dirty="0"/>
              <a:t> </a:t>
            </a:r>
            <a:r>
              <a:rPr lang="en-US" sz="2800" dirty="0" err="1"/>
              <a:t>dẫn</a:t>
            </a:r>
            <a:r>
              <a:rPr lang="en-US" sz="2800" dirty="0"/>
              <a:t> </a:t>
            </a:r>
            <a:r>
              <a:rPr lang="en-US" sz="2800" dirty="0" err="1"/>
              <a:t>tới</a:t>
            </a:r>
            <a:r>
              <a:rPr lang="en-US" sz="2800" dirty="0"/>
              <a:t> </a:t>
            </a:r>
            <a:r>
              <a:rPr lang="en-US" sz="2800" dirty="0" err="1"/>
              <a:t>hậu</a:t>
            </a:r>
            <a:r>
              <a:rPr lang="en-US" sz="2800" dirty="0"/>
              <a:t> </a:t>
            </a:r>
            <a:r>
              <a:rPr lang="en-US" sz="2800" dirty="0" err="1"/>
              <a:t>quả</a:t>
            </a:r>
            <a:r>
              <a:rPr lang="en-US" sz="2800" dirty="0"/>
              <a:t> </a:t>
            </a:r>
            <a:r>
              <a:rPr lang="en-US" sz="2800" dirty="0" err="1"/>
              <a:t>gì</a:t>
            </a:r>
            <a:r>
              <a:rPr lang="en-US" sz="2800" dirty="0"/>
              <a:t> (forgery, key recovery, signature replay)?</a:t>
            </a:r>
          </a:p>
        </p:txBody>
      </p:sp>
    </p:spTree>
    <p:extLst>
      <p:ext uri="{BB962C8B-B14F-4D97-AF65-F5344CB8AC3E}">
        <p14:creationId xmlns:p14="http://schemas.microsoft.com/office/powerpoint/2010/main" val="61950477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10102D-985C-CC9C-EB7E-2C67506C1F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422425"/>
            <a:ext cx="10515600" cy="1325563"/>
          </a:xfrm>
        </p:spPr>
        <p:txBody>
          <a:bodyPr/>
          <a:lstStyle/>
          <a:p>
            <a:r>
              <a:rPr lang="en-US" dirty="0"/>
              <a:t>2. </a:t>
            </a:r>
            <a:r>
              <a:rPr lang="en-US" dirty="0" err="1"/>
              <a:t>Các</a:t>
            </a:r>
            <a:r>
              <a:rPr lang="en-US" dirty="0"/>
              <a:t>  </a:t>
            </a:r>
            <a:r>
              <a:rPr lang="en-US" dirty="0" err="1"/>
              <a:t>câu</a:t>
            </a:r>
            <a:r>
              <a:rPr lang="en-US" dirty="0"/>
              <a:t> </a:t>
            </a:r>
            <a:r>
              <a:rPr lang="en-US" dirty="0" err="1"/>
              <a:t>hỏi</a:t>
            </a:r>
            <a:r>
              <a:rPr lang="en-US" dirty="0"/>
              <a:t> </a:t>
            </a:r>
            <a:r>
              <a:rPr lang="en-US" dirty="0" err="1"/>
              <a:t>nghiên</a:t>
            </a:r>
            <a:r>
              <a:rPr lang="en-US" dirty="0"/>
              <a:t> </a:t>
            </a:r>
            <a:r>
              <a:rPr lang="en-US" dirty="0" err="1"/>
              <a:t>cứu</a:t>
            </a:r>
            <a:r>
              <a:rPr lang="en-US" dirty="0"/>
              <a:t> </a:t>
            </a:r>
            <a:r>
              <a:rPr lang="en-US" dirty="0" err="1"/>
              <a:t>và</a:t>
            </a:r>
            <a:r>
              <a:rPr lang="en-US" dirty="0"/>
              <a:t> </a:t>
            </a:r>
            <a:r>
              <a:rPr lang="en-US" dirty="0" err="1"/>
              <a:t>giả</a:t>
            </a:r>
            <a:r>
              <a:rPr lang="en-US" dirty="0"/>
              <a:t> </a:t>
            </a:r>
            <a:r>
              <a:rPr lang="en-US" dirty="0" err="1"/>
              <a:t>thuyết</a:t>
            </a:r>
            <a:endParaRPr lang="en-US" dirty="0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0C4CC90B-89E3-0291-19AD-473828443C1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3517" y="1739360"/>
            <a:ext cx="10515600" cy="2159779"/>
          </a:xfrm>
        </p:spPr>
        <p:txBody>
          <a:bodyPr>
            <a:noAutofit/>
          </a:bodyPr>
          <a:lstStyle/>
          <a:p>
            <a:pPr>
              <a:lnSpc>
                <a:spcPct val="150000"/>
              </a:lnSpc>
              <a:buFont typeface="Courier New" panose="02070309020205020404" pitchFamily="49" charset="0"/>
              <a:buChar char="o"/>
            </a:pPr>
            <a:r>
              <a:rPr lang="en-US" sz="2800" dirty="0"/>
              <a:t>RQ2: </a:t>
            </a:r>
            <a:r>
              <a:rPr lang="en-US" sz="2800" dirty="0" err="1"/>
              <a:t>Các</a:t>
            </a:r>
            <a:r>
              <a:rPr lang="en-US" sz="2800" dirty="0"/>
              <a:t> </a:t>
            </a:r>
            <a:r>
              <a:rPr lang="en-US" sz="2800" dirty="0" err="1"/>
              <a:t>tấn</a:t>
            </a:r>
            <a:r>
              <a:rPr lang="en-US" sz="2800" dirty="0"/>
              <a:t> </a:t>
            </a:r>
            <a:r>
              <a:rPr lang="en-US" sz="2800" dirty="0" err="1"/>
              <a:t>công</a:t>
            </a:r>
            <a:r>
              <a:rPr lang="en-US" sz="2800" dirty="0"/>
              <a:t> </a:t>
            </a:r>
            <a:r>
              <a:rPr lang="en-US" sz="2800" dirty="0" err="1"/>
              <a:t>Bleichenbacher</a:t>
            </a:r>
            <a:r>
              <a:rPr lang="en-US" sz="2800" dirty="0"/>
              <a:t> (padding oracle) </a:t>
            </a:r>
            <a:r>
              <a:rPr lang="en-US" sz="2800" dirty="0" err="1"/>
              <a:t>và</a:t>
            </a:r>
            <a:r>
              <a:rPr lang="en-US" sz="2800" dirty="0"/>
              <a:t> timing attacks </a:t>
            </a:r>
            <a:r>
              <a:rPr lang="en-US" sz="2800" dirty="0" err="1"/>
              <a:t>còn</a:t>
            </a:r>
            <a:r>
              <a:rPr lang="en-US" sz="2800" dirty="0"/>
              <a:t> </a:t>
            </a:r>
            <a:r>
              <a:rPr lang="en-US" sz="2800" dirty="0" err="1"/>
              <a:t>khả</a:t>
            </a:r>
            <a:r>
              <a:rPr lang="en-US" sz="2800" dirty="0"/>
              <a:t> </a:t>
            </a:r>
            <a:r>
              <a:rPr lang="en-US" sz="2800" dirty="0" err="1"/>
              <a:t>thi</a:t>
            </a:r>
            <a:r>
              <a:rPr lang="en-US" sz="2800" dirty="0"/>
              <a:t> </a:t>
            </a:r>
            <a:r>
              <a:rPr lang="en-US" sz="2800" dirty="0" err="1"/>
              <a:t>trên</a:t>
            </a:r>
            <a:r>
              <a:rPr lang="en-US" sz="2800" dirty="0"/>
              <a:t> </a:t>
            </a:r>
            <a:r>
              <a:rPr lang="en-US" sz="2800" dirty="0" err="1"/>
              <a:t>các</a:t>
            </a:r>
            <a:r>
              <a:rPr lang="en-US" sz="2800" dirty="0"/>
              <a:t> stack </a:t>
            </a:r>
            <a:r>
              <a:rPr lang="en-US" sz="2800" dirty="0" err="1"/>
              <a:t>hiện</a:t>
            </a:r>
            <a:r>
              <a:rPr lang="en-US" sz="2800" dirty="0"/>
              <a:t> </a:t>
            </a:r>
            <a:r>
              <a:rPr lang="en-US" sz="2800" dirty="0" err="1"/>
              <a:t>đại</a:t>
            </a:r>
            <a:r>
              <a:rPr lang="en-US" sz="2800" dirty="0"/>
              <a:t> (OpenSSL/LibreSSL/</a:t>
            </a:r>
            <a:r>
              <a:rPr lang="en-US" sz="2800" dirty="0" err="1"/>
              <a:t>BoringSSL</a:t>
            </a:r>
            <a:r>
              <a:rPr lang="en-US" sz="2800" dirty="0"/>
              <a:t>) </a:t>
            </a:r>
            <a:r>
              <a:rPr lang="en-US" sz="2800" dirty="0" err="1"/>
              <a:t>khi</a:t>
            </a:r>
            <a:r>
              <a:rPr lang="en-US" sz="2800" dirty="0"/>
              <a:t> </a:t>
            </a:r>
            <a:r>
              <a:rPr lang="en-US" sz="2800" dirty="0" err="1"/>
              <a:t>gặp</a:t>
            </a:r>
            <a:r>
              <a:rPr lang="en-US" sz="2800" dirty="0"/>
              <a:t> </a:t>
            </a:r>
            <a:r>
              <a:rPr lang="en-US" sz="2800" dirty="0" err="1"/>
              <a:t>cấu</a:t>
            </a:r>
            <a:r>
              <a:rPr lang="en-US" sz="2800" dirty="0"/>
              <a:t> </a:t>
            </a:r>
            <a:r>
              <a:rPr lang="en-US" sz="2800" dirty="0" err="1"/>
              <a:t>hình</a:t>
            </a:r>
            <a:r>
              <a:rPr lang="en-US" sz="2800" dirty="0"/>
              <a:t> </a:t>
            </a:r>
            <a:r>
              <a:rPr lang="en-US" sz="2800" dirty="0" err="1"/>
              <a:t>cũ</a:t>
            </a:r>
            <a:r>
              <a:rPr lang="en-US" sz="2800" dirty="0"/>
              <a:t> </a:t>
            </a:r>
            <a:r>
              <a:rPr lang="en-US" sz="2800" dirty="0" err="1"/>
              <a:t>hoặc</a:t>
            </a:r>
            <a:r>
              <a:rPr lang="en-US" sz="2800" dirty="0"/>
              <a:t> </a:t>
            </a:r>
            <a:r>
              <a:rPr lang="en-US" sz="2800" dirty="0" err="1"/>
              <a:t>lỗi</a:t>
            </a:r>
            <a:r>
              <a:rPr lang="en-US" sz="2800" dirty="0"/>
              <a:t> </a:t>
            </a:r>
            <a:r>
              <a:rPr lang="en-US" sz="2800" dirty="0" err="1"/>
              <a:t>không</a:t>
            </a:r>
            <a:r>
              <a:rPr lang="en-US" sz="2800" dirty="0"/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262831781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10102D-985C-CC9C-EB7E-2C67506C1F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387918"/>
            <a:ext cx="10515600" cy="1325563"/>
          </a:xfrm>
        </p:spPr>
        <p:txBody>
          <a:bodyPr/>
          <a:lstStyle/>
          <a:p>
            <a:r>
              <a:rPr lang="en-US" dirty="0"/>
              <a:t>2. </a:t>
            </a:r>
            <a:r>
              <a:rPr lang="en-US" dirty="0" err="1"/>
              <a:t>Các</a:t>
            </a:r>
            <a:r>
              <a:rPr lang="en-US" dirty="0"/>
              <a:t>  </a:t>
            </a:r>
            <a:r>
              <a:rPr lang="en-US" dirty="0" err="1"/>
              <a:t>câu</a:t>
            </a:r>
            <a:r>
              <a:rPr lang="en-US" dirty="0"/>
              <a:t> </a:t>
            </a:r>
            <a:r>
              <a:rPr lang="en-US" dirty="0" err="1"/>
              <a:t>hỏi</a:t>
            </a:r>
            <a:r>
              <a:rPr lang="en-US" dirty="0"/>
              <a:t> </a:t>
            </a:r>
            <a:r>
              <a:rPr lang="en-US" dirty="0" err="1"/>
              <a:t>nghiên</a:t>
            </a:r>
            <a:r>
              <a:rPr lang="en-US" dirty="0"/>
              <a:t> </a:t>
            </a:r>
            <a:r>
              <a:rPr lang="en-US" dirty="0" err="1"/>
              <a:t>cứu</a:t>
            </a:r>
            <a:r>
              <a:rPr lang="en-US" dirty="0"/>
              <a:t> </a:t>
            </a:r>
            <a:r>
              <a:rPr lang="en-US" dirty="0" err="1"/>
              <a:t>và</a:t>
            </a:r>
            <a:r>
              <a:rPr lang="en-US" dirty="0"/>
              <a:t> </a:t>
            </a:r>
            <a:r>
              <a:rPr lang="en-US" dirty="0" err="1"/>
              <a:t>giả</a:t>
            </a:r>
            <a:r>
              <a:rPr lang="en-US" dirty="0"/>
              <a:t> </a:t>
            </a:r>
            <a:r>
              <a:rPr lang="en-US" dirty="0" err="1"/>
              <a:t>thuyết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F9B7E2-B0E8-A8BE-4A48-445B8F4B9FC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713481"/>
            <a:ext cx="10515600" cy="3272586"/>
          </a:xfrm>
        </p:spPr>
        <p:txBody>
          <a:bodyPr>
            <a:normAutofit fontScale="92500"/>
          </a:bodyPr>
          <a:lstStyle/>
          <a:p>
            <a:pPr>
              <a:lnSpc>
                <a:spcPct val="150000"/>
              </a:lnSpc>
              <a:buFont typeface="Courier New" panose="02070309020205020404" pitchFamily="49" charset="0"/>
              <a:buChar char="o"/>
            </a:pPr>
            <a:r>
              <a:rPr lang="vi-VN" sz="2800" dirty="0"/>
              <a:t>Giả thuyết: Các vụ compromise thực tế thường xảy ra do: xử lý padding không an toàn (PKCS#1 v1.5), RNG yếu tạo primes dễ đoán, misuse của small exponent. Việc chuyển sang RSASSA-PSS</a:t>
            </a:r>
            <a:r>
              <a:rPr lang="en-US" sz="2800" dirty="0"/>
              <a:t> </a:t>
            </a:r>
            <a:r>
              <a:rPr lang="en-US" sz="2800" dirty="0" err="1"/>
              <a:t>để</a:t>
            </a:r>
            <a:r>
              <a:rPr lang="en-US" sz="2800" dirty="0"/>
              <a:t> </a:t>
            </a:r>
            <a:r>
              <a:rPr lang="en-US" sz="2800" dirty="0" err="1"/>
              <a:t>kí</a:t>
            </a:r>
            <a:r>
              <a:rPr lang="en-US" sz="2800" dirty="0"/>
              <a:t>, RSA-OAEP </a:t>
            </a:r>
            <a:r>
              <a:rPr lang="en-US" sz="2800" dirty="0" err="1"/>
              <a:t>để</a:t>
            </a:r>
            <a:r>
              <a:rPr lang="en-US" sz="2800" dirty="0"/>
              <a:t> </a:t>
            </a:r>
            <a:r>
              <a:rPr lang="en-US" sz="2800" dirty="0" err="1"/>
              <a:t>mã</a:t>
            </a:r>
            <a:r>
              <a:rPr lang="en-US" sz="2800" dirty="0"/>
              <a:t> </a:t>
            </a:r>
            <a:r>
              <a:rPr lang="en-US" sz="2800" dirty="0" err="1"/>
              <a:t>hóa</a:t>
            </a:r>
            <a:r>
              <a:rPr lang="vi-VN" sz="2800" dirty="0"/>
              <a:t>, áp dụng kích thước khóa lớn (≥ 3072bit), sử dụng HSM và library thực hiện constant-time sẽ giảm đáng kể rủi ro.</a:t>
            </a:r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108485288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EEFE44-90AD-0224-4AF6-D3150F6674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370667"/>
            <a:ext cx="10515600" cy="1325563"/>
          </a:xfrm>
        </p:spPr>
        <p:txBody>
          <a:bodyPr/>
          <a:lstStyle/>
          <a:p>
            <a:r>
              <a:rPr lang="en-US" dirty="0"/>
              <a:t>3. </a:t>
            </a:r>
            <a:r>
              <a:rPr lang="en-US" dirty="0" err="1"/>
              <a:t>Kịch</a:t>
            </a:r>
            <a:r>
              <a:rPr lang="en-US" dirty="0"/>
              <a:t> </a:t>
            </a:r>
            <a:r>
              <a:rPr lang="en-US" dirty="0" err="1"/>
              <a:t>bản</a:t>
            </a:r>
            <a:r>
              <a:rPr lang="en-US" dirty="0"/>
              <a:t> </a:t>
            </a:r>
            <a:r>
              <a:rPr lang="en-US" dirty="0" err="1"/>
              <a:t>triển</a:t>
            </a:r>
            <a:r>
              <a:rPr lang="en-US" dirty="0"/>
              <a:t> </a:t>
            </a:r>
            <a:r>
              <a:rPr lang="en-US" dirty="0" err="1"/>
              <a:t>khai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C512C3-7096-8396-BC31-D67D41C6CF3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851505"/>
            <a:ext cx="10515600" cy="2461703"/>
          </a:xfrm>
        </p:spPr>
        <p:txBody>
          <a:bodyPr>
            <a:normAutofit/>
          </a:bodyPr>
          <a:lstStyle/>
          <a:p>
            <a:pPr>
              <a:spcBef>
                <a:spcPts val="2500"/>
              </a:spcBef>
            </a:pPr>
            <a:r>
              <a:rPr lang="en-US" sz="2800" dirty="0"/>
              <a:t>1) </a:t>
            </a:r>
            <a:r>
              <a:rPr lang="en-US" sz="2800" dirty="0" err="1"/>
              <a:t>Công</a:t>
            </a:r>
            <a:r>
              <a:rPr lang="en-US" sz="2800" dirty="0"/>
              <a:t> </a:t>
            </a:r>
            <a:r>
              <a:rPr lang="en-US" sz="2800" dirty="0" err="1"/>
              <a:t>cụ</a:t>
            </a:r>
            <a:r>
              <a:rPr lang="en-US" sz="2800" dirty="0"/>
              <a:t>/</a:t>
            </a:r>
            <a:r>
              <a:rPr lang="en-US" sz="2800" dirty="0" err="1"/>
              <a:t>Thư</a:t>
            </a:r>
            <a:r>
              <a:rPr lang="en-US" sz="2800" dirty="0"/>
              <a:t> </a:t>
            </a:r>
            <a:r>
              <a:rPr lang="en-US" sz="2800" dirty="0" err="1"/>
              <a:t>viện</a:t>
            </a:r>
            <a:r>
              <a:rPr lang="en-US" sz="2800" dirty="0"/>
              <a:t>: OpenSSL, GMP, Docker, Python (</a:t>
            </a:r>
            <a:r>
              <a:rPr lang="en-US" sz="2800" dirty="0" err="1"/>
              <a:t>pycryptodome</a:t>
            </a:r>
            <a:r>
              <a:rPr lang="en-US" sz="2800" dirty="0"/>
              <a:t>)</a:t>
            </a:r>
          </a:p>
          <a:p>
            <a:pPr>
              <a:spcBef>
                <a:spcPts val="2500"/>
              </a:spcBef>
            </a:pPr>
            <a:r>
              <a:rPr lang="en-US" sz="2800" dirty="0"/>
              <a:t>2) </a:t>
            </a:r>
            <a:r>
              <a:rPr lang="en-US" sz="2800" dirty="0" err="1"/>
              <a:t>Môi</a:t>
            </a:r>
            <a:r>
              <a:rPr lang="en-US" sz="2800" dirty="0"/>
              <a:t> </a:t>
            </a:r>
            <a:r>
              <a:rPr lang="en-US" sz="2800" dirty="0" err="1"/>
              <a:t>trường</a:t>
            </a:r>
            <a:r>
              <a:rPr lang="en-US" sz="2800" dirty="0"/>
              <a:t> </a:t>
            </a:r>
            <a:r>
              <a:rPr lang="en-US" sz="2800" dirty="0" err="1"/>
              <a:t>cô</a:t>
            </a:r>
            <a:r>
              <a:rPr lang="en-US" sz="2800" dirty="0"/>
              <a:t> </a:t>
            </a:r>
            <a:r>
              <a:rPr lang="en-US" sz="2800" dirty="0" err="1"/>
              <a:t>lập</a:t>
            </a:r>
            <a:r>
              <a:rPr lang="en-US" sz="2800" dirty="0"/>
              <a:t>, </a:t>
            </a:r>
            <a:r>
              <a:rPr lang="en-US" sz="2800" dirty="0" err="1"/>
              <a:t>chỉ</a:t>
            </a:r>
            <a:r>
              <a:rPr lang="en-US" sz="2800" dirty="0"/>
              <a:t> </a:t>
            </a:r>
            <a:r>
              <a:rPr lang="en-US" sz="2800" dirty="0" err="1"/>
              <a:t>chạy</a:t>
            </a:r>
            <a:r>
              <a:rPr lang="en-US" sz="2800" dirty="0"/>
              <a:t> PoC </a:t>
            </a:r>
            <a:r>
              <a:rPr lang="en-US" sz="2800" dirty="0" err="1"/>
              <a:t>trên</a:t>
            </a:r>
            <a:r>
              <a:rPr lang="en-US" sz="2800" dirty="0"/>
              <a:t> </a:t>
            </a:r>
            <a:r>
              <a:rPr lang="en-US" sz="2800" dirty="0" err="1"/>
              <a:t>hệ</a:t>
            </a:r>
            <a:r>
              <a:rPr lang="en-US" sz="2800" dirty="0"/>
              <a:t> </a:t>
            </a:r>
            <a:r>
              <a:rPr lang="en-US" sz="2800" dirty="0" err="1"/>
              <a:t>thống</a:t>
            </a:r>
            <a:r>
              <a:rPr lang="en-US" sz="2800" dirty="0"/>
              <a:t> lab</a:t>
            </a:r>
          </a:p>
          <a:p>
            <a:pPr>
              <a:spcBef>
                <a:spcPts val="2500"/>
              </a:spcBef>
            </a:pPr>
            <a:r>
              <a:rPr lang="en-US" sz="2800" dirty="0"/>
              <a:t>3) Data collection &amp; metrics</a:t>
            </a:r>
          </a:p>
        </p:txBody>
      </p:sp>
    </p:spTree>
    <p:extLst>
      <p:ext uri="{BB962C8B-B14F-4D97-AF65-F5344CB8AC3E}">
        <p14:creationId xmlns:p14="http://schemas.microsoft.com/office/powerpoint/2010/main" val="412989712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6A99C9-7567-BF54-35C3-0C524C7A86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379292"/>
            <a:ext cx="10515600" cy="1325563"/>
          </a:xfrm>
        </p:spPr>
        <p:txBody>
          <a:bodyPr/>
          <a:lstStyle/>
          <a:p>
            <a:r>
              <a:rPr lang="en-US" dirty="0" err="1"/>
              <a:t>Các</a:t>
            </a:r>
            <a:r>
              <a:rPr lang="en-US" dirty="0"/>
              <a:t> attack </a:t>
            </a:r>
            <a:r>
              <a:rPr lang="en-US" dirty="0" err="1"/>
              <a:t>triển</a:t>
            </a:r>
            <a:r>
              <a:rPr lang="en-US" dirty="0"/>
              <a:t> </a:t>
            </a:r>
            <a:r>
              <a:rPr lang="en-US" dirty="0" err="1"/>
              <a:t>khai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775CC2-726C-1FD5-6F94-6FBD9821B3B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6264" y="1894636"/>
            <a:ext cx="10515600" cy="4351338"/>
          </a:xfrm>
        </p:spPr>
        <p:txBody>
          <a:bodyPr>
            <a:normAutofit/>
          </a:bodyPr>
          <a:lstStyle/>
          <a:p>
            <a:pPr>
              <a:buFontTx/>
              <a:buChar char="-"/>
            </a:pPr>
            <a:r>
              <a:rPr lang="en-US" sz="2800" dirty="0"/>
              <a:t> Attack A — </a:t>
            </a:r>
            <a:r>
              <a:rPr lang="en-US" sz="2800" dirty="0" err="1"/>
              <a:t>Bleichenbacher</a:t>
            </a:r>
            <a:r>
              <a:rPr lang="en-US" sz="2800" dirty="0"/>
              <a:t> padding oracle PoC: </a:t>
            </a:r>
            <a:r>
              <a:rPr lang="en-US" sz="2800" dirty="0" err="1"/>
              <a:t>dựng</a:t>
            </a:r>
            <a:r>
              <a:rPr lang="en-US" sz="2800" dirty="0"/>
              <a:t> server TLS-like </a:t>
            </a:r>
            <a:r>
              <a:rPr lang="en-US" sz="2800" dirty="0" err="1"/>
              <a:t>dùng</a:t>
            </a:r>
            <a:r>
              <a:rPr lang="en-US" sz="2800" dirty="0"/>
              <a:t> PKCS#1 v1.5 decryption </a:t>
            </a:r>
            <a:r>
              <a:rPr lang="en-US" sz="2800" dirty="0" err="1"/>
              <a:t>cho</a:t>
            </a:r>
            <a:r>
              <a:rPr lang="en-US" sz="2800" dirty="0"/>
              <a:t> </a:t>
            </a:r>
            <a:r>
              <a:rPr lang="en-US" sz="2800" dirty="0" err="1"/>
              <a:t>PreMasterSecret</a:t>
            </a:r>
            <a:r>
              <a:rPr lang="en-US" sz="2800" dirty="0"/>
              <a:t>, </a:t>
            </a:r>
            <a:r>
              <a:rPr lang="en-US" sz="2800" dirty="0" err="1"/>
              <a:t>tạo</a:t>
            </a:r>
            <a:r>
              <a:rPr lang="en-US" sz="2800" dirty="0"/>
              <a:t> oracle, </a:t>
            </a:r>
            <a:r>
              <a:rPr lang="en-US" sz="2800" dirty="0" err="1"/>
              <a:t>phục</a:t>
            </a:r>
            <a:r>
              <a:rPr lang="en-US" sz="2800" dirty="0"/>
              <a:t> </a:t>
            </a:r>
            <a:r>
              <a:rPr lang="en-US" sz="2800" dirty="0" err="1"/>
              <a:t>hồi</a:t>
            </a:r>
            <a:r>
              <a:rPr lang="en-US" sz="2800" dirty="0"/>
              <a:t> session secret; </a:t>
            </a:r>
            <a:r>
              <a:rPr lang="en-US" sz="2800" dirty="0" err="1"/>
              <a:t>sau</a:t>
            </a:r>
            <a:r>
              <a:rPr lang="en-US" sz="2800" dirty="0"/>
              <a:t> </a:t>
            </a:r>
            <a:r>
              <a:rPr lang="en-US" sz="2800" dirty="0" err="1"/>
              <a:t>đó</a:t>
            </a:r>
            <a:r>
              <a:rPr lang="en-US" sz="2800" dirty="0"/>
              <a:t> </a:t>
            </a:r>
            <a:r>
              <a:rPr lang="en-US" sz="2800" dirty="0" err="1"/>
              <a:t>vá</a:t>
            </a:r>
            <a:r>
              <a:rPr lang="en-US" sz="2800" dirty="0"/>
              <a:t> (uniform error, PSS) </a:t>
            </a:r>
            <a:r>
              <a:rPr lang="en-US" sz="2800" dirty="0" err="1"/>
              <a:t>và</a:t>
            </a:r>
            <a:r>
              <a:rPr lang="en-US" sz="2800" dirty="0"/>
              <a:t> </a:t>
            </a:r>
            <a:r>
              <a:rPr lang="en-US" sz="2800" dirty="0" err="1"/>
              <a:t>kiểm</a:t>
            </a:r>
            <a:r>
              <a:rPr lang="en-US" sz="2800" dirty="0"/>
              <a:t> </a:t>
            </a:r>
            <a:r>
              <a:rPr lang="en-US" sz="2800" dirty="0" err="1"/>
              <a:t>chứng</a:t>
            </a:r>
            <a:r>
              <a:rPr lang="en-US" sz="2800" dirty="0"/>
              <a:t>.</a:t>
            </a:r>
          </a:p>
          <a:p>
            <a:pPr>
              <a:buFontTx/>
              <a:buChar char="-"/>
            </a:pPr>
            <a:r>
              <a:rPr lang="en-US" sz="2800" dirty="0"/>
              <a:t> Attack B — Timing attack: </a:t>
            </a:r>
            <a:r>
              <a:rPr lang="en-US" sz="2800" dirty="0" err="1"/>
              <a:t>đo</a:t>
            </a:r>
            <a:r>
              <a:rPr lang="en-US" sz="2800" dirty="0"/>
              <a:t> local </a:t>
            </a:r>
            <a:r>
              <a:rPr lang="en-US" sz="2800" dirty="0" err="1"/>
              <a:t>và</a:t>
            </a:r>
            <a:r>
              <a:rPr lang="en-US" sz="2800" dirty="0"/>
              <a:t> remote timing </a:t>
            </a:r>
            <a:r>
              <a:rPr lang="en-US" sz="2800" dirty="0" err="1"/>
              <a:t>để</a:t>
            </a:r>
            <a:r>
              <a:rPr lang="en-US" sz="2800" dirty="0"/>
              <a:t> </a:t>
            </a:r>
            <a:r>
              <a:rPr lang="en-US" sz="2800" dirty="0" err="1"/>
              <a:t>dò</a:t>
            </a:r>
            <a:r>
              <a:rPr lang="en-US" sz="2800" dirty="0"/>
              <a:t> </a:t>
            </a:r>
            <a:r>
              <a:rPr lang="en-US" sz="2800" dirty="0" err="1"/>
              <a:t>rò</a:t>
            </a:r>
            <a:r>
              <a:rPr lang="en-US" sz="2800" dirty="0"/>
              <a:t> </a:t>
            </a:r>
            <a:r>
              <a:rPr lang="en-US" sz="2800" dirty="0" err="1"/>
              <a:t>rỉ</a:t>
            </a:r>
            <a:r>
              <a:rPr lang="en-US" sz="2800" dirty="0"/>
              <a:t> </a:t>
            </a:r>
            <a:r>
              <a:rPr lang="en-US" sz="2800" dirty="0" err="1"/>
              <a:t>thông</a:t>
            </a:r>
            <a:r>
              <a:rPr lang="en-US" sz="2800" dirty="0"/>
              <a:t> tin </a:t>
            </a:r>
            <a:r>
              <a:rPr lang="en-US" sz="2800" dirty="0" err="1"/>
              <a:t>về</a:t>
            </a:r>
            <a:r>
              <a:rPr lang="en-US" sz="2800" dirty="0"/>
              <a:t> d; </a:t>
            </a:r>
            <a:r>
              <a:rPr lang="en-US" sz="2800" dirty="0" err="1"/>
              <a:t>đánh</a:t>
            </a:r>
            <a:r>
              <a:rPr lang="en-US" sz="2800" dirty="0"/>
              <a:t> </a:t>
            </a:r>
            <a:r>
              <a:rPr lang="en-US" sz="2800" dirty="0" err="1"/>
              <a:t>giá</a:t>
            </a:r>
            <a:r>
              <a:rPr lang="en-US" sz="2800" dirty="0"/>
              <a:t> countermeasures (exponent blinding, constant-time lib).</a:t>
            </a:r>
          </a:p>
          <a:p>
            <a:pPr>
              <a:buFontTx/>
              <a:buChar char="-"/>
            </a:pPr>
            <a:r>
              <a:rPr lang="en-US" sz="2800" dirty="0"/>
              <a:t> Attack C — Wiener / low-d: </a:t>
            </a:r>
            <a:r>
              <a:rPr lang="en-US" sz="2800" dirty="0" err="1"/>
              <a:t>sinh</a:t>
            </a:r>
            <a:r>
              <a:rPr lang="en-US" sz="2800" dirty="0"/>
              <a:t> </a:t>
            </a:r>
            <a:r>
              <a:rPr lang="en-US" sz="2800" dirty="0" err="1"/>
              <a:t>khóa</a:t>
            </a:r>
            <a:r>
              <a:rPr lang="en-US" sz="2800" dirty="0"/>
              <a:t> vulnerable (small d) </a:t>
            </a:r>
            <a:r>
              <a:rPr lang="en-US" sz="2800" dirty="0" err="1"/>
              <a:t>và</a:t>
            </a:r>
            <a:r>
              <a:rPr lang="en-US" sz="2800" dirty="0"/>
              <a:t> </a:t>
            </a:r>
            <a:r>
              <a:rPr lang="en-US" sz="2800" dirty="0" err="1"/>
              <a:t>dùng</a:t>
            </a:r>
            <a:r>
              <a:rPr lang="en-US" sz="2800" dirty="0"/>
              <a:t> </a:t>
            </a:r>
            <a:r>
              <a:rPr lang="en-US" sz="2800" dirty="0" err="1"/>
              <a:t>thuật</a:t>
            </a:r>
            <a:r>
              <a:rPr lang="en-US" sz="2800" dirty="0"/>
              <a:t> </a:t>
            </a:r>
            <a:r>
              <a:rPr lang="en-US" sz="2800" dirty="0" err="1"/>
              <a:t>toán</a:t>
            </a:r>
            <a:r>
              <a:rPr lang="en-US" sz="2800" dirty="0"/>
              <a:t> Wiener </a:t>
            </a:r>
            <a:r>
              <a:rPr lang="en-US" sz="2800" dirty="0" err="1"/>
              <a:t>để</a:t>
            </a:r>
            <a:r>
              <a:rPr lang="en-US" sz="2800" dirty="0"/>
              <a:t> </a:t>
            </a:r>
            <a:r>
              <a:rPr lang="en-US" sz="2800" dirty="0" err="1"/>
              <a:t>phục</a:t>
            </a:r>
            <a:r>
              <a:rPr lang="en-US" sz="2800" dirty="0"/>
              <a:t> </a:t>
            </a:r>
            <a:r>
              <a:rPr lang="en-US" sz="2800" dirty="0" err="1"/>
              <a:t>hồi</a:t>
            </a:r>
            <a:r>
              <a:rPr lang="en-US" sz="2800" dirty="0"/>
              <a:t> private key</a:t>
            </a:r>
          </a:p>
        </p:txBody>
      </p:sp>
    </p:spTree>
    <p:extLst>
      <p:ext uri="{BB962C8B-B14F-4D97-AF65-F5344CB8AC3E}">
        <p14:creationId xmlns:p14="http://schemas.microsoft.com/office/powerpoint/2010/main" val="289207637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2B0150-081F-3211-A95E-E15A98B8D5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263527"/>
            <a:ext cx="10058400" cy="1450757"/>
          </a:xfrm>
        </p:spPr>
        <p:txBody>
          <a:bodyPr/>
          <a:lstStyle/>
          <a:p>
            <a:r>
              <a:rPr lang="en-US" dirty="0"/>
              <a:t>Attack A - </a:t>
            </a:r>
            <a:r>
              <a:rPr lang="en-US" sz="4800" dirty="0" err="1"/>
              <a:t>Bleichenbacher</a:t>
            </a:r>
            <a:r>
              <a:rPr lang="en-US" sz="4800" dirty="0"/>
              <a:t> padding oracle 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C92A57-AE48-CD21-6442-DDCBC7625A7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877384"/>
            <a:ext cx="10515600" cy="4351338"/>
          </a:xfrm>
        </p:spPr>
        <p:txBody>
          <a:bodyPr>
            <a:normAutofit/>
          </a:bodyPr>
          <a:lstStyle/>
          <a:p>
            <a:pPr>
              <a:buFontTx/>
              <a:buChar char="-"/>
            </a:pPr>
            <a:r>
              <a:rPr lang="en-US" sz="2800" dirty="0"/>
              <a:t> </a:t>
            </a:r>
            <a:r>
              <a:rPr lang="en-US" sz="2800" dirty="0" err="1"/>
              <a:t>Mục</a:t>
            </a:r>
            <a:r>
              <a:rPr lang="en-US" sz="2800" dirty="0"/>
              <a:t> </a:t>
            </a:r>
            <a:r>
              <a:rPr lang="en-US" sz="2800" dirty="0" err="1"/>
              <a:t>tiêu</a:t>
            </a:r>
            <a:endParaRPr lang="en-US" sz="2800" dirty="0"/>
          </a:p>
          <a:p>
            <a:pPr lvl="1">
              <a:buFontTx/>
              <a:buChar char="-"/>
            </a:pPr>
            <a:r>
              <a:rPr lang="en-US" sz="2600" dirty="0"/>
              <a:t> </a:t>
            </a:r>
            <a:r>
              <a:rPr lang="en-US" sz="2600" dirty="0" err="1"/>
              <a:t>Đánh</a:t>
            </a:r>
            <a:r>
              <a:rPr lang="en-US" sz="2600" dirty="0"/>
              <a:t> </a:t>
            </a:r>
            <a:r>
              <a:rPr lang="en-US" sz="2600" dirty="0" err="1"/>
              <a:t>vào</a:t>
            </a:r>
            <a:r>
              <a:rPr lang="en-US" sz="2600" dirty="0"/>
              <a:t> </a:t>
            </a:r>
            <a:r>
              <a:rPr lang="en-US" sz="2600" dirty="0" err="1"/>
              <a:t>điểm</a:t>
            </a:r>
            <a:r>
              <a:rPr lang="en-US" sz="2600" dirty="0"/>
              <a:t> </a:t>
            </a:r>
            <a:r>
              <a:rPr lang="en-US" sz="2600" dirty="0" err="1"/>
              <a:t>yếu</a:t>
            </a:r>
            <a:r>
              <a:rPr lang="en-US" sz="2600" dirty="0"/>
              <a:t> padding </a:t>
            </a:r>
            <a:r>
              <a:rPr lang="en-US" sz="2600" dirty="0" err="1"/>
              <a:t>của</a:t>
            </a:r>
            <a:r>
              <a:rPr lang="en-US" sz="2600" dirty="0"/>
              <a:t> </a:t>
            </a:r>
            <a:r>
              <a:rPr lang="en-US" sz="2600" dirty="0" err="1"/>
              <a:t>hệ</a:t>
            </a:r>
            <a:r>
              <a:rPr lang="en-US" sz="2600" dirty="0"/>
              <a:t> </a:t>
            </a:r>
            <a:r>
              <a:rPr lang="en-US" sz="2600" dirty="0" err="1"/>
              <a:t>thống</a:t>
            </a:r>
            <a:endParaRPr lang="en-US" sz="2600" dirty="0"/>
          </a:p>
          <a:p>
            <a:pPr lvl="1">
              <a:buFontTx/>
              <a:buChar char="-"/>
            </a:pPr>
            <a:r>
              <a:rPr lang="en-US" sz="2600" dirty="0"/>
              <a:t> </a:t>
            </a:r>
            <a:r>
              <a:rPr lang="en-US" sz="2600" dirty="0" err="1"/>
              <a:t>Không</a:t>
            </a:r>
            <a:r>
              <a:rPr lang="en-US" sz="2600" dirty="0"/>
              <a:t> </a:t>
            </a:r>
            <a:r>
              <a:rPr lang="en-US" sz="2600" dirty="0" err="1"/>
              <a:t>cần</a:t>
            </a:r>
            <a:r>
              <a:rPr lang="en-US" sz="2600" dirty="0"/>
              <a:t> private key, </a:t>
            </a:r>
            <a:r>
              <a:rPr lang="en-US" sz="2600" dirty="0" err="1"/>
              <a:t>chỉ</a:t>
            </a:r>
            <a:r>
              <a:rPr lang="en-US" sz="2600" dirty="0"/>
              <a:t> </a:t>
            </a:r>
            <a:r>
              <a:rPr lang="en-US" sz="2600" dirty="0" err="1"/>
              <a:t>cần</a:t>
            </a:r>
            <a:r>
              <a:rPr lang="en-US" sz="2600" dirty="0"/>
              <a:t> </a:t>
            </a:r>
            <a:r>
              <a:rPr lang="en-US" sz="2600" dirty="0" err="1"/>
              <a:t>tồn</a:t>
            </a:r>
            <a:r>
              <a:rPr lang="en-US" sz="2600" dirty="0"/>
              <a:t> </a:t>
            </a:r>
            <a:r>
              <a:rPr lang="en-US" sz="2600" dirty="0" err="1"/>
              <a:t>tại</a:t>
            </a:r>
            <a:r>
              <a:rPr lang="en-US" sz="2600" dirty="0"/>
              <a:t> oracle </a:t>
            </a:r>
          </a:p>
          <a:p>
            <a:pPr>
              <a:buFontTx/>
              <a:buChar char="-"/>
            </a:pPr>
            <a:r>
              <a:rPr lang="en-US" sz="2800" dirty="0"/>
              <a:t> </a:t>
            </a:r>
            <a:r>
              <a:rPr lang="en-US" sz="2800" dirty="0" err="1"/>
              <a:t>Điều</a:t>
            </a:r>
            <a:r>
              <a:rPr lang="en-US" sz="2800" dirty="0"/>
              <a:t> </a:t>
            </a:r>
            <a:r>
              <a:rPr lang="en-US" sz="2800" dirty="0" err="1"/>
              <a:t>kiện</a:t>
            </a:r>
            <a:r>
              <a:rPr lang="en-US" sz="2800" dirty="0"/>
              <a:t> </a:t>
            </a:r>
          </a:p>
          <a:p>
            <a:pPr lvl="1">
              <a:buFontTx/>
              <a:buChar char="-"/>
            </a:pPr>
            <a:r>
              <a:rPr lang="en-US" sz="2600" dirty="0"/>
              <a:t> Server </a:t>
            </a:r>
            <a:r>
              <a:rPr lang="en-US" sz="2600" dirty="0" err="1"/>
              <a:t>sử</a:t>
            </a:r>
            <a:r>
              <a:rPr lang="en-US" sz="2600" dirty="0"/>
              <a:t> </a:t>
            </a:r>
            <a:r>
              <a:rPr lang="en-US" sz="2600" dirty="0" err="1"/>
              <a:t>dụng</a:t>
            </a:r>
            <a:r>
              <a:rPr lang="en-US" sz="2600" dirty="0"/>
              <a:t> RSA key exchange + PKCS#1 v1.5</a:t>
            </a:r>
          </a:p>
          <a:p>
            <a:pPr lvl="1">
              <a:buFontTx/>
              <a:buChar char="-"/>
            </a:pPr>
            <a:r>
              <a:rPr lang="en-US" sz="2600" dirty="0"/>
              <a:t> Server </a:t>
            </a:r>
            <a:r>
              <a:rPr lang="en-US" sz="2600" dirty="0" err="1"/>
              <a:t>phản</a:t>
            </a:r>
            <a:r>
              <a:rPr lang="en-US" sz="2600" dirty="0"/>
              <a:t> </a:t>
            </a:r>
            <a:r>
              <a:rPr lang="en-US" sz="2600" dirty="0" err="1"/>
              <a:t>hồi</a:t>
            </a:r>
            <a:r>
              <a:rPr lang="en-US" sz="2600" dirty="0"/>
              <a:t> </a:t>
            </a:r>
            <a:r>
              <a:rPr lang="en-US" sz="2600" dirty="0" err="1"/>
              <a:t>khác</a:t>
            </a:r>
            <a:r>
              <a:rPr lang="en-US" sz="2600" dirty="0"/>
              <a:t> </a:t>
            </a:r>
            <a:r>
              <a:rPr lang="en-US" sz="2600" dirty="0" err="1"/>
              <a:t>nhau</a:t>
            </a:r>
            <a:r>
              <a:rPr lang="en-US" sz="2600" dirty="0"/>
              <a:t> </a:t>
            </a:r>
            <a:r>
              <a:rPr lang="en-US" sz="2600" dirty="0" err="1"/>
              <a:t>khi</a:t>
            </a:r>
            <a:r>
              <a:rPr lang="en-US" sz="2600" dirty="0"/>
              <a:t> padding </a:t>
            </a:r>
            <a:r>
              <a:rPr lang="en-US" sz="2600" dirty="0" err="1"/>
              <a:t>hợp</a:t>
            </a:r>
            <a:r>
              <a:rPr lang="en-US" sz="2600" dirty="0"/>
              <a:t> </a:t>
            </a:r>
            <a:r>
              <a:rPr lang="en-US" sz="2600" dirty="0" err="1"/>
              <a:t>và</a:t>
            </a:r>
            <a:r>
              <a:rPr lang="en-US" sz="2600" dirty="0"/>
              <a:t> </a:t>
            </a:r>
            <a:r>
              <a:rPr lang="en-US" sz="2600" dirty="0" err="1"/>
              <a:t>không</a:t>
            </a:r>
            <a:r>
              <a:rPr lang="en-US" sz="2600" dirty="0"/>
              <a:t> </a:t>
            </a:r>
            <a:r>
              <a:rPr lang="en-US" sz="2600" dirty="0" err="1"/>
              <a:t>hợp</a:t>
            </a:r>
            <a:r>
              <a:rPr lang="en-US" sz="2600" dirty="0"/>
              <a:t> </a:t>
            </a:r>
            <a:r>
              <a:rPr lang="en-US" sz="2600" dirty="0" err="1"/>
              <a:t>lệ</a:t>
            </a:r>
            <a:endParaRPr lang="en-US" sz="2600" dirty="0"/>
          </a:p>
          <a:p>
            <a:pPr>
              <a:buFontTx/>
              <a:buChar char="-"/>
            </a:pPr>
            <a:r>
              <a:rPr lang="en-US" sz="2800" dirty="0"/>
              <a:t> Attacker </a:t>
            </a:r>
            <a:r>
              <a:rPr lang="en-US" sz="2800" dirty="0" err="1"/>
              <a:t>được</a:t>
            </a:r>
            <a:r>
              <a:rPr lang="en-US" sz="2800" dirty="0"/>
              <a:t> </a:t>
            </a:r>
            <a:r>
              <a:rPr lang="en-US" sz="2800" dirty="0" err="1"/>
              <a:t>gửi</a:t>
            </a:r>
            <a:r>
              <a:rPr lang="en-US" sz="2800" dirty="0"/>
              <a:t> ciphertext </a:t>
            </a:r>
            <a:r>
              <a:rPr lang="en-US" sz="2800" dirty="0" err="1"/>
              <a:t>tùy</a:t>
            </a:r>
            <a:r>
              <a:rPr lang="en-US" sz="2800" dirty="0"/>
              <a:t> ý </a:t>
            </a:r>
            <a:r>
              <a:rPr lang="en-US" sz="2800" dirty="0" err="1"/>
              <a:t>liên</a:t>
            </a:r>
            <a:r>
              <a:rPr lang="en-US" sz="2800" dirty="0"/>
              <a:t> </a:t>
            </a:r>
            <a:r>
              <a:rPr lang="en-US" sz="2800" dirty="0" err="1"/>
              <a:t>tục</a:t>
            </a:r>
            <a:r>
              <a:rPr lang="en-US" sz="2800" dirty="0"/>
              <a:t> </a:t>
            </a:r>
            <a:r>
              <a:rPr lang="en-US" sz="2800" dirty="0" err="1"/>
              <a:t>và</a:t>
            </a:r>
            <a:r>
              <a:rPr lang="en-US" sz="2800" dirty="0"/>
              <a:t> </a:t>
            </a:r>
            <a:r>
              <a:rPr lang="en-US" sz="2800" dirty="0" err="1"/>
              <a:t>quan</a:t>
            </a:r>
            <a:r>
              <a:rPr lang="en-US" sz="2800" dirty="0"/>
              <a:t> </a:t>
            </a:r>
            <a:r>
              <a:rPr lang="en-US" sz="2800" dirty="0" err="1"/>
              <a:t>sát</a:t>
            </a:r>
            <a:r>
              <a:rPr lang="en-US" sz="2800" dirty="0"/>
              <a:t> </a:t>
            </a:r>
            <a:r>
              <a:rPr lang="en-US" sz="2800" dirty="0" err="1"/>
              <a:t>phản</a:t>
            </a:r>
            <a:r>
              <a:rPr lang="en-US" sz="2800" dirty="0"/>
              <a:t> </a:t>
            </a:r>
            <a:r>
              <a:rPr lang="en-US" sz="2800" dirty="0" err="1"/>
              <a:t>hồi</a:t>
            </a:r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197601932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2B0150-081F-3211-A95E-E15A98B8D5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6800" y="277442"/>
            <a:ext cx="10058400" cy="1450757"/>
          </a:xfrm>
        </p:spPr>
        <p:txBody>
          <a:bodyPr/>
          <a:lstStyle/>
          <a:p>
            <a:pPr algn="ctr"/>
            <a:r>
              <a:rPr lang="en-US" dirty="0"/>
              <a:t>PKCS#1 v1.5 Padding</a:t>
            </a:r>
          </a:p>
        </p:txBody>
      </p:sp>
      <p:pic>
        <p:nvPicPr>
          <p:cNvPr id="1026" name="Picture 2" descr="rsa - Why PS does differ between PKCS1 v1.5 padding for signature ...">
            <a:extLst>
              <a:ext uri="{FF2B5EF4-FFF2-40B4-BE49-F238E27FC236}">
                <a16:creationId xmlns:a16="http://schemas.microsoft.com/office/drawing/2014/main" id="{BDDA7800-D983-6D82-685C-503D3E5D285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65772" y="2055243"/>
            <a:ext cx="8915400" cy="3886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1315134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2B0150-081F-3211-A95E-E15A98B8D5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7650" y="254002"/>
            <a:ext cx="10058400" cy="1450757"/>
          </a:xfrm>
        </p:spPr>
        <p:txBody>
          <a:bodyPr/>
          <a:lstStyle/>
          <a:p>
            <a:r>
              <a:rPr lang="en-US" dirty="0"/>
              <a:t>Padding Oracle </a:t>
            </a:r>
            <a:r>
              <a:rPr lang="en-US" dirty="0" err="1"/>
              <a:t>là</a:t>
            </a:r>
            <a:r>
              <a:rPr lang="en-US" dirty="0"/>
              <a:t> </a:t>
            </a:r>
            <a:r>
              <a:rPr lang="en-US" dirty="0" err="1"/>
              <a:t>gì</a:t>
            </a:r>
            <a:r>
              <a:rPr lang="en-US" dirty="0"/>
              <a:t>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C92A57-AE48-CD21-6442-DDCBC7625A7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47650" y="1972634"/>
            <a:ext cx="10515600" cy="4351338"/>
          </a:xfrm>
        </p:spPr>
        <p:txBody>
          <a:bodyPr>
            <a:normAutofit/>
          </a:bodyPr>
          <a:lstStyle/>
          <a:p>
            <a:pPr>
              <a:buFontTx/>
              <a:buChar char="-"/>
            </a:pPr>
            <a:r>
              <a:rPr lang="en-US" sz="2800" dirty="0">
                <a:latin typeface="Calibri (Body)"/>
              </a:rPr>
              <a:t> </a:t>
            </a:r>
            <a:r>
              <a:rPr lang="en-US" sz="2800" dirty="0" err="1">
                <a:latin typeface="Calibri (Body)"/>
              </a:rPr>
              <a:t>Là</a:t>
            </a:r>
            <a:r>
              <a:rPr lang="en-US" sz="2800" dirty="0">
                <a:latin typeface="Calibri (Body)"/>
              </a:rPr>
              <a:t> </a:t>
            </a:r>
            <a:r>
              <a:rPr lang="vi-VN" sz="2800" dirty="0">
                <a:latin typeface="Calibri (Body)"/>
              </a:rPr>
              <a:t>một thành phần cho phép attacker biết </a:t>
            </a:r>
            <a:r>
              <a:rPr lang="vi-VN" sz="2800" b="1" dirty="0">
                <a:latin typeface="Calibri (Body)"/>
              </a:rPr>
              <a:t>ciphertext sau khi decrypt có vượt qua kiểm tra padding hay không</a:t>
            </a:r>
            <a:r>
              <a:rPr lang="vi-VN" sz="2800" dirty="0">
                <a:latin typeface="Calibri (Body)"/>
              </a:rPr>
              <a:t>, thông qua </a:t>
            </a:r>
            <a:r>
              <a:rPr lang="vi-VN" sz="2800" b="1" dirty="0">
                <a:latin typeface="Calibri (Body)"/>
              </a:rPr>
              <a:t>phản hồi hoặc timing khác nhau</a:t>
            </a:r>
            <a:r>
              <a:rPr lang="vi-VN" sz="2800" dirty="0">
                <a:latin typeface="Calibri (Body)"/>
              </a:rPr>
              <a:t>.</a:t>
            </a:r>
            <a:endParaRPr lang="en-US" sz="2800" dirty="0">
              <a:latin typeface="Calibri (Body)"/>
            </a:endParaRPr>
          </a:p>
          <a:p>
            <a:pPr>
              <a:buFontTx/>
              <a:buChar char="-"/>
            </a:pPr>
            <a:r>
              <a:rPr lang="en-US" sz="2800" dirty="0">
                <a:latin typeface="Calibri (Body)"/>
              </a:rPr>
              <a:t> Khi server </a:t>
            </a:r>
            <a:r>
              <a:rPr lang="en-US" sz="2800" dirty="0" err="1">
                <a:latin typeface="Calibri (Body)"/>
              </a:rPr>
              <a:t>thực</a:t>
            </a:r>
            <a:r>
              <a:rPr lang="en-US" sz="2800" dirty="0">
                <a:latin typeface="Calibri (Body)"/>
              </a:rPr>
              <a:t> </a:t>
            </a:r>
            <a:r>
              <a:rPr lang="en-US" sz="2800" dirty="0" err="1">
                <a:latin typeface="Calibri (Body)"/>
              </a:rPr>
              <a:t>hiện</a:t>
            </a:r>
            <a:r>
              <a:rPr lang="en-US" sz="2800" dirty="0">
                <a:latin typeface="Calibri (Body)"/>
              </a:rPr>
              <a:t> </a:t>
            </a:r>
            <a:r>
              <a:rPr lang="en-US" sz="2800" dirty="0" err="1">
                <a:latin typeface="Calibri (Body)"/>
              </a:rPr>
              <a:t>giải</a:t>
            </a:r>
            <a:r>
              <a:rPr lang="en-US" sz="2800" dirty="0">
                <a:latin typeface="Calibri (Body)"/>
              </a:rPr>
              <a:t> </a:t>
            </a:r>
            <a:r>
              <a:rPr lang="en-US" sz="2800" dirty="0" err="1">
                <a:latin typeface="Calibri (Body)"/>
              </a:rPr>
              <a:t>mã</a:t>
            </a:r>
            <a:r>
              <a:rPr lang="en-US" sz="2800" dirty="0">
                <a:latin typeface="Calibri (Body)"/>
              </a:rPr>
              <a:t> RSA </a:t>
            </a:r>
            <a:r>
              <a:rPr lang="en-US" sz="2800" dirty="0" err="1">
                <a:latin typeface="Calibri (Body)"/>
              </a:rPr>
              <a:t>hoặc</a:t>
            </a:r>
            <a:r>
              <a:rPr lang="en-US" sz="2800" dirty="0">
                <a:latin typeface="Calibri (Body)"/>
              </a:rPr>
              <a:t> </a:t>
            </a:r>
            <a:r>
              <a:rPr lang="en-US" sz="2800" dirty="0" err="1">
                <a:latin typeface="Calibri (Body)"/>
              </a:rPr>
              <a:t>kiểm</a:t>
            </a:r>
            <a:r>
              <a:rPr lang="en-US" sz="2800" dirty="0">
                <a:latin typeface="Calibri (Body)"/>
              </a:rPr>
              <a:t> </a:t>
            </a:r>
            <a:r>
              <a:rPr lang="en-US" sz="2800" dirty="0" err="1">
                <a:latin typeface="Calibri (Body)"/>
              </a:rPr>
              <a:t>tra</a:t>
            </a:r>
            <a:r>
              <a:rPr lang="en-US" sz="2800" dirty="0">
                <a:latin typeface="Calibri (Body)"/>
              </a:rPr>
              <a:t> padding PKCS#1 v1.5, server </a:t>
            </a:r>
            <a:r>
              <a:rPr lang="en-US" sz="2800" dirty="0" err="1">
                <a:latin typeface="Calibri (Body)"/>
              </a:rPr>
              <a:t>sẽ</a:t>
            </a:r>
            <a:r>
              <a:rPr lang="en-US" sz="2800" dirty="0">
                <a:latin typeface="Calibri (Body)"/>
              </a:rPr>
              <a:t> </a:t>
            </a:r>
            <a:r>
              <a:rPr lang="en-US" sz="2800" dirty="0" err="1">
                <a:latin typeface="Calibri (Body)"/>
              </a:rPr>
              <a:t>để</a:t>
            </a:r>
            <a:r>
              <a:rPr lang="en-US" sz="2800" dirty="0">
                <a:latin typeface="Calibri (Body)"/>
              </a:rPr>
              <a:t> </a:t>
            </a:r>
            <a:r>
              <a:rPr lang="en-US" sz="2800" dirty="0" err="1">
                <a:latin typeface="Calibri (Body)"/>
              </a:rPr>
              <a:t>lộ</a:t>
            </a:r>
            <a:r>
              <a:rPr lang="en-US" sz="2800" dirty="0">
                <a:latin typeface="Calibri (Body)"/>
              </a:rPr>
              <a:t> </a:t>
            </a:r>
            <a:r>
              <a:rPr lang="en-US" sz="2800" dirty="0" err="1">
                <a:latin typeface="Calibri (Body)"/>
              </a:rPr>
              <a:t>kết</a:t>
            </a:r>
            <a:r>
              <a:rPr lang="en-US" sz="2800" dirty="0">
                <a:latin typeface="Calibri (Body)"/>
              </a:rPr>
              <a:t> </a:t>
            </a:r>
            <a:r>
              <a:rPr lang="en-US" sz="2800" dirty="0" err="1">
                <a:latin typeface="Calibri (Body)"/>
              </a:rPr>
              <a:t>quả</a:t>
            </a:r>
            <a:r>
              <a:rPr lang="en-US" sz="2800" dirty="0">
                <a:latin typeface="Calibri (Body)"/>
              </a:rPr>
              <a:t> </a:t>
            </a:r>
            <a:r>
              <a:rPr lang="en-US" sz="2800" dirty="0" err="1">
                <a:latin typeface="Calibri (Body)"/>
              </a:rPr>
              <a:t>kiểm</a:t>
            </a:r>
            <a:r>
              <a:rPr lang="en-US" sz="2800" dirty="0">
                <a:latin typeface="Calibri (Body)"/>
              </a:rPr>
              <a:t> </a:t>
            </a:r>
            <a:r>
              <a:rPr lang="en-US" sz="2800" dirty="0" err="1">
                <a:latin typeface="Calibri (Body)"/>
              </a:rPr>
              <a:t>tra</a:t>
            </a:r>
            <a:r>
              <a:rPr lang="en-US" sz="2800" dirty="0">
                <a:latin typeface="Calibri (Body)"/>
              </a:rPr>
              <a:t> padding:</a:t>
            </a:r>
          </a:p>
          <a:p>
            <a:pPr lvl="1">
              <a:buFontTx/>
              <a:buChar char="-"/>
            </a:pPr>
            <a:r>
              <a:rPr lang="en-US" sz="2600" dirty="0" err="1">
                <a:latin typeface="Calibri (Body)"/>
              </a:rPr>
              <a:t>Trả</a:t>
            </a:r>
            <a:r>
              <a:rPr lang="en-US" sz="2600" dirty="0">
                <a:latin typeface="Calibri (Body)"/>
              </a:rPr>
              <a:t> </a:t>
            </a:r>
            <a:r>
              <a:rPr lang="en-US" sz="2600" dirty="0" err="1">
                <a:latin typeface="Calibri (Body)"/>
              </a:rPr>
              <a:t>về</a:t>
            </a:r>
            <a:r>
              <a:rPr lang="en-US" sz="2600" dirty="0">
                <a:latin typeface="Calibri (Body)"/>
              </a:rPr>
              <a:t> OK/FAIL</a:t>
            </a:r>
          </a:p>
          <a:p>
            <a:pPr lvl="1">
              <a:buFontTx/>
              <a:buChar char="-"/>
            </a:pPr>
            <a:r>
              <a:rPr lang="en-US" sz="2600" dirty="0">
                <a:latin typeface="Calibri (Body)"/>
              </a:rPr>
              <a:t>Timing </a:t>
            </a:r>
            <a:r>
              <a:rPr lang="en-US" sz="2600" dirty="0" err="1">
                <a:latin typeface="Calibri (Body)"/>
              </a:rPr>
              <a:t>khác</a:t>
            </a:r>
            <a:r>
              <a:rPr lang="en-US" sz="2600" dirty="0">
                <a:latin typeface="Calibri (Body)"/>
              </a:rPr>
              <a:t> </a:t>
            </a:r>
            <a:r>
              <a:rPr lang="en-US" sz="2600" dirty="0" err="1">
                <a:latin typeface="Calibri (Body)"/>
              </a:rPr>
              <a:t>nhau</a:t>
            </a:r>
            <a:endParaRPr lang="en-US" sz="2600" dirty="0">
              <a:latin typeface="Calibri (Body)"/>
            </a:endParaRPr>
          </a:p>
        </p:txBody>
      </p:sp>
    </p:spTree>
    <p:extLst>
      <p:ext uri="{BB962C8B-B14F-4D97-AF65-F5344CB8AC3E}">
        <p14:creationId xmlns:p14="http://schemas.microsoft.com/office/powerpoint/2010/main" val="266328693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2B0150-081F-3211-A95E-E15A98B8D5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263527"/>
            <a:ext cx="10058400" cy="1450757"/>
          </a:xfrm>
        </p:spPr>
        <p:txBody>
          <a:bodyPr/>
          <a:lstStyle/>
          <a:p>
            <a:r>
              <a:rPr lang="en-US" dirty="0"/>
              <a:t>Attack A - </a:t>
            </a:r>
            <a:r>
              <a:rPr lang="en-US" sz="4800" dirty="0" err="1"/>
              <a:t>Bleichenbacher</a:t>
            </a:r>
            <a:r>
              <a:rPr lang="en-US" sz="4800" dirty="0"/>
              <a:t> padding oracle </a:t>
            </a:r>
            <a:endParaRPr lang="en-US" dirty="0"/>
          </a:p>
        </p:txBody>
      </p:sp>
      <p:pic>
        <p:nvPicPr>
          <p:cNvPr id="31" name="Content Placeholder 30" descr="A diagram of a computer&#10;&#10;AI-generated content may be incorrect.">
            <a:extLst>
              <a:ext uri="{FF2B5EF4-FFF2-40B4-BE49-F238E27FC236}">
                <a16:creationId xmlns:a16="http://schemas.microsoft.com/office/drawing/2014/main" id="{5E5E9C88-CB8B-0BEA-A81F-FBA26CF5E62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631058"/>
            <a:ext cx="12192000" cy="2301754"/>
          </a:xfrm>
        </p:spPr>
      </p:pic>
    </p:spTree>
    <p:extLst>
      <p:ext uri="{BB962C8B-B14F-4D97-AF65-F5344CB8AC3E}">
        <p14:creationId xmlns:p14="http://schemas.microsoft.com/office/powerpoint/2010/main" val="171047237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2B0150-081F-3211-A95E-E15A98B8D5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263527"/>
            <a:ext cx="10058400" cy="1450757"/>
          </a:xfrm>
        </p:spPr>
        <p:txBody>
          <a:bodyPr/>
          <a:lstStyle/>
          <a:p>
            <a:r>
              <a:rPr lang="en-US" dirty="0"/>
              <a:t>Attack A - </a:t>
            </a:r>
            <a:r>
              <a:rPr lang="en-US" sz="4800" dirty="0" err="1"/>
              <a:t>Bleichenbacher</a:t>
            </a:r>
            <a:r>
              <a:rPr lang="en-US" sz="4800" dirty="0"/>
              <a:t> padding oracle 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5CC01D4-651F-4472-7EE1-4BFB0762C3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2145" y="1948383"/>
            <a:ext cx="7240846" cy="1848884"/>
          </a:xfrm>
        </p:spPr>
        <p:txBody>
          <a:bodyPr>
            <a:normAutofit/>
          </a:bodyPr>
          <a:lstStyle/>
          <a:p>
            <a:r>
              <a:rPr lang="en-US" dirty="0"/>
              <a:t>- Demo Lab:</a:t>
            </a:r>
          </a:p>
          <a:p>
            <a:pPr lvl="1"/>
            <a:r>
              <a:rPr lang="en-US" dirty="0"/>
              <a:t>Server </a:t>
            </a:r>
            <a:r>
              <a:rPr lang="en-US" dirty="0" err="1"/>
              <a:t>dùng</a:t>
            </a:r>
            <a:r>
              <a:rPr lang="en-US" dirty="0"/>
              <a:t> RSA PCKS#1 v1.5 </a:t>
            </a:r>
            <a:r>
              <a:rPr lang="en-US" dirty="0" err="1"/>
              <a:t>để</a:t>
            </a:r>
            <a:r>
              <a:rPr lang="en-US" dirty="0"/>
              <a:t> gen key </a:t>
            </a:r>
            <a:r>
              <a:rPr lang="en-US" dirty="0" err="1"/>
              <a:t>và</a:t>
            </a:r>
            <a:r>
              <a:rPr lang="en-US" dirty="0"/>
              <a:t> </a:t>
            </a:r>
            <a:r>
              <a:rPr lang="en-US" dirty="0" err="1"/>
              <a:t>giải</a:t>
            </a:r>
            <a:r>
              <a:rPr lang="en-US" dirty="0"/>
              <a:t> </a:t>
            </a:r>
            <a:r>
              <a:rPr lang="en-US" dirty="0" err="1"/>
              <a:t>mã</a:t>
            </a:r>
            <a:endParaRPr lang="en-US" dirty="0"/>
          </a:p>
          <a:p>
            <a:pPr lvl="1"/>
            <a:r>
              <a:rPr lang="en-US" dirty="0"/>
              <a:t>Server </a:t>
            </a:r>
            <a:r>
              <a:rPr lang="en-US" dirty="0" err="1"/>
              <a:t>trả</a:t>
            </a:r>
            <a:r>
              <a:rPr lang="en-US" dirty="0"/>
              <a:t> </a:t>
            </a:r>
            <a:r>
              <a:rPr lang="en-US" dirty="0" err="1"/>
              <a:t>về</a:t>
            </a:r>
            <a:r>
              <a:rPr lang="en-US" dirty="0"/>
              <a:t> OK/FAIL</a:t>
            </a:r>
          </a:p>
          <a:p>
            <a:r>
              <a:rPr lang="en-US" dirty="0"/>
              <a:t>- </a:t>
            </a:r>
            <a:r>
              <a:rPr lang="en-US" dirty="0" err="1"/>
              <a:t>Phục</a:t>
            </a:r>
            <a:r>
              <a:rPr lang="en-US" dirty="0"/>
              <a:t> </a:t>
            </a:r>
            <a:r>
              <a:rPr lang="en-US" dirty="0" err="1"/>
              <a:t>hồi</a:t>
            </a:r>
            <a:r>
              <a:rPr lang="en-US" dirty="0"/>
              <a:t> 48 byte premaster secret (plaintext)</a:t>
            </a:r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4D32CD3A-B210-41D0-F547-DA6B19A8E9F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797268"/>
            <a:ext cx="7352990" cy="2555257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E7108EC3-6A2C-AE20-EF98-01E93F2FDC1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52990" y="2059583"/>
            <a:ext cx="4839010" cy="42929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009980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2B0150-081F-3211-A95E-E15A98B8D5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263527"/>
            <a:ext cx="10058400" cy="1450757"/>
          </a:xfrm>
        </p:spPr>
        <p:txBody>
          <a:bodyPr/>
          <a:lstStyle/>
          <a:p>
            <a:r>
              <a:rPr lang="en-US" dirty="0" err="1"/>
              <a:t>Kết</a:t>
            </a:r>
            <a:r>
              <a:rPr lang="en-US" dirty="0"/>
              <a:t> </a:t>
            </a:r>
            <a:r>
              <a:rPr lang="en-US" dirty="0" err="1"/>
              <a:t>quả</a:t>
            </a:r>
            <a:r>
              <a:rPr lang="en-US" dirty="0"/>
              <a:t> - Attack A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9F61B6EB-A329-0870-5659-F3DECF4D066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57968570"/>
              </p:ext>
            </p:extLst>
          </p:nvPr>
        </p:nvGraphicFramePr>
        <p:xfrm>
          <a:off x="847592" y="1837396"/>
          <a:ext cx="10056810" cy="4023206"/>
        </p:xfrm>
        <a:graphic>
          <a:graphicData uri="http://schemas.openxmlformats.org/drawingml/2006/table">
            <a:tbl>
              <a:tblPr/>
              <a:tblGrid>
                <a:gridCol w="2011362">
                  <a:extLst>
                    <a:ext uri="{9D8B030D-6E8A-4147-A177-3AD203B41FA5}">
                      <a16:colId xmlns:a16="http://schemas.microsoft.com/office/drawing/2014/main" val="1153841641"/>
                    </a:ext>
                  </a:extLst>
                </a:gridCol>
                <a:gridCol w="2011362">
                  <a:extLst>
                    <a:ext uri="{9D8B030D-6E8A-4147-A177-3AD203B41FA5}">
                      <a16:colId xmlns:a16="http://schemas.microsoft.com/office/drawing/2014/main" val="4206797455"/>
                    </a:ext>
                  </a:extLst>
                </a:gridCol>
                <a:gridCol w="2011362">
                  <a:extLst>
                    <a:ext uri="{9D8B030D-6E8A-4147-A177-3AD203B41FA5}">
                      <a16:colId xmlns:a16="http://schemas.microsoft.com/office/drawing/2014/main" val="2453286802"/>
                    </a:ext>
                  </a:extLst>
                </a:gridCol>
                <a:gridCol w="2011362">
                  <a:extLst>
                    <a:ext uri="{9D8B030D-6E8A-4147-A177-3AD203B41FA5}">
                      <a16:colId xmlns:a16="http://schemas.microsoft.com/office/drawing/2014/main" val="1995105878"/>
                    </a:ext>
                  </a:extLst>
                </a:gridCol>
                <a:gridCol w="2011362">
                  <a:extLst>
                    <a:ext uri="{9D8B030D-6E8A-4147-A177-3AD203B41FA5}">
                      <a16:colId xmlns:a16="http://schemas.microsoft.com/office/drawing/2014/main" val="2954228350"/>
                    </a:ext>
                  </a:extLst>
                </a:gridCol>
              </a:tblGrid>
              <a:tr h="365702">
                <a:tc>
                  <a:txBody>
                    <a:bodyPr/>
                    <a:lstStyle/>
                    <a:p>
                      <a:r>
                        <a:rPr lang="en-US" sz="1800"/>
                        <a:t>Run</a:t>
                      </a:r>
                    </a:p>
                  </a:txBody>
                  <a:tcPr marL="91426" marR="91426" marT="45713" marB="4571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/>
                        <a:t>Queries</a:t>
                      </a:r>
                    </a:p>
                  </a:txBody>
                  <a:tcPr marL="91426" marR="91426" marT="45713" marB="4571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/>
                        <a:t>Time (s)</a:t>
                      </a:r>
                    </a:p>
                  </a:txBody>
                  <a:tcPr marL="91426" marR="91426" marT="45713" marB="4571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/>
                        <a:t>Avg / query (s)</a:t>
                      </a:r>
                    </a:p>
                  </a:txBody>
                  <a:tcPr marL="91426" marR="91426" marT="45713" marB="4571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 dirty="0"/>
                        <a:t>QPS</a:t>
                      </a:r>
                    </a:p>
                  </a:txBody>
                  <a:tcPr marL="91426" marR="91426" marT="45713" marB="4571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19889057"/>
                  </a:ext>
                </a:extLst>
              </a:tr>
              <a:tr h="365702">
                <a:tc>
                  <a:txBody>
                    <a:bodyPr/>
                    <a:lstStyle/>
                    <a:p>
                      <a:r>
                        <a:rPr lang="en-US" sz="1800" dirty="0"/>
                        <a:t>1</a:t>
                      </a:r>
                    </a:p>
                  </a:txBody>
                  <a:tcPr marL="91426" marR="91426" marT="45713" marB="4571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/>
                        <a:t>183,346</a:t>
                      </a:r>
                    </a:p>
                  </a:txBody>
                  <a:tcPr marL="91426" marR="91426" marT="45713" marB="4571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/>
                        <a:t>360.38</a:t>
                      </a:r>
                    </a:p>
                  </a:txBody>
                  <a:tcPr marL="91426" marR="91426" marT="45713" marB="4571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/>
                        <a:t>0.001966</a:t>
                      </a:r>
                    </a:p>
                  </a:txBody>
                  <a:tcPr marL="91426" marR="91426" marT="45713" marB="4571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/>
                        <a:t>508.76</a:t>
                      </a:r>
                    </a:p>
                  </a:txBody>
                  <a:tcPr marL="91426" marR="91426" marT="45713" marB="4571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24757432"/>
                  </a:ext>
                </a:extLst>
              </a:tr>
              <a:tr h="365702">
                <a:tc>
                  <a:txBody>
                    <a:bodyPr/>
                    <a:lstStyle/>
                    <a:p>
                      <a:r>
                        <a:rPr lang="en-US" sz="1800"/>
                        <a:t>2</a:t>
                      </a:r>
                    </a:p>
                  </a:txBody>
                  <a:tcPr marL="91426" marR="91426" marT="45713" marB="4571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/>
                        <a:t>194,874</a:t>
                      </a:r>
                    </a:p>
                  </a:txBody>
                  <a:tcPr marL="91426" marR="91426" marT="45713" marB="4571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/>
                        <a:t>381.57</a:t>
                      </a:r>
                    </a:p>
                  </a:txBody>
                  <a:tcPr marL="91426" marR="91426" marT="45713" marB="4571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/>
                        <a:t>0.001958</a:t>
                      </a:r>
                    </a:p>
                  </a:txBody>
                  <a:tcPr marL="91426" marR="91426" marT="45713" marB="4571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/>
                        <a:t>510.72</a:t>
                      </a:r>
                    </a:p>
                  </a:txBody>
                  <a:tcPr marL="91426" marR="91426" marT="45713" marB="4571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30206877"/>
                  </a:ext>
                </a:extLst>
              </a:tr>
              <a:tr h="365702">
                <a:tc>
                  <a:txBody>
                    <a:bodyPr/>
                    <a:lstStyle/>
                    <a:p>
                      <a:r>
                        <a:rPr lang="en-US" sz="1800"/>
                        <a:t>3</a:t>
                      </a:r>
                    </a:p>
                  </a:txBody>
                  <a:tcPr marL="91426" marR="91426" marT="45713" marB="4571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/>
                        <a:t>298,513</a:t>
                      </a:r>
                    </a:p>
                  </a:txBody>
                  <a:tcPr marL="91426" marR="91426" marT="45713" marB="4571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/>
                        <a:t>576.78</a:t>
                      </a:r>
                    </a:p>
                  </a:txBody>
                  <a:tcPr marL="91426" marR="91426" marT="45713" marB="4571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/>
                        <a:t>0.001932</a:t>
                      </a:r>
                    </a:p>
                  </a:txBody>
                  <a:tcPr marL="91426" marR="91426" marT="45713" marB="4571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/>
                        <a:t>517.55</a:t>
                      </a:r>
                    </a:p>
                  </a:txBody>
                  <a:tcPr marL="91426" marR="91426" marT="45713" marB="4571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74270124"/>
                  </a:ext>
                </a:extLst>
              </a:tr>
              <a:tr h="365702">
                <a:tc>
                  <a:txBody>
                    <a:bodyPr/>
                    <a:lstStyle/>
                    <a:p>
                      <a:r>
                        <a:rPr lang="en-US" sz="1800" dirty="0"/>
                        <a:t>4</a:t>
                      </a:r>
                    </a:p>
                  </a:txBody>
                  <a:tcPr marL="91426" marR="91426" marT="45713" marB="4571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/>
                        <a:t>53,511</a:t>
                      </a:r>
                    </a:p>
                  </a:txBody>
                  <a:tcPr marL="91426" marR="91426" marT="45713" marB="4571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/>
                        <a:t>107.14</a:t>
                      </a:r>
                    </a:p>
                  </a:txBody>
                  <a:tcPr marL="91426" marR="91426" marT="45713" marB="4571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/>
                        <a:t>0.002002</a:t>
                      </a:r>
                    </a:p>
                  </a:txBody>
                  <a:tcPr marL="91426" marR="91426" marT="45713" marB="4571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/>
                        <a:t>499.44</a:t>
                      </a:r>
                    </a:p>
                  </a:txBody>
                  <a:tcPr marL="91426" marR="91426" marT="45713" marB="4571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91528959"/>
                  </a:ext>
                </a:extLst>
              </a:tr>
              <a:tr h="365702">
                <a:tc>
                  <a:txBody>
                    <a:bodyPr/>
                    <a:lstStyle/>
                    <a:p>
                      <a:r>
                        <a:rPr lang="en-US" sz="1800"/>
                        <a:t>5</a:t>
                      </a:r>
                    </a:p>
                  </a:txBody>
                  <a:tcPr marL="91426" marR="91426" marT="45713" marB="4571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 dirty="0"/>
                        <a:t>46,068</a:t>
                      </a:r>
                    </a:p>
                  </a:txBody>
                  <a:tcPr marL="91426" marR="91426" marT="45713" marB="4571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/>
                        <a:t>101.14</a:t>
                      </a:r>
                    </a:p>
                  </a:txBody>
                  <a:tcPr marL="91426" marR="91426" marT="45713" marB="4571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/>
                        <a:t>0.002195</a:t>
                      </a:r>
                    </a:p>
                  </a:txBody>
                  <a:tcPr marL="91426" marR="91426" marT="45713" marB="4571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/>
                        <a:t>455.51</a:t>
                      </a:r>
                    </a:p>
                  </a:txBody>
                  <a:tcPr marL="91426" marR="91426" marT="45713" marB="4571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93268828"/>
                  </a:ext>
                </a:extLst>
              </a:tr>
              <a:tr h="365702">
                <a:tc>
                  <a:txBody>
                    <a:bodyPr/>
                    <a:lstStyle/>
                    <a:p>
                      <a:r>
                        <a:rPr lang="en-US" sz="1800"/>
                        <a:t>6</a:t>
                      </a:r>
                    </a:p>
                  </a:txBody>
                  <a:tcPr marL="91426" marR="91426" marT="45713" marB="4571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/>
                        <a:t>366,681</a:t>
                      </a:r>
                    </a:p>
                  </a:txBody>
                  <a:tcPr marL="91426" marR="91426" marT="45713" marB="4571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/>
                        <a:t>709.11</a:t>
                      </a:r>
                    </a:p>
                  </a:txBody>
                  <a:tcPr marL="91426" marR="91426" marT="45713" marB="4571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/>
                        <a:t>0.001934</a:t>
                      </a:r>
                    </a:p>
                  </a:txBody>
                  <a:tcPr marL="91426" marR="91426" marT="45713" marB="4571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/>
                        <a:t>517.10</a:t>
                      </a:r>
                    </a:p>
                  </a:txBody>
                  <a:tcPr marL="91426" marR="91426" marT="45713" marB="4571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81476309"/>
                  </a:ext>
                </a:extLst>
              </a:tr>
              <a:tr h="365702">
                <a:tc>
                  <a:txBody>
                    <a:bodyPr/>
                    <a:lstStyle/>
                    <a:p>
                      <a:r>
                        <a:rPr lang="en-US" sz="1800"/>
                        <a:t>7</a:t>
                      </a:r>
                    </a:p>
                  </a:txBody>
                  <a:tcPr marL="91426" marR="91426" marT="45713" marB="4571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/>
                        <a:t>582,094</a:t>
                      </a:r>
                    </a:p>
                  </a:txBody>
                  <a:tcPr marL="91426" marR="91426" marT="45713" marB="4571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/>
                        <a:t>1152.26</a:t>
                      </a:r>
                    </a:p>
                  </a:txBody>
                  <a:tcPr marL="91426" marR="91426" marT="45713" marB="4571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/>
                        <a:t>0.001980</a:t>
                      </a:r>
                    </a:p>
                  </a:txBody>
                  <a:tcPr marL="91426" marR="91426" marT="45713" marB="4571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/>
                        <a:t>505.18</a:t>
                      </a:r>
                    </a:p>
                  </a:txBody>
                  <a:tcPr marL="91426" marR="91426" marT="45713" marB="4571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9069557"/>
                  </a:ext>
                </a:extLst>
              </a:tr>
              <a:tr h="365702">
                <a:tc>
                  <a:txBody>
                    <a:bodyPr/>
                    <a:lstStyle/>
                    <a:p>
                      <a:r>
                        <a:rPr lang="en-US" sz="1800"/>
                        <a:t>8</a:t>
                      </a:r>
                    </a:p>
                  </a:txBody>
                  <a:tcPr marL="91426" marR="91426" marT="45713" marB="4571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/>
                        <a:t>405,583</a:t>
                      </a:r>
                    </a:p>
                  </a:txBody>
                  <a:tcPr marL="91426" marR="91426" marT="45713" marB="4571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/>
                        <a:t>851.15</a:t>
                      </a:r>
                    </a:p>
                  </a:txBody>
                  <a:tcPr marL="91426" marR="91426" marT="45713" marB="4571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/>
                        <a:t>0.002099</a:t>
                      </a:r>
                    </a:p>
                  </a:txBody>
                  <a:tcPr marL="91426" marR="91426" marT="45713" marB="4571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/>
                        <a:t>476.51</a:t>
                      </a:r>
                    </a:p>
                  </a:txBody>
                  <a:tcPr marL="91426" marR="91426" marT="45713" marB="4571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64440649"/>
                  </a:ext>
                </a:extLst>
              </a:tr>
              <a:tr h="365702">
                <a:tc>
                  <a:txBody>
                    <a:bodyPr/>
                    <a:lstStyle/>
                    <a:p>
                      <a:r>
                        <a:rPr lang="en-US" sz="1800"/>
                        <a:t>9</a:t>
                      </a:r>
                    </a:p>
                  </a:txBody>
                  <a:tcPr marL="91426" marR="91426" marT="45713" marB="4571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/>
                        <a:t>779,375</a:t>
                      </a:r>
                    </a:p>
                  </a:txBody>
                  <a:tcPr marL="91426" marR="91426" marT="45713" marB="4571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/>
                        <a:t>1722.48</a:t>
                      </a:r>
                    </a:p>
                  </a:txBody>
                  <a:tcPr marL="91426" marR="91426" marT="45713" marB="4571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/>
                        <a:t>0.002210</a:t>
                      </a:r>
                    </a:p>
                  </a:txBody>
                  <a:tcPr marL="91426" marR="91426" marT="45713" marB="4571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/>
                        <a:t>452.47</a:t>
                      </a:r>
                    </a:p>
                  </a:txBody>
                  <a:tcPr marL="91426" marR="91426" marT="45713" marB="4571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01192908"/>
                  </a:ext>
                </a:extLst>
              </a:tr>
              <a:tr h="365702">
                <a:tc>
                  <a:txBody>
                    <a:bodyPr/>
                    <a:lstStyle/>
                    <a:p>
                      <a:r>
                        <a:rPr lang="en-US" sz="1800"/>
                        <a:t>10</a:t>
                      </a:r>
                    </a:p>
                  </a:txBody>
                  <a:tcPr marL="91426" marR="91426" marT="45713" marB="4571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/>
                        <a:t>372,417</a:t>
                      </a:r>
                    </a:p>
                  </a:txBody>
                  <a:tcPr marL="91426" marR="91426" marT="45713" marB="4571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/>
                        <a:t>821.20</a:t>
                      </a:r>
                    </a:p>
                  </a:txBody>
                  <a:tcPr marL="91426" marR="91426" marT="45713" marB="4571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/>
                        <a:t>0.002205</a:t>
                      </a:r>
                    </a:p>
                  </a:txBody>
                  <a:tcPr marL="91426" marR="91426" marT="45713" marB="4571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 dirty="0"/>
                        <a:t>453.50</a:t>
                      </a:r>
                    </a:p>
                  </a:txBody>
                  <a:tcPr marL="91426" marR="91426" marT="45713" marB="4571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546717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6305797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2B0150-081F-3211-A95E-E15A98B8D5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263527"/>
            <a:ext cx="10058400" cy="1450757"/>
          </a:xfrm>
        </p:spPr>
        <p:txBody>
          <a:bodyPr/>
          <a:lstStyle/>
          <a:p>
            <a:r>
              <a:rPr lang="en-US" dirty="0" err="1"/>
              <a:t>Kết</a:t>
            </a:r>
            <a:r>
              <a:rPr lang="en-US" dirty="0"/>
              <a:t> </a:t>
            </a:r>
            <a:r>
              <a:rPr lang="en-US" dirty="0" err="1"/>
              <a:t>quả</a:t>
            </a:r>
            <a:r>
              <a:rPr lang="en-US" dirty="0"/>
              <a:t> - Attack 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050B79-4971-0890-4933-4B8D772F68A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940625"/>
            <a:ext cx="10058400" cy="4023360"/>
          </a:xfrm>
        </p:spPr>
        <p:txBody>
          <a:bodyPr/>
          <a:lstStyle/>
          <a:p>
            <a:pPr lvl="1">
              <a:buFontTx/>
              <a:buChar char="-"/>
            </a:pPr>
            <a:r>
              <a:rPr lang="en-US" dirty="0" err="1">
                <a:latin typeface="Calibri (Body)"/>
              </a:rPr>
              <a:t>Số</a:t>
            </a:r>
            <a:r>
              <a:rPr lang="en-US" dirty="0">
                <a:latin typeface="Calibri (Body)"/>
              </a:rPr>
              <a:t> oracle queries </a:t>
            </a:r>
            <a:r>
              <a:rPr lang="en-US" dirty="0" err="1">
                <a:latin typeface="Calibri (Body)"/>
              </a:rPr>
              <a:t>trung</a:t>
            </a:r>
            <a:r>
              <a:rPr lang="en-US" dirty="0">
                <a:latin typeface="Calibri (Body)"/>
              </a:rPr>
              <a:t> </a:t>
            </a:r>
            <a:r>
              <a:rPr lang="en-US" dirty="0" err="1">
                <a:latin typeface="Calibri (Body)"/>
              </a:rPr>
              <a:t>bình</a:t>
            </a:r>
            <a:r>
              <a:rPr lang="en-US" dirty="0">
                <a:latin typeface="Calibri (Body)"/>
              </a:rPr>
              <a:t>≈ 327,846 queries / run</a:t>
            </a:r>
          </a:p>
          <a:p>
            <a:pPr lvl="1">
              <a:buFontTx/>
              <a:buChar char="-"/>
            </a:pPr>
            <a:r>
              <a:rPr lang="en-US" dirty="0" err="1">
                <a:latin typeface="Calibri (Body)"/>
              </a:rPr>
              <a:t>Thời</a:t>
            </a:r>
            <a:r>
              <a:rPr lang="en-US" dirty="0">
                <a:latin typeface="Calibri (Body)"/>
              </a:rPr>
              <a:t> </a:t>
            </a:r>
            <a:r>
              <a:rPr lang="en-US" dirty="0" err="1">
                <a:latin typeface="Calibri (Body)"/>
              </a:rPr>
              <a:t>gian</a:t>
            </a:r>
            <a:r>
              <a:rPr lang="en-US" dirty="0">
                <a:latin typeface="Calibri (Body)"/>
              </a:rPr>
              <a:t> </a:t>
            </a:r>
            <a:r>
              <a:rPr lang="en-US" dirty="0" err="1">
                <a:latin typeface="Calibri (Body)"/>
              </a:rPr>
              <a:t>tấn</a:t>
            </a:r>
            <a:r>
              <a:rPr lang="en-US" dirty="0">
                <a:latin typeface="Calibri (Body)"/>
              </a:rPr>
              <a:t> </a:t>
            </a:r>
            <a:r>
              <a:rPr lang="en-US" dirty="0" err="1">
                <a:latin typeface="Calibri (Body)"/>
              </a:rPr>
              <a:t>công</a:t>
            </a:r>
            <a:r>
              <a:rPr lang="en-US" dirty="0">
                <a:latin typeface="Calibri (Body)"/>
              </a:rPr>
              <a:t> </a:t>
            </a:r>
            <a:r>
              <a:rPr lang="en-US" dirty="0" err="1">
                <a:latin typeface="Calibri (Body)"/>
              </a:rPr>
              <a:t>trung</a:t>
            </a:r>
            <a:r>
              <a:rPr lang="en-US" dirty="0">
                <a:latin typeface="Calibri (Body)"/>
              </a:rPr>
              <a:t> </a:t>
            </a:r>
            <a:r>
              <a:rPr lang="en-US" dirty="0" err="1">
                <a:latin typeface="Calibri (Body)"/>
              </a:rPr>
              <a:t>bình</a:t>
            </a:r>
            <a:r>
              <a:rPr lang="en-US" dirty="0">
                <a:latin typeface="Calibri (Body)"/>
              </a:rPr>
              <a:t>≈ 678.72 </a:t>
            </a:r>
            <a:r>
              <a:rPr lang="en-US" dirty="0" err="1">
                <a:latin typeface="Calibri (Body)"/>
              </a:rPr>
              <a:t>giây</a:t>
            </a:r>
            <a:r>
              <a:rPr lang="en-US" dirty="0">
                <a:latin typeface="Calibri (Body)"/>
              </a:rPr>
              <a:t> ≈ 11.31 </a:t>
            </a:r>
            <a:r>
              <a:rPr lang="en-US" dirty="0" err="1">
                <a:latin typeface="Calibri (Body)"/>
              </a:rPr>
              <a:t>phút</a:t>
            </a:r>
            <a:endParaRPr lang="en-US" dirty="0">
              <a:latin typeface="Calibri (Body)"/>
            </a:endParaRPr>
          </a:p>
          <a:p>
            <a:pPr lvl="1">
              <a:buFontTx/>
              <a:buChar char="-"/>
            </a:pPr>
            <a:r>
              <a:rPr lang="en-US" dirty="0" err="1">
                <a:latin typeface="Calibri (Body)"/>
              </a:rPr>
              <a:t>Thời</a:t>
            </a:r>
            <a:r>
              <a:rPr lang="en-US" dirty="0">
                <a:latin typeface="Calibri (Body)"/>
              </a:rPr>
              <a:t> </a:t>
            </a:r>
            <a:r>
              <a:rPr lang="en-US" dirty="0" err="1">
                <a:latin typeface="Calibri (Body)"/>
              </a:rPr>
              <a:t>gian</a:t>
            </a:r>
            <a:r>
              <a:rPr lang="en-US" dirty="0">
                <a:latin typeface="Calibri (Body)"/>
              </a:rPr>
              <a:t> </a:t>
            </a:r>
            <a:r>
              <a:rPr lang="en-US" dirty="0" err="1">
                <a:latin typeface="Calibri (Body)"/>
              </a:rPr>
              <a:t>trung</a:t>
            </a:r>
            <a:r>
              <a:rPr lang="en-US" dirty="0">
                <a:latin typeface="Calibri (Body)"/>
              </a:rPr>
              <a:t> </a:t>
            </a:r>
            <a:r>
              <a:rPr lang="en-US" dirty="0" err="1">
                <a:latin typeface="Calibri (Body)"/>
              </a:rPr>
              <a:t>bình</a:t>
            </a:r>
            <a:r>
              <a:rPr lang="en-US" dirty="0">
                <a:latin typeface="Calibri (Body)"/>
              </a:rPr>
              <a:t> / query≈ 0.002048 </a:t>
            </a:r>
            <a:r>
              <a:rPr lang="en-US" dirty="0" err="1">
                <a:latin typeface="Calibri (Body)"/>
              </a:rPr>
              <a:t>giây</a:t>
            </a:r>
            <a:r>
              <a:rPr lang="en-US" dirty="0">
                <a:latin typeface="Calibri (Body)"/>
              </a:rPr>
              <a:t> ≈ 2.05 </a:t>
            </a:r>
            <a:r>
              <a:rPr lang="en-US" dirty="0" err="1">
                <a:latin typeface="Calibri (Body)"/>
              </a:rPr>
              <a:t>ms</a:t>
            </a:r>
            <a:endParaRPr lang="en-US" dirty="0">
              <a:latin typeface="Calibri (Body)"/>
            </a:endParaRPr>
          </a:p>
          <a:p>
            <a:pPr lvl="1">
              <a:buFontTx/>
              <a:buChar char="-"/>
            </a:pPr>
            <a:r>
              <a:rPr lang="en-US" dirty="0">
                <a:latin typeface="Calibri (Body)"/>
              </a:rPr>
              <a:t>Throughput (QPS) </a:t>
            </a:r>
            <a:r>
              <a:rPr lang="en-US" dirty="0" err="1">
                <a:latin typeface="Calibri (Body)"/>
              </a:rPr>
              <a:t>trung</a:t>
            </a:r>
            <a:r>
              <a:rPr lang="en-US" dirty="0">
                <a:latin typeface="Calibri (Body)"/>
              </a:rPr>
              <a:t> </a:t>
            </a:r>
            <a:r>
              <a:rPr lang="en-US" dirty="0" err="1">
                <a:latin typeface="Calibri (Body)"/>
              </a:rPr>
              <a:t>bình</a:t>
            </a:r>
            <a:r>
              <a:rPr lang="en-US" dirty="0">
                <a:latin typeface="Calibri (Body)"/>
              </a:rPr>
              <a:t>≈ 489.82 queries / second</a:t>
            </a:r>
          </a:p>
          <a:p>
            <a:pPr lvl="1">
              <a:buFontTx/>
              <a:buChar char="-"/>
            </a:pPr>
            <a:r>
              <a:rPr lang="vi-VN" dirty="0">
                <a:latin typeface="Calibri (Body)"/>
              </a:rPr>
              <a:t>Avg time / query:Rất ổn định: ~1.93–2.21 ms</a:t>
            </a:r>
            <a:r>
              <a:rPr lang="en-US" dirty="0">
                <a:latin typeface="Calibri (Body)"/>
              </a:rPr>
              <a:t> -&gt;</a:t>
            </a:r>
            <a:r>
              <a:rPr lang="vi-VN" dirty="0">
                <a:latin typeface="Calibri (Body)"/>
              </a:rPr>
              <a:t> chứng minh uniform timing path</a:t>
            </a:r>
            <a:endParaRPr lang="en-US" dirty="0">
              <a:latin typeface="Calibri (Body)"/>
            </a:endParaRPr>
          </a:p>
          <a:p>
            <a:pPr lvl="1">
              <a:buFontTx/>
              <a:buChar char="-"/>
            </a:pPr>
            <a:r>
              <a:rPr lang="en-US" dirty="0">
                <a:latin typeface="Calibri (Body)"/>
              </a:rPr>
              <a:t>QPS: ~</a:t>
            </a:r>
            <a:r>
              <a:rPr lang="en-US">
                <a:latin typeface="Calibri (Body)"/>
              </a:rPr>
              <a:t>450–520 QPS</a:t>
            </a:r>
            <a:endParaRPr lang="en-US" dirty="0">
              <a:latin typeface="Calibri (Body)"/>
            </a:endParaRPr>
          </a:p>
        </p:txBody>
      </p:sp>
    </p:spTree>
    <p:extLst>
      <p:ext uri="{BB962C8B-B14F-4D97-AF65-F5344CB8AC3E}">
        <p14:creationId xmlns:p14="http://schemas.microsoft.com/office/powerpoint/2010/main" val="360947851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2B0150-081F-3211-A95E-E15A98B8D5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263527"/>
            <a:ext cx="10058400" cy="1450757"/>
          </a:xfrm>
        </p:spPr>
        <p:txBody>
          <a:bodyPr/>
          <a:lstStyle/>
          <a:p>
            <a:r>
              <a:rPr lang="en-US" dirty="0" err="1"/>
              <a:t>Kết</a:t>
            </a:r>
            <a:r>
              <a:rPr lang="en-US" dirty="0"/>
              <a:t> </a:t>
            </a:r>
            <a:r>
              <a:rPr lang="en-US" dirty="0" err="1"/>
              <a:t>quả</a:t>
            </a:r>
            <a:r>
              <a:rPr lang="en-US" dirty="0"/>
              <a:t> - Attack 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050B79-4971-0890-4933-4B8D772F68A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2264475"/>
            <a:ext cx="5727940" cy="4023360"/>
          </a:xfrm>
        </p:spPr>
        <p:txBody>
          <a:bodyPr>
            <a:normAutofit/>
          </a:bodyPr>
          <a:lstStyle/>
          <a:p>
            <a:pPr lvl="1">
              <a:buFontTx/>
              <a:buChar char="-"/>
            </a:pPr>
            <a:r>
              <a:rPr lang="en-US" sz="2400" dirty="0" err="1">
                <a:latin typeface="Calibri (Body)"/>
              </a:rPr>
              <a:t>Vá</a:t>
            </a:r>
            <a:r>
              <a:rPr lang="en-US" sz="2400" dirty="0">
                <a:latin typeface="Calibri (Body)"/>
              </a:rPr>
              <a:t> </a:t>
            </a:r>
            <a:r>
              <a:rPr lang="en-US" sz="2400" dirty="0" err="1">
                <a:latin typeface="Calibri (Body)"/>
              </a:rPr>
              <a:t>bằng</a:t>
            </a:r>
            <a:r>
              <a:rPr lang="en-US" sz="2400" dirty="0">
                <a:latin typeface="Calibri (Body)"/>
              </a:rPr>
              <a:t> </a:t>
            </a:r>
            <a:r>
              <a:rPr lang="en-US" sz="2400" dirty="0" err="1">
                <a:latin typeface="Calibri (Body)"/>
              </a:rPr>
              <a:t>cách</a:t>
            </a:r>
            <a:r>
              <a:rPr lang="en-US" sz="2400" dirty="0">
                <a:latin typeface="Calibri (Body)"/>
              </a:rPr>
              <a:t>:</a:t>
            </a:r>
          </a:p>
          <a:p>
            <a:pPr lvl="2">
              <a:buFontTx/>
              <a:buChar char="-"/>
            </a:pPr>
            <a:r>
              <a:rPr lang="en-US" sz="2000" dirty="0" err="1">
                <a:latin typeface="Calibri (Body)"/>
              </a:rPr>
              <a:t>Thay</a:t>
            </a:r>
            <a:r>
              <a:rPr lang="en-US" sz="2000" dirty="0">
                <a:latin typeface="Calibri (Body)"/>
              </a:rPr>
              <a:t> PKCS#1 v1.5 </a:t>
            </a:r>
            <a:r>
              <a:rPr lang="en-US" sz="2000" dirty="0" err="1">
                <a:latin typeface="Calibri (Body)"/>
              </a:rPr>
              <a:t>thành</a:t>
            </a:r>
            <a:r>
              <a:rPr lang="en-US" sz="2000" dirty="0">
                <a:latin typeface="Calibri (Body)"/>
              </a:rPr>
              <a:t> OAEP</a:t>
            </a:r>
          </a:p>
          <a:p>
            <a:pPr lvl="2">
              <a:buFontTx/>
              <a:buChar char="-"/>
            </a:pPr>
            <a:r>
              <a:rPr lang="en-US" sz="2000" dirty="0" err="1">
                <a:latin typeface="Calibri (Body)"/>
              </a:rPr>
              <a:t>Đổi</a:t>
            </a:r>
            <a:r>
              <a:rPr lang="en-US" sz="2000" dirty="0">
                <a:latin typeface="Calibri (Body)"/>
              </a:rPr>
              <a:t> response </a:t>
            </a:r>
            <a:r>
              <a:rPr lang="en-US" sz="2000" dirty="0" err="1">
                <a:latin typeface="Calibri (Body)"/>
              </a:rPr>
              <a:t>của</a:t>
            </a:r>
            <a:r>
              <a:rPr lang="en-US" sz="2000" dirty="0">
                <a:latin typeface="Calibri (Body)"/>
              </a:rPr>
              <a:t> server </a:t>
            </a:r>
            <a:r>
              <a:rPr lang="en-US" sz="2000" dirty="0" err="1">
                <a:latin typeface="Calibri (Body)"/>
              </a:rPr>
              <a:t>thành</a:t>
            </a:r>
            <a:r>
              <a:rPr lang="en-US" sz="2000" dirty="0">
                <a:latin typeface="Calibri (Body)"/>
              </a:rPr>
              <a:t> </a:t>
            </a:r>
            <a:r>
              <a:rPr lang="en-US" sz="2000" dirty="0" err="1">
                <a:latin typeface="Calibri (Body)"/>
              </a:rPr>
              <a:t>cùng</a:t>
            </a:r>
            <a:r>
              <a:rPr lang="en-US" sz="2000" dirty="0">
                <a:latin typeface="Calibri (Body)"/>
              </a:rPr>
              <a:t> </a:t>
            </a:r>
            <a:r>
              <a:rPr lang="en-US" sz="2000" dirty="0" err="1">
                <a:latin typeface="Calibri (Body)"/>
              </a:rPr>
              <a:t>một</a:t>
            </a:r>
            <a:r>
              <a:rPr lang="en-US" sz="2000" dirty="0">
                <a:latin typeface="Calibri (Body)"/>
              </a:rPr>
              <a:t> </a:t>
            </a:r>
            <a:r>
              <a:rPr lang="en-US" sz="2000" dirty="0" err="1">
                <a:latin typeface="Calibri (Body)"/>
              </a:rPr>
              <a:t>kết</a:t>
            </a:r>
            <a:r>
              <a:rPr lang="en-US" sz="2000" dirty="0">
                <a:latin typeface="Calibri (Body)"/>
              </a:rPr>
              <a:t> </a:t>
            </a:r>
            <a:r>
              <a:rPr lang="en-US" sz="2000" dirty="0" err="1">
                <a:latin typeface="Calibri (Body)"/>
              </a:rPr>
              <a:t>quả</a:t>
            </a:r>
            <a:r>
              <a:rPr lang="en-US" sz="2000" dirty="0">
                <a:latin typeface="Calibri (Body)"/>
              </a:rPr>
              <a:t> (OK)</a:t>
            </a:r>
          </a:p>
          <a:p>
            <a:pPr lvl="2">
              <a:buFontTx/>
              <a:buChar char="-"/>
            </a:pPr>
            <a:r>
              <a:rPr lang="en-US" sz="2000" dirty="0" err="1">
                <a:latin typeface="Calibri (Body)"/>
              </a:rPr>
              <a:t>Thêm</a:t>
            </a:r>
            <a:r>
              <a:rPr lang="en-US" sz="2000" dirty="0">
                <a:latin typeface="Calibri (Body)"/>
              </a:rPr>
              <a:t> </a:t>
            </a:r>
            <a:r>
              <a:rPr lang="en-US" sz="2000" dirty="0" err="1">
                <a:latin typeface="Calibri (Body)"/>
              </a:rPr>
              <a:t>tính</a:t>
            </a:r>
            <a:r>
              <a:rPr lang="en-US" sz="2000" dirty="0">
                <a:latin typeface="Calibri (Body)"/>
              </a:rPr>
              <a:t> random </a:t>
            </a:r>
            <a:r>
              <a:rPr lang="en-US" sz="2000" dirty="0" err="1">
                <a:latin typeface="Calibri (Body)"/>
              </a:rPr>
              <a:t>cho</a:t>
            </a:r>
            <a:r>
              <a:rPr lang="en-US" sz="2000" dirty="0">
                <a:latin typeface="Calibri (Body)"/>
              </a:rPr>
              <a:t> </a:t>
            </a:r>
            <a:r>
              <a:rPr lang="en-US" sz="2000" dirty="0" err="1">
                <a:latin typeface="Calibri (Body)"/>
              </a:rPr>
              <a:t>thời</a:t>
            </a:r>
            <a:r>
              <a:rPr lang="en-US" sz="2000" dirty="0">
                <a:latin typeface="Calibri (Body)"/>
              </a:rPr>
              <a:t> </a:t>
            </a:r>
            <a:r>
              <a:rPr lang="en-US" sz="2000" dirty="0" err="1">
                <a:latin typeface="Calibri (Body)"/>
              </a:rPr>
              <a:t>gian</a:t>
            </a:r>
            <a:r>
              <a:rPr lang="en-US" sz="2000" dirty="0">
                <a:latin typeface="Calibri (Body)"/>
              </a:rPr>
              <a:t> </a:t>
            </a:r>
            <a:r>
              <a:rPr lang="en-US" sz="2000" dirty="0" err="1">
                <a:latin typeface="Calibri (Body)"/>
              </a:rPr>
              <a:t>trả</a:t>
            </a:r>
            <a:r>
              <a:rPr lang="en-US" sz="2000" dirty="0">
                <a:latin typeface="Calibri (Body)"/>
              </a:rPr>
              <a:t> </a:t>
            </a:r>
            <a:r>
              <a:rPr lang="en-US" sz="2000" dirty="0" err="1">
                <a:latin typeface="Calibri (Body)"/>
              </a:rPr>
              <a:t>về</a:t>
            </a:r>
            <a:endParaRPr lang="en-US" sz="2000" dirty="0">
              <a:latin typeface="Calibri (Body)"/>
            </a:endParaRPr>
          </a:p>
          <a:p>
            <a:pPr lvl="1">
              <a:buFontTx/>
              <a:buChar char="-"/>
            </a:pPr>
            <a:r>
              <a:rPr lang="en-US" sz="2400" dirty="0">
                <a:latin typeface="Calibri (Body)"/>
              </a:rPr>
              <a:t>Sau </a:t>
            </a:r>
            <a:r>
              <a:rPr lang="en-US" sz="2400" dirty="0" err="1">
                <a:latin typeface="Calibri (Body)"/>
              </a:rPr>
              <a:t>khi</a:t>
            </a:r>
            <a:r>
              <a:rPr lang="en-US" sz="2400" dirty="0">
                <a:latin typeface="Calibri (Body)"/>
              </a:rPr>
              <a:t> </a:t>
            </a:r>
            <a:r>
              <a:rPr lang="en-US" sz="2400" dirty="0" err="1">
                <a:latin typeface="Calibri (Body)"/>
              </a:rPr>
              <a:t>vá</a:t>
            </a:r>
            <a:r>
              <a:rPr lang="en-US" sz="2400" dirty="0">
                <a:latin typeface="Calibri (Body)"/>
              </a:rPr>
              <a:t>, ta </a:t>
            </a:r>
            <a:r>
              <a:rPr lang="en-US" sz="2400" dirty="0" err="1">
                <a:latin typeface="Calibri (Body)"/>
              </a:rPr>
              <a:t>gửi</a:t>
            </a:r>
            <a:r>
              <a:rPr lang="en-US" sz="2400" dirty="0">
                <a:latin typeface="Calibri (Body)"/>
              </a:rPr>
              <a:t> </a:t>
            </a:r>
            <a:r>
              <a:rPr lang="en-US" sz="2400" dirty="0" err="1">
                <a:latin typeface="Calibri (Body)"/>
              </a:rPr>
              <a:t>các</a:t>
            </a:r>
            <a:r>
              <a:rPr lang="en-US" sz="2400" dirty="0">
                <a:latin typeface="Calibri (Body)"/>
              </a:rPr>
              <a:t> </a:t>
            </a:r>
            <a:r>
              <a:rPr lang="en-US" sz="2400" dirty="0" err="1">
                <a:latin typeface="Calibri (Body)"/>
              </a:rPr>
              <a:t>gói</a:t>
            </a:r>
            <a:r>
              <a:rPr lang="en-US" sz="2400" dirty="0">
                <a:latin typeface="Calibri (Body)"/>
              </a:rPr>
              <a:t> tin </a:t>
            </a:r>
            <a:r>
              <a:rPr lang="en-US" sz="2400" dirty="0" err="1">
                <a:latin typeface="Calibri (Body)"/>
              </a:rPr>
              <a:t>để</a:t>
            </a:r>
            <a:r>
              <a:rPr lang="en-US" sz="2400" dirty="0">
                <a:latin typeface="Calibri (Body)"/>
              </a:rPr>
              <a:t> </a:t>
            </a:r>
            <a:r>
              <a:rPr lang="en-US" sz="2400" dirty="0" err="1">
                <a:latin typeface="Calibri (Body)"/>
              </a:rPr>
              <a:t>kiểm</a:t>
            </a:r>
            <a:r>
              <a:rPr lang="en-US" sz="2400" dirty="0">
                <a:latin typeface="Calibri (Body)"/>
              </a:rPr>
              <a:t> </a:t>
            </a:r>
            <a:r>
              <a:rPr lang="en-US" sz="2400" dirty="0" err="1">
                <a:latin typeface="Calibri (Body)"/>
              </a:rPr>
              <a:t>thử</a:t>
            </a:r>
            <a:endParaRPr lang="en-US" sz="2400" dirty="0">
              <a:latin typeface="Calibri (Body)"/>
            </a:endParaRPr>
          </a:p>
          <a:p>
            <a:pPr marL="201168" lvl="1" indent="0">
              <a:buNone/>
            </a:pPr>
            <a:r>
              <a:rPr lang="en-US" sz="2400" dirty="0">
                <a:latin typeface="Calibri (Body)"/>
              </a:rPr>
              <a:t>=&gt; </a:t>
            </a:r>
            <a:r>
              <a:rPr lang="en-US" sz="2400" dirty="0" err="1">
                <a:latin typeface="Calibri (Body)"/>
              </a:rPr>
              <a:t>Các</a:t>
            </a:r>
            <a:r>
              <a:rPr lang="en-US" sz="2400" dirty="0">
                <a:latin typeface="Calibri (Body)"/>
              </a:rPr>
              <a:t> response </a:t>
            </a:r>
            <a:r>
              <a:rPr lang="en-US" sz="2400" dirty="0" err="1">
                <a:latin typeface="Calibri (Body)"/>
              </a:rPr>
              <a:t>từ</a:t>
            </a:r>
            <a:r>
              <a:rPr lang="en-US" sz="2400" dirty="0">
                <a:latin typeface="Calibri (Body)"/>
              </a:rPr>
              <a:t> server </a:t>
            </a:r>
            <a:r>
              <a:rPr lang="en-US" sz="2400" dirty="0" err="1">
                <a:latin typeface="Calibri (Body)"/>
              </a:rPr>
              <a:t>đều</a:t>
            </a:r>
            <a:r>
              <a:rPr lang="en-US" sz="2400" dirty="0">
                <a:latin typeface="Calibri (Body)"/>
              </a:rPr>
              <a:t> </a:t>
            </a:r>
            <a:r>
              <a:rPr lang="en-US" sz="2400" dirty="0" err="1">
                <a:latin typeface="Calibri (Body)"/>
              </a:rPr>
              <a:t>là</a:t>
            </a:r>
            <a:r>
              <a:rPr lang="en-US" sz="2400" dirty="0">
                <a:latin typeface="Calibri (Body)"/>
              </a:rPr>
              <a:t> OK </a:t>
            </a:r>
            <a:r>
              <a:rPr lang="en-US" sz="2400" dirty="0" err="1">
                <a:latin typeface="Calibri (Body)"/>
              </a:rPr>
              <a:t>và</a:t>
            </a:r>
            <a:r>
              <a:rPr lang="en-US" sz="2400" dirty="0">
                <a:latin typeface="Calibri (Body)"/>
              </a:rPr>
              <a:t> </a:t>
            </a:r>
            <a:r>
              <a:rPr lang="en-US" sz="2400" dirty="0" err="1">
                <a:latin typeface="Calibri (Body)"/>
              </a:rPr>
              <a:t>có</a:t>
            </a:r>
            <a:r>
              <a:rPr lang="en-US" sz="2400" dirty="0">
                <a:latin typeface="Calibri (Body)"/>
              </a:rPr>
              <a:t> </a:t>
            </a:r>
            <a:r>
              <a:rPr lang="en-US" sz="2400" dirty="0" err="1">
                <a:latin typeface="Calibri (Body)"/>
              </a:rPr>
              <a:t>thời</a:t>
            </a:r>
            <a:r>
              <a:rPr lang="en-US" sz="2400" dirty="0">
                <a:latin typeface="Calibri (Body)"/>
              </a:rPr>
              <a:t> </a:t>
            </a:r>
            <a:r>
              <a:rPr lang="en-US" sz="2400" dirty="0" err="1">
                <a:latin typeface="Calibri (Body)"/>
              </a:rPr>
              <a:t>gian</a:t>
            </a:r>
            <a:r>
              <a:rPr lang="en-US" sz="2400" dirty="0">
                <a:latin typeface="Calibri (Body)"/>
              </a:rPr>
              <a:t> </a:t>
            </a:r>
            <a:r>
              <a:rPr lang="en-US" sz="2400" dirty="0" err="1">
                <a:latin typeface="Calibri (Body)"/>
              </a:rPr>
              <a:t>trả</a:t>
            </a:r>
            <a:r>
              <a:rPr lang="en-US" sz="2400" dirty="0">
                <a:latin typeface="Calibri (Body)"/>
              </a:rPr>
              <a:t> </a:t>
            </a:r>
            <a:r>
              <a:rPr lang="en-US" sz="2400" dirty="0" err="1">
                <a:latin typeface="Calibri (Body)"/>
              </a:rPr>
              <a:t>lời</a:t>
            </a:r>
            <a:r>
              <a:rPr lang="en-US" sz="2400" dirty="0">
                <a:latin typeface="Calibri (Body)"/>
              </a:rPr>
              <a:t> </a:t>
            </a:r>
            <a:r>
              <a:rPr lang="en-US" sz="2400" dirty="0" err="1">
                <a:latin typeface="Calibri (Body)"/>
              </a:rPr>
              <a:t>gần</a:t>
            </a:r>
            <a:r>
              <a:rPr lang="en-US" sz="2400" dirty="0">
                <a:latin typeface="Calibri (Body)"/>
              </a:rPr>
              <a:t> </a:t>
            </a:r>
            <a:r>
              <a:rPr lang="en-US" sz="2400" dirty="0" err="1">
                <a:latin typeface="Calibri (Body)"/>
              </a:rPr>
              <a:t>nhau</a:t>
            </a:r>
            <a:endParaRPr lang="en-US" sz="2400" dirty="0">
              <a:latin typeface="Calibri (Body)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CA4CBC2-8ECE-729F-847D-534F99875A5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30414" y="2264475"/>
            <a:ext cx="5915851" cy="24196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4525533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40763E-AC7F-EB28-BD09-03DC5045D1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2405" y="286603"/>
            <a:ext cx="10058400" cy="1450757"/>
          </a:xfrm>
        </p:spPr>
        <p:txBody>
          <a:bodyPr/>
          <a:lstStyle/>
          <a:p>
            <a:r>
              <a:rPr lang="en-US" dirty="0"/>
              <a:t>Attack B – Timing Attack on RSA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7D77B03A-88B7-2B6F-52C8-CD9332AEBB1F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192405" y="1879474"/>
            <a:ext cx="7481022" cy="387798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Calibri (Body)"/>
              </a:rPr>
              <a:t>Loại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 (Body)"/>
              </a:rPr>
              <a:t> 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Calibri (Body)"/>
              </a:rPr>
              <a:t>tấn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 (Body)"/>
              </a:rPr>
              <a:t> 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Calibri (Body)"/>
              </a:rPr>
              <a:t>công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 (Body)"/>
              </a:rPr>
              <a:t>: </a:t>
            </a: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 (Body)"/>
              </a:rPr>
              <a:t>Side-channel attack</a:t>
            </a:r>
            <a:endParaRPr kumimoji="0" lang="en-US" altLang="en-US" sz="2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alibri (Body)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Calibri (Body)"/>
              </a:rPr>
              <a:t>Không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 (Body)"/>
              </a:rPr>
              <a:t> 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Calibri (Body)"/>
              </a:rPr>
              <a:t>phá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 (Body)"/>
              </a:rPr>
              <a:t> 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Calibri (Body)"/>
              </a:rPr>
              <a:t>vỡ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 (Body)"/>
              </a:rPr>
              <a:t> 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Calibri (Body)"/>
              </a:rPr>
              <a:t>giả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 (Body)"/>
              </a:rPr>
              <a:t> 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Calibri (Body)"/>
              </a:rPr>
              <a:t>định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 (Body)"/>
              </a:rPr>
              <a:t> 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Calibri (Body)"/>
              </a:rPr>
              <a:t>toán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 (Body)"/>
              </a:rPr>
              <a:t> 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Calibri (Body)"/>
              </a:rPr>
              <a:t>học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 (Body)"/>
              </a:rPr>
              <a:t> 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Calibri (Body)"/>
              </a:rPr>
              <a:t>của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 (Body)"/>
              </a:rPr>
              <a:t> RSA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Calibri (Body)"/>
              </a:rPr>
              <a:t>Khai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 (Body)"/>
              </a:rPr>
              <a:t> 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Calibri (Body)"/>
              </a:rPr>
              <a:t>thác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 (Body)"/>
              </a:rPr>
              <a:t> </a:t>
            </a:r>
            <a:r>
              <a:rPr kumimoji="0" lang="en-US" altLang="en-US" sz="28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Calibri (Body)"/>
              </a:rPr>
              <a:t>rò</a:t>
            </a: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 (Body)"/>
              </a:rPr>
              <a:t> </a:t>
            </a:r>
            <a:r>
              <a:rPr kumimoji="0" lang="en-US" altLang="en-US" sz="28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Calibri (Body)"/>
              </a:rPr>
              <a:t>rỉ</a:t>
            </a: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 (Body)"/>
              </a:rPr>
              <a:t> </a:t>
            </a:r>
            <a:r>
              <a:rPr kumimoji="0" lang="en-US" altLang="en-US" sz="28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Calibri (Body)"/>
              </a:rPr>
              <a:t>thời</a:t>
            </a: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 (Body)"/>
              </a:rPr>
              <a:t> </a:t>
            </a:r>
            <a:r>
              <a:rPr kumimoji="0" lang="en-US" altLang="en-US" sz="28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Calibri (Body)"/>
              </a:rPr>
              <a:t>gian</a:t>
            </a: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 (Body)"/>
              </a:rPr>
              <a:t> </a:t>
            </a:r>
            <a:r>
              <a:rPr kumimoji="0" lang="en-US" altLang="en-US" sz="28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Calibri (Body)"/>
              </a:rPr>
              <a:t>thực</a:t>
            </a: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 (Body)"/>
              </a:rPr>
              <a:t> </a:t>
            </a:r>
            <a:r>
              <a:rPr kumimoji="0" lang="en-US" altLang="en-US" sz="28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Calibri (Body)"/>
              </a:rPr>
              <a:t>thi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 (Body)"/>
              </a:rPr>
              <a:t> 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Calibri (Body)"/>
              </a:rPr>
              <a:t>trong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 (Body)"/>
              </a:rPr>
              <a:t> 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Calibri (Body)"/>
              </a:rPr>
              <a:t>quá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 (Body)"/>
              </a:rPr>
              <a:t> 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Calibri (Body)"/>
              </a:rPr>
              <a:t>trình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 (Body)"/>
              </a:rPr>
              <a:t>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 (Body)"/>
              </a:rPr>
              <a:t>RSA signing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 (Body)"/>
              </a:rPr>
              <a:t>RSA decryption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lang="en-US" altLang="en-US" sz="2800" dirty="0" err="1">
                <a:solidFill>
                  <a:schemeClr val="tx1"/>
                </a:solidFill>
                <a:latin typeface="Calibri (Body)"/>
              </a:rPr>
              <a:t>Mục</a:t>
            </a:r>
            <a:r>
              <a:rPr lang="en-US" altLang="en-US" sz="2800" dirty="0">
                <a:solidFill>
                  <a:schemeClr val="tx1"/>
                </a:solidFill>
                <a:latin typeface="Calibri (Body)"/>
              </a:rPr>
              <a:t> </a:t>
            </a:r>
            <a:r>
              <a:rPr lang="en-US" altLang="en-US" sz="2800" dirty="0" err="1">
                <a:solidFill>
                  <a:schemeClr val="tx1"/>
                </a:solidFill>
                <a:latin typeface="Calibri (Body)"/>
              </a:rPr>
              <a:t>tiêu</a:t>
            </a:r>
            <a:r>
              <a:rPr lang="en-US" altLang="en-US" sz="2800" dirty="0">
                <a:solidFill>
                  <a:schemeClr val="tx1"/>
                </a:solidFill>
                <a:latin typeface="Calibri (Body)"/>
              </a:rPr>
              <a:t> </a:t>
            </a:r>
            <a:r>
              <a:rPr lang="en-US" altLang="en-US" sz="2800" dirty="0" err="1">
                <a:solidFill>
                  <a:schemeClr val="tx1"/>
                </a:solidFill>
                <a:latin typeface="Calibri (Body)"/>
              </a:rPr>
              <a:t>thường</a:t>
            </a:r>
            <a:r>
              <a:rPr lang="en-US" altLang="en-US" sz="2800" dirty="0">
                <a:solidFill>
                  <a:schemeClr val="tx1"/>
                </a:solidFill>
                <a:latin typeface="Calibri (Body)"/>
              </a:rPr>
              <a:t> </a:t>
            </a:r>
            <a:r>
              <a:rPr lang="en-US" altLang="en-US" sz="2800" dirty="0" err="1">
                <a:solidFill>
                  <a:schemeClr val="tx1"/>
                </a:solidFill>
                <a:latin typeface="Calibri (Body)"/>
              </a:rPr>
              <a:t>nắm</a:t>
            </a:r>
            <a:r>
              <a:rPr lang="en-US" altLang="en-US" sz="2800" dirty="0">
                <a:solidFill>
                  <a:schemeClr val="tx1"/>
                </a:solidFill>
                <a:latin typeface="Calibri (Body)"/>
              </a:rPr>
              <a:t> </a:t>
            </a:r>
            <a:r>
              <a:rPr lang="en-US" altLang="en-US" sz="2800" dirty="0" err="1">
                <a:solidFill>
                  <a:schemeClr val="tx1"/>
                </a:solidFill>
                <a:latin typeface="Calibri (Body)"/>
              </a:rPr>
              <a:t>vào</a:t>
            </a:r>
            <a:endParaRPr lang="en-US" altLang="en-US" sz="2800" dirty="0">
              <a:solidFill>
                <a:schemeClr val="tx1"/>
              </a:solidFill>
              <a:latin typeface="Calibri (Body)"/>
            </a:endParaRPr>
          </a:p>
          <a:p>
            <a:pPr marL="292608" lvl="1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FontTx/>
              <a:buChar char="•"/>
            </a:pPr>
            <a:r>
              <a:rPr kumimoji="0" lang="en-US" altLang="en-US" sz="2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 (Body)"/>
              </a:rPr>
              <a:t>Smart card</a:t>
            </a:r>
          </a:p>
          <a:p>
            <a:pPr marL="292608" lvl="1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FontTx/>
              <a:buChar char="•"/>
            </a:pPr>
            <a:r>
              <a:rPr lang="en-US" altLang="en-US" sz="2600" dirty="0" err="1">
                <a:solidFill>
                  <a:schemeClr val="tx1"/>
                </a:solidFill>
                <a:latin typeface="Calibri (Body)"/>
              </a:rPr>
              <a:t>Các</a:t>
            </a:r>
            <a:r>
              <a:rPr lang="en-US" altLang="en-US" sz="2600" dirty="0">
                <a:solidFill>
                  <a:schemeClr val="tx1"/>
                </a:solidFill>
                <a:latin typeface="Calibri (Body)"/>
              </a:rPr>
              <a:t> </a:t>
            </a:r>
            <a:r>
              <a:rPr lang="en-US" altLang="en-US" sz="2600" dirty="0" err="1">
                <a:solidFill>
                  <a:schemeClr val="tx1"/>
                </a:solidFill>
                <a:latin typeface="Calibri (Body)"/>
              </a:rPr>
              <a:t>thiết</a:t>
            </a:r>
            <a:r>
              <a:rPr lang="en-US" altLang="en-US" sz="2600" dirty="0">
                <a:solidFill>
                  <a:schemeClr val="tx1"/>
                </a:solidFill>
                <a:latin typeface="Calibri (Body)"/>
              </a:rPr>
              <a:t> </a:t>
            </a:r>
            <a:r>
              <a:rPr lang="en-US" altLang="en-US" sz="2600" dirty="0" err="1">
                <a:solidFill>
                  <a:schemeClr val="tx1"/>
                </a:solidFill>
                <a:latin typeface="Calibri (Body)"/>
              </a:rPr>
              <a:t>bị</a:t>
            </a:r>
            <a:r>
              <a:rPr lang="en-US" altLang="en-US" sz="2600" dirty="0">
                <a:solidFill>
                  <a:schemeClr val="tx1"/>
                </a:solidFill>
                <a:latin typeface="Calibri (Body)"/>
              </a:rPr>
              <a:t> IoT </a:t>
            </a:r>
            <a:r>
              <a:rPr lang="en-US" altLang="en-US" sz="2600" dirty="0" err="1">
                <a:solidFill>
                  <a:schemeClr val="tx1"/>
                </a:solidFill>
                <a:latin typeface="Calibri (Body)"/>
              </a:rPr>
              <a:t>cũ</a:t>
            </a:r>
            <a:endParaRPr lang="en-US" altLang="en-US" sz="2600" dirty="0">
              <a:solidFill>
                <a:schemeClr val="tx1"/>
              </a:solidFill>
              <a:latin typeface="Calibri (Body)"/>
            </a:endParaRPr>
          </a:p>
          <a:p>
            <a:pPr marL="292608" lvl="1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FontTx/>
              <a:buChar char="•"/>
            </a:pPr>
            <a:r>
              <a:rPr kumimoji="0" lang="en-US" altLang="en-US" sz="2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 (Body)"/>
              </a:rPr>
              <a:t>TLS </a:t>
            </a:r>
            <a:r>
              <a:rPr kumimoji="0" lang="en-US" altLang="en-US" sz="2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Calibri (Body)"/>
              </a:rPr>
              <a:t>c</a:t>
            </a:r>
            <a:r>
              <a:rPr lang="en-US" altLang="en-US" sz="2600" dirty="0" err="1">
                <a:solidFill>
                  <a:schemeClr val="tx1"/>
                </a:solidFill>
                <a:latin typeface="Calibri (Body)"/>
              </a:rPr>
              <a:t>ũ</a:t>
            </a:r>
            <a:endParaRPr kumimoji="0" lang="en-US" altLang="en-US" sz="2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alibri (Body)"/>
            </a:endParaRPr>
          </a:p>
        </p:txBody>
      </p:sp>
    </p:spTree>
    <p:extLst>
      <p:ext uri="{BB962C8B-B14F-4D97-AF65-F5344CB8AC3E}">
        <p14:creationId xmlns:p14="http://schemas.microsoft.com/office/powerpoint/2010/main" val="398705497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40763E-AC7F-EB28-BD09-03DC5045D1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2405" y="286603"/>
            <a:ext cx="10058400" cy="1450757"/>
          </a:xfrm>
        </p:spPr>
        <p:txBody>
          <a:bodyPr/>
          <a:lstStyle/>
          <a:p>
            <a:r>
              <a:rPr lang="en-US" dirty="0" err="1"/>
              <a:t>Điều</a:t>
            </a:r>
            <a:r>
              <a:rPr lang="en-US" dirty="0"/>
              <a:t> </a:t>
            </a:r>
            <a:r>
              <a:rPr lang="en-US" dirty="0" err="1"/>
              <a:t>kiện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7A103C-824D-63E5-19B2-5C4B19B5AC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969343"/>
            <a:ext cx="12191999" cy="3783757"/>
          </a:xfrm>
        </p:spPr>
        <p:txBody>
          <a:bodyPr>
            <a:normAutofit/>
          </a:bodyPr>
          <a:lstStyle/>
          <a:p>
            <a:r>
              <a:rPr lang="en-US" sz="2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- </a:t>
            </a:r>
            <a:r>
              <a:rPr lang="vi-VN" sz="2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Biết public key (𝑁,𝑒)</a:t>
            </a:r>
            <a:endParaRPr lang="en-US" sz="2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2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- </a:t>
            </a:r>
            <a:r>
              <a:rPr lang="vi-VN" sz="2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Có quyền gửi nhiều message / ciphertext tuỳ ý</a:t>
            </a:r>
            <a:endParaRPr lang="en-US" sz="2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2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- </a:t>
            </a:r>
            <a:r>
              <a:rPr lang="vi-VN" sz="2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Đo được thời gian xử lý 𝑇</a:t>
            </a:r>
            <a:r>
              <a:rPr lang="vi-VN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𝑖</a:t>
            </a:r>
            <a:r>
              <a:rPr lang="en-US" sz="2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vi-VN" sz="2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của mỗi lần ký / giải mã</a:t>
            </a:r>
            <a:endParaRPr lang="en-US" sz="2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2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- </a:t>
            </a:r>
            <a:r>
              <a:rPr lang="en-US" sz="2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Mục</a:t>
            </a:r>
            <a:r>
              <a:rPr lang="en-US" sz="2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2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tiêu</a:t>
            </a:r>
            <a:r>
              <a:rPr lang="en-US" sz="2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</a:t>
            </a:r>
          </a:p>
          <a:p>
            <a:pPr lvl="1"/>
            <a:r>
              <a:rPr lang="en-US" sz="26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Khôi</a:t>
            </a:r>
            <a:r>
              <a:rPr lang="en-US" sz="2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26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phục</a:t>
            </a:r>
            <a:r>
              <a:rPr lang="en-US" sz="2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private exponent 𝑑 </a:t>
            </a:r>
            <a:r>
              <a:rPr lang="en-US" sz="26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từng</a:t>
            </a:r>
            <a:r>
              <a:rPr lang="en-US" sz="2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bit</a:t>
            </a:r>
          </a:p>
        </p:txBody>
      </p:sp>
    </p:spTree>
    <p:extLst>
      <p:ext uri="{BB962C8B-B14F-4D97-AF65-F5344CB8AC3E}">
        <p14:creationId xmlns:p14="http://schemas.microsoft.com/office/powerpoint/2010/main" val="341748028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40763E-AC7F-EB28-BD09-03DC5045D1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2405" y="286603"/>
            <a:ext cx="10058400" cy="1450757"/>
          </a:xfrm>
        </p:spPr>
        <p:txBody>
          <a:bodyPr/>
          <a:lstStyle/>
          <a:p>
            <a:r>
              <a:rPr lang="en-US" dirty="0"/>
              <a:t>Decryption/Signing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E7A103C-824D-63E5-19B2-5C4B19B5AC1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0" y="1969343"/>
                <a:ext cx="12191999" cy="3783757"/>
              </a:xfrm>
            </p:spPr>
            <p:txBody>
              <a:bodyPr>
                <a:normAutofit/>
              </a:bodyPr>
              <a:lstStyle/>
              <a:p>
                <a:r>
                  <a:rPr lang="en-US" sz="32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- RSA </a:t>
                </a:r>
                <a:r>
                  <a:rPr lang="en-US" sz="32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sẽ</a:t>
                </a:r>
                <a:r>
                  <a:rPr lang="en-US" sz="32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en-US" sz="32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giải</a:t>
                </a:r>
                <a:r>
                  <a:rPr lang="en-US" sz="32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en-US" sz="32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mã</a:t>
                </a:r>
                <a:r>
                  <a:rPr lang="en-US" sz="32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en-US" sz="32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theo</a:t>
                </a:r>
                <a:r>
                  <a:rPr lang="en-US" sz="32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en-US" sz="32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công</a:t>
                </a:r>
                <a:r>
                  <a:rPr lang="en-US" sz="32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en-US" sz="32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thức</a:t>
                </a:r>
                <a:r>
                  <a:rPr lang="en-US" sz="32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:</a:t>
                </a:r>
              </a:p>
              <a:p>
                <a:pPr algn="ctr"/>
                <a14:m>
                  <m:oMath xmlns:m="http://schemas.openxmlformats.org/officeDocument/2006/math">
                    <m:sSup>
                      <m:sSupPr>
                        <m:ctrlPr>
                          <a:rPr lang="en-US" sz="3200" b="0" i="1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</m:ctrlPr>
                      </m:sSupPr>
                      <m:e>
                        <m:r>
                          <a:rPr lang="en-US" sz="3200" b="0" i="1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𝑚</m:t>
                        </m:r>
                        <m:r>
                          <a:rPr lang="en-US" sz="3200" b="0" i="1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=</m:t>
                        </m:r>
                        <m:r>
                          <a:rPr lang="en-US" sz="3200" b="0" i="1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𝑐</m:t>
                        </m:r>
                      </m:e>
                      <m:sup>
                        <m:r>
                          <a:rPr lang="en-US" sz="3200" b="0" i="1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𝑑</m:t>
                        </m:r>
                      </m:sup>
                    </m:sSup>
                    <m:r>
                      <a:rPr lang="en-US" sz="3200" b="0" i="1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 </m:t>
                    </m:r>
                    <m:r>
                      <a:rPr lang="en-US" sz="3200" b="0" i="1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𝑚𝑜𝑑</m:t>
                    </m:r>
                    <m:r>
                      <a:rPr lang="en-US" sz="3200" b="0" i="1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 </m:t>
                    </m:r>
                    <m:r>
                      <a:rPr lang="en-US" sz="3200" b="0" i="1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𝑛</m:t>
                    </m:r>
                  </m:oMath>
                </a14:m>
                <a:endParaRPr lang="en-US" sz="320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  <a:p>
                <a:r>
                  <a:rPr lang="en-US" sz="32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- Khi </a:t>
                </a:r>
                <a:r>
                  <a:rPr lang="en-US" sz="32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số</a:t>
                </a:r>
                <a:r>
                  <a:rPr lang="en-US" sz="32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en-US" sz="32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mũ</a:t>
                </a:r>
                <a:r>
                  <a:rPr lang="en-US" sz="32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d </a:t>
                </a:r>
                <a:r>
                  <a:rPr lang="en-US" sz="32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rất</a:t>
                </a:r>
                <a:r>
                  <a:rPr lang="en-US" sz="32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en-US" sz="32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lớn</a:t>
                </a:r>
                <a:r>
                  <a:rPr lang="en-US" sz="32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, ta </a:t>
                </a:r>
                <a:r>
                  <a:rPr lang="en-US" sz="32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sẽ</a:t>
                </a:r>
                <a:r>
                  <a:rPr lang="en-US" sz="32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en-US" sz="32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dùng</a:t>
                </a:r>
                <a:r>
                  <a:rPr lang="en-US" sz="32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en-US" sz="32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các</a:t>
                </a:r>
                <a:r>
                  <a:rPr lang="en-US" sz="32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en-US" sz="32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thuật</a:t>
                </a:r>
                <a:r>
                  <a:rPr lang="en-US" sz="32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en-US" sz="32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toán</a:t>
                </a:r>
                <a:r>
                  <a:rPr lang="en-US" sz="32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en-US" sz="32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để</a:t>
                </a:r>
                <a:r>
                  <a:rPr lang="en-US" sz="32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en-US" sz="32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tính</a:t>
                </a:r>
                <a:r>
                  <a:rPr lang="en-US" sz="32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en-US" sz="32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toán</a:t>
                </a:r>
                <a:r>
                  <a:rPr lang="en-US" sz="32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en-US" sz="32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nhanh</a:t>
                </a:r>
                <a:r>
                  <a:rPr lang="en-US" sz="32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en-US" sz="32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hơn</a:t>
                </a:r>
                <a:endParaRPr lang="en-US" sz="320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  <a:p>
                <a:r>
                  <a:rPr lang="en-US" sz="32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-&gt; </a:t>
                </a:r>
                <a:r>
                  <a:rPr lang="en-US" sz="32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thuật</a:t>
                </a:r>
                <a:r>
                  <a:rPr lang="en-US" sz="32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en-US" sz="32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toán</a:t>
                </a:r>
                <a:r>
                  <a:rPr lang="en-US" sz="32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en-US" sz="32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phổ</a:t>
                </a:r>
                <a:r>
                  <a:rPr lang="en-US" sz="32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en-US" sz="32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biến</a:t>
                </a:r>
                <a:r>
                  <a:rPr lang="en-US" sz="32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: Square and </a:t>
                </a:r>
                <a:r>
                  <a:rPr lang="en-US" sz="32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Mutiply</a:t>
                </a:r>
                <a:endParaRPr lang="en-US" sz="320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E7A103C-824D-63E5-19B2-5C4B19B5AC1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0" y="1969343"/>
                <a:ext cx="12191999" cy="3783757"/>
              </a:xfrm>
              <a:blipFill>
                <a:blip r:embed="rId2"/>
                <a:stretch>
                  <a:fillRect l="-1250" t="-33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30903677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40763E-AC7F-EB28-BD09-03DC5045D1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2405" y="286603"/>
            <a:ext cx="10058400" cy="1450757"/>
          </a:xfrm>
        </p:spPr>
        <p:txBody>
          <a:bodyPr/>
          <a:lstStyle/>
          <a:p>
            <a:r>
              <a:rPr lang="en-US" dirty="0"/>
              <a:t>Square and Multiply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7A103C-824D-63E5-19B2-5C4B19B5AC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969343"/>
            <a:ext cx="12191999" cy="3783757"/>
          </a:xfrm>
        </p:spPr>
        <p:txBody>
          <a:bodyPr>
            <a:normAutofit/>
          </a:bodyPr>
          <a:lstStyle/>
          <a:p>
            <a:r>
              <a:rPr lang="en-US" sz="3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- d </a:t>
            </a:r>
            <a:r>
              <a:rPr lang="en-US" sz="32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sẽ</a:t>
            </a:r>
            <a:r>
              <a:rPr lang="en-US" sz="3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32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được</a:t>
            </a:r>
            <a:r>
              <a:rPr lang="en-US" sz="3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32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chuyển</a:t>
            </a:r>
            <a:r>
              <a:rPr lang="en-US" sz="3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32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về</a:t>
            </a:r>
            <a:r>
              <a:rPr lang="en-US" sz="3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32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cơ</a:t>
            </a:r>
            <a:r>
              <a:rPr lang="en-US" sz="3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32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số</a:t>
            </a:r>
            <a:r>
              <a:rPr lang="en-US" sz="3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2, </a:t>
            </a:r>
            <a:r>
              <a:rPr lang="en-US" sz="32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với</a:t>
            </a:r>
            <a:r>
              <a:rPr lang="en-US" sz="3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32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mỗi</a:t>
            </a:r>
            <a:r>
              <a:rPr lang="en-US" sz="3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bit d:</a:t>
            </a:r>
          </a:p>
          <a:p>
            <a:pPr lvl="1"/>
            <a:r>
              <a:rPr lang="en-US" sz="32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gặp</a:t>
            </a:r>
            <a:r>
              <a:rPr lang="en-US" sz="3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0 </a:t>
            </a:r>
            <a:r>
              <a:rPr lang="en-US" sz="32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sẽ</a:t>
            </a:r>
            <a:r>
              <a:rPr lang="en-US" sz="3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32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bình</a:t>
            </a:r>
            <a:r>
              <a:rPr lang="en-US" sz="3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32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phương</a:t>
            </a:r>
            <a:endParaRPr lang="en-US" sz="32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lvl="1"/>
            <a:r>
              <a:rPr lang="en-US" sz="32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gặp</a:t>
            </a:r>
            <a:r>
              <a:rPr lang="en-US" sz="3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1 </a:t>
            </a:r>
            <a:r>
              <a:rPr lang="en-US" sz="32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sẽ</a:t>
            </a:r>
            <a:r>
              <a:rPr lang="en-US" sz="3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32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bình</a:t>
            </a:r>
            <a:r>
              <a:rPr lang="en-US" sz="3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32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phương</a:t>
            </a:r>
            <a:r>
              <a:rPr lang="en-US" sz="3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32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sau</a:t>
            </a:r>
            <a:r>
              <a:rPr lang="en-US" sz="3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32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đó</a:t>
            </a:r>
            <a:r>
              <a:rPr lang="en-US" sz="3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32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nhân</a:t>
            </a:r>
            <a:r>
              <a:rPr lang="en-US" sz="3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32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với</a:t>
            </a:r>
            <a:r>
              <a:rPr lang="en-US" sz="3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32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cơ</a:t>
            </a:r>
            <a:r>
              <a:rPr lang="en-US" sz="3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32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số</a:t>
            </a:r>
            <a:endParaRPr lang="en-US" sz="32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3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- </a:t>
            </a:r>
            <a:r>
              <a:rPr lang="en-US" sz="32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cuối</a:t>
            </a:r>
            <a:r>
              <a:rPr lang="en-US" sz="3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32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cùng</a:t>
            </a:r>
            <a:r>
              <a:rPr lang="en-US" sz="3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chia </a:t>
            </a:r>
            <a:r>
              <a:rPr lang="en-US" sz="32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có</a:t>
            </a:r>
            <a:r>
              <a:rPr lang="en-US" sz="3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32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dư</a:t>
            </a:r>
            <a:r>
              <a:rPr lang="en-US" sz="3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ở </a:t>
            </a:r>
            <a:r>
              <a:rPr lang="en-US" sz="32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mỗi</a:t>
            </a:r>
            <a:r>
              <a:rPr lang="en-US" sz="3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32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bước</a:t>
            </a:r>
            <a:r>
              <a:rPr lang="en-US" sz="3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.</a:t>
            </a:r>
          </a:p>
          <a:p>
            <a:r>
              <a:rPr lang="en-US" sz="3200" i="1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Lưu</a:t>
            </a:r>
            <a:r>
              <a:rPr lang="en-US" sz="32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ý: </a:t>
            </a:r>
            <a:r>
              <a:rPr lang="en-US" sz="3200" i="1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gặp</a:t>
            </a:r>
            <a:r>
              <a:rPr lang="en-US" sz="32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bit 1 </a:t>
            </a:r>
            <a:r>
              <a:rPr lang="en-US" sz="3200" i="1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sẽ</a:t>
            </a:r>
            <a:r>
              <a:rPr lang="en-US" sz="32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3200" i="1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có</a:t>
            </a:r>
            <a:r>
              <a:rPr lang="en-US" sz="32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3200" i="1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nhiều</a:t>
            </a:r>
            <a:r>
              <a:rPr lang="en-US" sz="32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3200" i="1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bước</a:t>
            </a:r>
            <a:r>
              <a:rPr lang="en-US" sz="32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3200" i="1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hơn</a:t>
            </a:r>
            <a:r>
              <a:rPr lang="en-US" sz="32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=&gt; </a:t>
            </a:r>
            <a:r>
              <a:rPr lang="en-US" sz="3200" i="1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thời</a:t>
            </a:r>
            <a:r>
              <a:rPr lang="en-US" sz="32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3200" i="1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gian</a:t>
            </a:r>
            <a:r>
              <a:rPr lang="en-US" sz="32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3200" i="1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tính</a:t>
            </a:r>
            <a:r>
              <a:rPr lang="en-US" sz="32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3200" i="1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lâu</a:t>
            </a:r>
            <a:r>
              <a:rPr lang="en-US" sz="32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3200" i="1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hơn</a:t>
            </a:r>
            <a:r>
              <a:rPr lang="en-US" sz="32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=&gt; oracle</a:t>
            </a:r>
          </a:p>
          <a:p>
            <a:endParaRPr lang="en-US" sz="26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2795287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40763E-AC7F-EB28-BD09-03DC5045D1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2405" y="286603"/>
            <a:ext cx="10058400" cy="1450757"/>
          </a:xfrm>
        </p:spPr>
        <p:txBody>
          <a:bodyPr/>
          <a:lstStyle/>
          <a:p>
            <a:r>
              <a:rPr lang="en-US" dirty="0"/>
              <a:t>Thu </a:t>
            </a:r>
            <a:r>
              <a:rPr lang="en-US" dirty="0" err="1"/>
              <a:t>thập</a:t>
            </a:r>
            <a:r>
              <a:rPr lang="en-US" dirty="0"/>
              <a:t> </a:t>
            </a:r>
            <a:r>
              <a:rPr lang="en-US" dirty="0" err="1"/>
              <a:t>dữ</a:t>
            </a:r>
            <a:r>
              <a:rPr lang="en-US" dirty="0"/>
              <a:t> </a:t>
            </a:r>
            <a:r>
              <a:rPr lang="en-US" dirty="0" err="1"/>
              <a:t>liệu</a:t>
            </a:r>
            <a:r>
              <a:rPr lang="en-US" dirty="0"/>
              <a:t> </a:t>
            </a:r>
            <a:r>
              <a:rPr lang="en-US" dirty="0" err="1"/>
              <a:t>và</a:t>
            </a:r>
            <a:r>
              <a:rPr lang="en-US" dirty="0"/>
              <a:t> </a:t>
            </a:r>
            <a:r>
              <a:rPr lang="en-US" dirty="0" err="1"/>
              <a:t>thống</a:t>
            </a:r>
            <a:r>
              <a:rPr lang="en-US" dirty="0"/>
              <a:t> </a:t>
            </a:r>
            <a:r>
              <a:rPr lang="en-US" dirty="0" err="1"/>
              <a:t>kê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7A103C-824D-63E5-19B2-5C4B19B5AC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969343"/>
            <a:ext cx="12192000" cy="4422831"/>
          </a:xfrm>
        </p:spPr>
        <p:txBody>
          <a:bodyPr>
            <a:normAutofit lnSpcReduction="10000"/>
          </a:bodyPr>
          <a:lstStyle/>
          <a:p>
            <a:r>
              <a:rPr lang="en-US" sz="2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- </a:t>
            </a:r>
            <a:r>
              <a:rPr lang="en-US" sz="26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Gửi</a:t>
            </a:r>
            <a:r>
              <a:rPr lang="en-US" sz="2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26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nhiều</a:t>
            </a:r>
            <a:r>
              <a:rPr lang="en-US" sz="2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ciphertext/message</a:t>
            </a:r>
          </a:p>
          <a:p>
            <a:r>
              <a:rPr lang="en-US" sz="2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- </a:t>
            </a:r>
            <a:r>
              <a:rPr lang="en-US" sz="26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Mỗi</a:t>
            </a:r>
            <a:r>
              <a:rPr lang="en-US" sz="2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26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lần</a:t>
            </a:r>
            <a:r>
              <a:rPr lang="en-US" sz="2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26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gửi</a:t>
            </a:r>
            <a:r>
              <a:rPr lang="en-US" sz="2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ta </a:t>
            </a:r>
            <a:r>
              <a:rPr lang="en-US" sz="26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sẽ</a:t>
            </a:r>
            <a:r>
              <a:rPr lang="en-US" sz="2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26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đo</a:t>
            </a:r>
            <a:r>
              <a:rPr lang="en-US" sz="2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26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thời</a:t>
            </a:r>
            <a:r>
              <a:rPr lang="en-US" sz="2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26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gian</a:t>
            </a:r>
            <a:r>
              <a:rPr lang="en-US" sz="2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26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thực</a:t>
            </a:r>
            <a:r>
              <a:rPr lang="en-US" sz="2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26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thi</a:t>
            </a:r>
            <a:r>
              <a:rPr lang="en-US" sz="2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26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của</a:t>
            </a:r>
            <a:r>
              <a:rPr lang="en-US" sz="2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server(</a:t>
            </a:r>
            <a:r>
              <a:rPr lang="en-US" sz="26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từ</a:t>
            </a:r>
            <a:r>
              <a:rPr lang="en-US" sz="2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26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lúc</a:t>
            </a:r>
            <a:r>
              <a:rPr lang="en-US" sz="2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26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gửi</a:t>
            </a:r>
            <a:r>
              <a:rPr lang="en-US" sz="2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request </a:t>
            </a:r>
            <a:r>
              <a:rPr lang="en-US" sz="26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đến</a:t>
            </a:r>
            <a:r>
              <a:rPr lang="en-US" sz="2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26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khi</a:t>
            </a:r>
            <a:r>
              <a:rPr lang="en-US" sz="2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server reply)</a:t>
            </a:r>
          </a:p>
          <a:p>
            <a:r>
              <a:rPr lang="en-US" sz="2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- Sau </a:t>
            </a:r>
            <a:r>
              <a:rPr lang="en-US" sz="26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đó</a:t>
            </a:r>
            <a:r>
              <a:rPr lang="en-US" sz="2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</a:t>
            </a:r>
            <a:r>
              <a:rPr lang="en-US" sz="26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lưu</a:t>
            </a:r>
            <a:r>
              <a:rPr lang="en-US" sz="2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26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lại</a:t>
            </a:r>
            <a:r>
              <a:rPr lang="en-US" sz="2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</a:t>
            </a:r>
          </a:p>
          <a:p>
            <a:pPr lvl="1"/>
            <a:r>
              <a:rPr lang="en-US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Message m</a:t>
            </a:r>
          </a:p>
          <a:p>
            <a:pPr lvl="1"/>
            <a:r>
              <a:rPr lang="en-US" sz="24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Thời</a:t>
            </a:r>
            <a:r>
              <a:rPr lang="en-US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24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gian</a:t>
            </a:r>
            <a:r>
              <a:rPr lang="en-US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24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thực</a:t>
            </a:r>
            <a:r>
              <a:rPr lang="en-US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24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thi</a:t>
            </a:r>
            <a:r>
              <a:rPr lang="en-US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(</a:t>
            </a:r>
            <a:r>
              <a:rPr lang="en-US" sz="24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duration_ns</a:t>
            </a:r>
            <a:r>
              <a:rPr lang="en-US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)</a:t>
            </a:r>
          </a:p>
          <a:p>
            <a:pPr lvl="1"/>
            <a:r>
              <a:rPr lang="en-US" sz="24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Nhãn</a:t>
            </a:r>
            <a:r>
              <a:rPr lang="en-US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24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dự</a:t>
            </a:r>
            <a:r>
              <a:rPr lang="en-US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24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đoán</a:t>
            </a:r>
            <a:r>
              <a:rPr lang="en-US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</a:t>
            </a:r>
            <a:r>
              <a:rPr lang="en-US" sz="24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có</a:t>
            </a:r>
            <a:r>
              <a:rPr lang="en-US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/ </a:t>
            </a:r>
            <a:r>
              <a:rPr lang="en-US" sz="24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không</a:t>
            </a:r>
            <a:r>
              <a:rPr lang="en-US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Montgomery Multiplication</a:t>
            </a:r>
          </a:p>
          <a:p>
            <a:r>
              <a:rPr lang="en-US" sz="26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Với</a:t>
            </a:r>
            <a:r>
              <a:rPr lang="en-US" sz="2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26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mỗi</a:t>
            </a:r>
            <a:r>
              <a:rPr lang="en-US" sz="2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26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giả</a:t>
            </a:r>
            <a:r>
              <a:rPr lang="en-US" sz="2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26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thuyết</a:t>
            </a:r>
            <a:r>
              <a:rPr lang="en-US" sz="2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bit 0 </a:t>
            </a:r>
            <a:r>
              <a:rPr lang="en-US" sz="26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hoặc</a:t>
            </a:r>
            <a:r>
              <a:rPr lang="en-US" sz="2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1:</a:t>
            </a:r>
          </a:p>
          <a:p>
            <a:pPr lvl="1"/>
            <a:r>
              <a:rPr lang="en-US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Chia </a:t>
            </a:r>
            <a:r>
              <a:rPr lang="en-US" sz="24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dữ</a:t>
            </a:r>
            <a:r>
              <a:rPr lang="en-US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24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liệu</a:t>
            </a:r>
            <a:r>
              <a:rPr lang="en-US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24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thành</a:t>
            </a:r>
            <a:r>
              <a:rPr lang="en-US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2 </a:t>
            </a:r>
            <a:r>
              <a:rPr lang="en-US" sz="24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nhóm</a:t>
            </a:r>
            <a:r>
              <a:rPr lang="en-US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timing</a:t>
            </a:r>
          </a:p>
          <a:p>
            <a:pPr lvl="1"/>
            <a:r>
              <a:rPr lang="en-US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So </a:t>
            </a:r>
            <a:r>
              <a:rPr lang="en-US" sz="24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sánh</a:t>
            </a:r>
            <a:r>
              <a:rPr lang="en-US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24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bằng</a:t>
            </a:r>
            <a:r>
              <a:rPr lang="en-US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24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thống</a:t>
            </a:r>
            <a:r>
              <a:rPr lang="en-US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24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kê</a:t>
            </a:r>
            <a:r>
              <a:rPr lang="en-US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(Welch’s t-test)</a:t>
            </a:r>
          </a:p>
          <a:p>
            <a:r>
              <a:rPr lang="en-US" sz="2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=&gt; Bit </a:t>
            </a:r>
            <a:r>
              <a:rPr lang="en-US" sz="26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có</a:t>
            </a:r>
            <a:r>
              <a:rPr lang="en-US" sz="2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t-score </a:t>
            </a:r>
            <a:r>
              <a:rPr lang="en-US" sz="26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cao</a:t>
            </a:r>
            <a:r>
              <a:rPr lang="en-US" sz="2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26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hơn</a:t>
            </a:r>
            <a:r>
              <a:rPr lang="en-US" sz="2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26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là</a:t>
            </a:r>
            <a:r>
              <a:rPr lang="en-US" sz="2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bit </a:t>
            </a:r>
            <a:r>
              <a:rPr lang="en-US" sz="26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đúng</a:t>
            </a:r>
            <a:endParaRPr lang="en-US" sz="26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8058215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40763E-AC7F-EB28-BD09-03DC5045D1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2405" y="286603"/>
            <a:ext cx="10058400" cy="1450757"/>
          </a:xfrm>
        </p:spPr>
        <p:txBody>
          <a:bodyPr/>
          <a:lstStyle/>
          <a:p>
            <a:r>
              <a:rPr lang="en-US" dirty="0" err="1"/>
              <a:t>Kết</a:t>
            </a:r>
            <a:r>
              <a:rPr lang="en-US" dirty="0"/>
              <a:t> </a:t>
            </a:r>
            <a:r>
              <a:rPr lang="en-US" dirty="0" err="1"/>
              <a:t>quả</a:t>
            </a:r>
            <a:r>
              <a:rPr lang="en-US" dirty="0"/>
              <a:t> attack B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7A103C-824D-63E5-19B2-5C4B19B5AC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969344"/>
            <a:ext cx="12191999" cy="1128480"/>
          </a:xfrm>
        </p:spPr>
        <p:txBody>
          <a:bodyPr>
            <a:normAutofit fontScale="92500" lnSpcReduction="20000"/>
          </a:bodyPr>
          <a:lstStyle/>
          <a:p>
            <a:r>
              <a:rPr lang="en-US" sz="2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- </a:t>
            </a:r>
            <a:r>
              <a:rPr lang="en-US" sz="2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Thử</a:t>
            </a:r>
            <a:r>
              <a:rPr lang="en-US" sz="2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2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khôi</a:t>
            </a:r>
            <a:r>
              <a:rPr lang="en-US" sz="2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2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phục</a:t>
            </a:r>
            <a:r>
              <a:rPr lang="en-US" sz="2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62 bits d  = 11110001001111001001101011100100100100111000100010100110110001</a:t>
            </a:r>
          </a:p>
          <a:p>
            <a:r>
              <a:rPr lang="en-US" sz="2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=&gt; </a:t>
            </a:r>
            <a:r>
              <a:rPr lang="en-US" sz="2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Thời</a:t>
            </a:r>
            <a:r>
              <a:rPr lang="en-US" sz="2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2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gian</a:t>
            </a:r>
            <a:r>
              <a:rPr lang="en-US" sz="2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1 </a:t>
            </a:r>
            <a:r>
              <a:rPr lang="en-US" sz="2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tiếng</a:t>
            </a:r>
            <a:endParaRPr lang="en-US" sz="26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8FD6FFC-3CDA-6CB2-4582-25595505429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097823"/>
            <a:ext cx="6430272" cy="3267531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76598032-5BF6-FD2F-93A8-EEE8FD8C405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30272" y="3398808"/>
            <a:ext cx="5457825" cy="21050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5547077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2B0150-081F-3211-A95E-E15A98B8D5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263527"/>
            <a:ext cx="10058400" cy="1450757"/>
          </a:xfrm>
        </p:spPr>
        <p:txBody>
          <a:bodyPr/>
          <a:lstStyle/>
          <a:p>
            <a:r>
              <a:rPr lang="en-US" dirty="0" err="1"/>
              <a:t>Trả</a:t>
            </a:r>
            <a:r>
              <a:rPr lang="en-US" dirty="0"/>
              <a:t> </a:t>
            </a:r>
            <a:r>
              <a:rPr lang="en-US" dirty="0" err="1"/>
              <a:t>lời</a:t>
            </a:r>
            <a:r>
              <a:rPr lang="en-US" dirty="0"/>
              <a:t> </a:t>
            </a:r>
            <a:r>
              <a:rPr lang="en-US" dirty="0" err="1"/>
              <a:t>câu</a:t>
            </a:r>
            <a:r>
              <a:rPr lang="en-US" dirty="0"/>
              <a:t> </a:t>
            </a:r>
            <a:r>
              <a:rPr lang="en-US" dirty="0" err="1"/>
              <a:t>hỏi</a:t>
            </a:r>
            <a:r>
              <a:rPr lang="en-US" dirty="0"/>
              <a:t> RQ2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050B79-4971-0890-4933-4B8D772F68A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1" y="1940625"/>
            <a:ext cx="11749177" cy="4023360"/>
          </a:xfrm>
        </p:spPr>
        <p:txBody>
          <a:bodyPr>
            <a:normAutofit/>
          </a:bodyPr>
          <a:lstStyle/>
          <a:p>
            <a:pPr lvl="1">
              <a:buFontTx/>
              <a:buChar char="-"/>
            </a:pPr>
            <a:endParaRPr lang="en-US" sz="2400" dirty="0">
              <a:latin typeface="Calibri (Body)"/>
            </a:endParaRPr>
          </a:p>
        </p:txBody>
      </p:sp>
    </p:spTree>
    <p:extLst>
      <p:ext uri="{BB962C8B-B14F-4D97-AF65-F5344CB8AC3E}">
        <p14:creationId xmlns:p14="http://schemas.microsoft.com/office/powerpoint/2010/main" val="378428731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40763E-AC7F-EB28-BD09-03DC5045D1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2405" y="286603"/>
            <a:ext cx="10058400" cy="1450757"/>
          </a:xfrm>
        </p:spPr>
        <p:txBody>
          <a:bodyPr/>
          <a:lstStyle/>
          <a:p>
            <a:r>
              <a:rPr lang="en-US" dirty="0"/>
              <a:t>Attack C – Wiener’s Attack / low 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7A103C-824D-63E5-19B2-5C4B19B5AC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969343"/>
            <a:ext cx="12191999" cy="3783757"/>
          </a:xfrm>
        </p:spPr>
        <p:txBody>
          <a:bodyPr>
            <a:normAutofit/>
          </a:bodyPr>
          <a:lstStyle/>
          <a:p>
            <a:r>
              <a:rPr lang="en-US" sz="2800" dirty="0"/>
              <a:t>- </a:t>
            </a:r>
            <a:r>
              <a:rPr lang="en-US" sz="2800" dirty="0" err="1"/>
              <a:t>Khai</a:t>
            </a:r>
            <a:r>
              <a:rPr lang="en-US" sz="2800" dirty="0"/>
              <a:t> </a:t>
            </a:r>
            <a:r>
              <a:rPr lang="en-US" sz="2800" dirty="0" err="1"/>
              <a:t>thác</a:t>
            </a:r>
            <a:r>
              <a:rPr lang="en-US" sz="2800" dirty="0"/>
              <a:t> </a:t>
            </a:r>
            <a:r>
              <a:rPr lang="en-US" sz="2800" dirty="0" err="1"/>
              <a:t>cấu</a:t>
            </a:r>
            <a:r>
              <a:rPr lang="en-US" sz="2800" dirty="0"/>
              <a:t> </a:t>
            </a:r>
            <a:r>
              <a:rPr lang="en-US" sz="2800" dirty="0" err="1"/>
              <a:t>hình</a:t>
            </a:r>
            <a:r>
              <a:rPr lang="en-US" sz="2800" dirty="0"/>
              <a:t> RSA </a:t>
            </a:r>
            <a:r>
              <a:rPr lang="en-US" sz="2800" b="1" dirty="0" err="1"/>
              <a:t>không</a:t>
            </a:r>
            <a:r>
              <a:rPr lang="en-US" sz="2800" b="1" dirty="0"/>
              <a:t> an </a:t>
            </a:r>
            <a:r>
              <a:rPr lang="en-US" sz="2800" b="1" dirty="0" err="1"/>
              <a:t>toàn</a:t>
            </a:r>
            <a:r>
              <a:rPr lang="en-US" sz="2800" b="1" dirty="0"/>
              <a:t> </a:t>
            </a:r>
            <a:r>
              <a:rPr lang="en-US" sz="2800" dirty="0" err="1"/>
              <a:t>khi</a:t>
            </a:r>
            <a:r>
              <a:rPr lang="en-US" sz="2800" dirty="0"/>
              <a:t> </a:t>
            </a:r>
            <a:r>
              <a:rPr lang="en-US" sz="2800" b="1" dirty="0"/>
              <a:t>private exponent 𝑑 </a:t>
            </a:r>
            <a:r>
              <a:rPr lang="en-US" sz="2800" b="1" dirty="0" err="1"/>
              <a:t>quá</a:t>
            </a:r>
            <a:r>
              <a:rPr lang="en-US" sz="2800" b="1" dirty="0"/>
              <a:t> </a:t>
            </a:r>
            <a:r>
              <a:rPr lang="en-US" sz="2800" b="1" dirty="0" err="1"/>
              <a:t>nhỏ</a:t>
            </a:r>
            <a:r>
              <a:rPr lang="en-US" sz="2800" dirty="0"/>
              <a:t>, </a:t>
            </a:r>
            <a:r>
              <a:rPr lang="en-US" sz="2800" dirty="0" err="1"/>
              <a:t>cho</a:t>
            </a:r>
            <a:r>
              <a:rPr lang="en-US" sz="2800" dirty="0"/>
              <a:t> </a:t>
            </a:r>
            <a:r>
              <a:rPr lang="en-US" sz="2800" dirty="0" err="1"/>
              <a:t>phép</a:t>
            </a:r>
            <a:r>
              <a:rPr lang="en-US" sz="2800" dirty="0"/>
              <a:t>:</a:t>
            </a:r>
          </a:p>
          <a:p>
            <a:pPr lvl="1"/>
            <a:r>
              <a:rPr lang="en-US" sz="2800" dirty="0" err="1"/>
              <a:t>Khôi</a:t>
            </a:r>
            <a:r>
              <a:rPr lang="en-US" sz="2800" dirty="0"/>
              <a:t> </a:t>
            </a:r>
            <a:r>
              <a:rPr lang="en-US" sz="2800" dirty="0" err="1"/>
              <a:t>phục</a:t>
            </a:r>
            <a:r>
              <a:rPr lang="en-US" sz="2800" dirty="0"/>
              <a:t> private key</a:t>
            </a:r>
          </a:p>
          <a:p>
            <a:pPr lvl="1"/>
            <a:r>
              <a:rPr lang="en-US" sz="2800" dirty="0" err="1"/>
              <a:t>Chỉ</a:t>
            </a:r>
            <a:r>
              <a:rPr lang="en-US" sz="2800" dirty="0"/>
              <a:t> </a:t>
            </a:r>
            <a:r>
              <a:rPr lang="en-US" sz="2800" dirty="0" err="1"/>
              <a:t>cần</a:t>
            </a:r>
            <a:r>
              <a:rPr lang="en-US" sz="2800" dirty="0"/>
              <a:t> </a:t>
            </a:r>
            <a:r>
              <a:rPr lang="en-US" sz="2800" dirty="0" err="1"/>
              <a:t>khóa</a:t>
            </a:r>
            <a:r>
              <a:rPr lang="en-US" sz="2800" dirty="0"/>
              <a:t> </a:t>
            </a:r>
            <a:r>
              <a:rPr lang="en-US" sz="2800" dirty="0" err="1"/>
              <a:t>công</a:t>
            </a:r>
            <a:r>
              <a:rPr lang="en-US" sz="2800" dirty="0"/>
              <a:t> </a:t>
            </a:r>
            <a:r>
              <a:rPr lang="en-US" sz="2800" dirty="0" err="1"/>
              <a:t>khai</a:t>
            </a:r>
            <a:r>
              <a:rPr lang="en-US" sz="2800" dirty="0"/>
              <a:t> (</a:t>
            </a:r>
            <a:r>
              <a:rPr lang="en-US" sz="2800" dirty="0" err="1"/>
              <a:t>N,e</a:t>
            </a:r>
            <a:r>
              <a:rPr lang="en-US" sz="2800" dirty="0"/>
              <a:t>)</a:t>
            </a:r>
          </a:p>
          <a:p>
            <a:pPr marL="201168" lvl="1" indent="0">
              <a:buNone/>
            </a:pPr>
            <a:r>
              <a:rPr lang="en-US" sz="2800" dirty="0"/>
              <a:t>=&gt; </a:t>
            </a:r>
            <a:r>
              <a:rPr lang="en-US" sz="2800" dirty="0" err="1"/>
              <a:t>Dẫn</a:t>
            </a:r>
            <a:r>
              <a:rPr lang="en-US" sz="2800" dirty="0"/>
              <a:t> </a:t>
            </a:r>
            <a:r>
              <a:rPr lang="en-US" sz="2800" dirty="0" err="1"/>
              <a:t>tới</a:t>
            </a:r>
            <a:r>
              <a:rPr lang="en-US" sz="2800" dirty="0"/>
              <a:t> forgery </a:t>
            </a:r>
            <a:r>
              <a:rPr lang="en-US" sz="2800" dirty="0" err="1"/>
              <a:t>chữ</a:t>
            </a:r>
            <a:r>
              <a:rPr lang="en-US" sz="2800" dirty="0"/>
              <a:t> </a:t>
            </a:r>
            <a:r>
              <a:rPr lang="en-US" sz="2800" dirty="0" err="1"/>
              <a:t>kí</a:t>
            </a:r>
            <a:r>
              <a:rPr lang="en-US" sz="2800" dirty="0"/>
              <a:t> </a:t>
            </a:r>
            <a:r>
              <a:rPr lang="en-US" sz="2800" dirty="0" err="1"/>
              <a:t>số</a:t>
            </a:r>
            <a:r>
              <a:rPr lang="en-US" sz="2800" dirty="0"/>
              <a:t> </a:t>
            </a:r>
            <a:r>
              <a:rPr lang="en-US" sz="2800" dirty="0" err="1"/>
              <a:t>và</a:t>
            </a:r>
            <a:r>
              <a:rPr lang="en-US" sz="2800" dirty="0"/>
              <a:t> Broken Access Control</a:t>
            </a:r>
          </a:p>
        </p:txBody>
      </p:sp>
    </p:spTree>
    <p:extLst>
      <p:ext uri="{BB962C8B-B14F-4D97-AF65-F5344CB8AC3E}">
        <p14:creationId xmlns:p14="http://schemas.microsoft.com/office/powerpoint/2010/main" val="294150928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40763E-AC7F-EB28-BD09-03DC5045D1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2405" y="286603"/>
            <a:ext cx="10058400" cy="1450757"/>
          </a:xfrm>
        </p:spPr>
        <p:txBody>
          <a:bodyPr/>
          <a:lstStyle/>
          <a:p>
            <a:r>
              <a:rPr lang="en-US" dirty="0" err="1"/>
              <a:t>Điều</a:t>
            </a:r>
            <a:r>
              <a:rPr lang="en-US" dirty="0"/>
              <a:t> </a:t>
            </a:r>
            <a:r>
              <a:rPr lang="en-US" dirty="0" err="1"/>
              <a:t>kiện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E7A103C-824D-63E5-19B2-5C4B19B5AC1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0" y="1969343"/>
                <a:ext cx="12191999" cy="3783757"/>
              </a:xfrm>
            </p:spPr>
            <p:txBody>
              <a:bodyPr>
                <a:normAutofit/>
              </a:bodyPr>
              <a:lstStyle/>
              <a:p>
                <a:r>
                  <a:rPr lang="en-US" sz="3200" dirty="0"/>
                  <a:t>Wiener </a:t>
                </a:r>
                <a:r>
                  <a:rPr lang="en-US" sz="3200" dirty="0" err="1"/>
                  <a:t>chứng</a:t>
                </a:r>
                <a:r>
                  <a:rPr lang="en-US" sz="3200" dirty="0"/>
                  <a:t> </a:t>
                </a:r>
                <a:r>
                  <a:rPr lang="en-US" sz="3200" dirty="0" err="1"/>
                  <a:t>minh</a:t>
                </a:r>
                <a:r>
                  <a:rPr lang="en-US" sz="3200" dirty="0"/>
                  <a:t> </a:t>
                </a:r>
                <a:r>
                  <a:rPr lang="en-US" sz="3200" dirty="0" err="1"/>
                  <a:t>tấn</a:t>
                </a:r>
                <a:r>
                  <a:rPr lang="en-US" sz="3200" dirty="0"/>
                  <a:t> </a:t>
                </a:r>
                <a:r>
                  <a:rPr lang="en-US" sz="3200" dirty="0" err="1"/>
                  <a:t>công</a:t>
                </a:r>
                <a:r>
                  <a:rPr lang="en-US" sz="3200" dirty="0"/>
                  <a:t> </a:t>
                </a:r>
                <a:r>
                  <a:rPr lang="en-US" sz="3200" dirty="0" err="1"/>
                  <a:t>thành</a:t>
                </a:r>
                <a:r>
                  <a:rPr lang="en-US" sz="3200" dirty="0"/>
                  <a:t> </a:t>
                </a:r>
                <a:r>
                  <a:rPr lang="en-US" sz="3200" dirty="0" err="1"/>
                  <a:t>công</a:t>
                </a:r>
                <a:r>
                  <a:rPr lang="en-US" sz="3200" dirty="0"/>
                  <a:t> </a:t>
                </a:r>
                <a:r>
                  <a:rPr lang="en-US" sz="3200" dirty="0" err="1"/>
                  <a:t>nếu</a:t>
                </a:r>
                <a:r>
                  <a:rPr lang="en-US" sz="3200" dirty="0"/>
                  <a:t>:</a:t>
                </a:r>
              </a:p>
              <a:p>
                <a:pPr algn="ctr"/>
                <a14:m>
                  <m:oMath xmlns:m="http://schemas.openxmlformats.org/officeDocument/2006/math">
                    <m:r>
                      <a:rPr lang="en-US" sz="3200" b="0" i="1" smtClean="0">
                        <a:latin typeface="Cambria Math" panose="02040503050406030204" pitchFamily="18" charset="0"/>
                      </a:rPr>
                      <m:t>𝑑</m:t>
                    </m:r>
                    <m:r>
                      <a:rPr lang="en-US" sz="3200" b="0" i="1" smtClean="0">
                        <a:latin typeface="Cambria Math" panose="02040503050406030204" pitchFamily="18" charset="0"/>
                      </a:rPr>
                      <m:t>&lt; </m:t>
                    </m:r>
                    <m:f>
                      <m:fPr>
                        <m:ctrlPr>
                          <a:rPr lang="en-US" sz="32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32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3200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den>
                    </m:f>
                    <m:sSup>
                      <m:sSupPr>
                        <m:ctrlPr>
                          <a:rPr lang="en-US" sz="32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3200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p>
                        <m:f>
                          <m:fPr>
                            <m:ctrlPr>
                              <a:rPr lang="en-US" sz="3200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32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US" sz="3200" b="0" i="1" smtClean="0">
                                <a:latin typeface="Cambria Math" panose="02040503050406030204" pitchFamily="18" charset="0"/>
                              </a:rPr>
                              <m:t>4</m:t>
                            </m:r>
                          </m:den>
                        </m:f>
                      </m:sup>
                    </m:sSup>
                  </m:oMath>
                </a14:m>
                <a:endParaRPr lang="en-US" sz="3200" dirty="0"/>
              </a:p>
              <a:p>
                <a:r>
                  <a:rPr lang="vi-VN" sz="3200" dirty="0">
                    <a:latin typeface="Calibri (Body)"/>
                  </a:rPr>
                  <a:t>với giả thiết RSA chuẩn: p, q có kích thước gần nhau.</a:t>
                </a:r>
              </a:p>
              <a:p>
                <a:r>
                  <a:rPr lang="en-US" sz="2800" dirty="0"/>
                  <a:t>- </a:t>
                </a:r>
                <a:r>
                  <a:rPr lang="en-US" sz="2800" dirty="0" err="1"/>
                  <a:t>Thường</a:t>
                </a:r>
                <a:r>
                  <a:rPr lang="en-US" sz="2800" dirty="0"/>
                  <a:t> </a:t>
                </a:r>
                <a:r>
                  <a:rPr lang="en-US" sz="2800" dirty="0" err="1"/>
                  <a:t>thấy</a:t>
                </a:r>
                <a:r>
                  <a:rPr lang="en-US" sz="2800" dirty="0"/>
                  <a:t> </a:t>
                </a:r>
                <a:r>
                  <a:rPr lang="en-US" sz="2800" dirty="0" err="1"/>
                  <a:t>trong</a:t>
                </a:r>
                <a:r>
                  <a:rPr lang="en-US" sz="2800" dirty="0"/>
                  <a:t> </a:t>
                </a:r>
                <a:r>
                  <a:rPr lang="en-US" sz="2800" dirty="0" err="1"/>
                  <a:t>việc</a:t>
                </a:r>
                <a:r>
                  <a:rPr lang="en-US" sz="2800" dirty="0"/>
                  <a:t> </a:t>
                </a:r>
                <a:r>
                  <a:rPr lang="en-US" sz="2800" dirty="0" err="1"/>
                  <a:t>tự</a:t>
                </a:r>
                <a:r>
                  <a:rPr lang="en-US" sz="2800" dirty="0"/>
                  <a:t> </a:t>
                </a:r>
                <a:r>
                  <a:rPr lang="en-US" sz="2800" dirty="0" err="1"/>
                  <a:t>triển</a:t>
                </a:r>
                <a:r>
                  <a:rPr lang="en-US" sz="2800" dirty="0"/>
                  <a:t> </a:t>
                </a:r>
                <a:r>
                  <a:rPr lang="en-US" sz="2800" dirty="0" err="1"/>
                  <a:t>khai</a:t>
                </a:r>
                <a:r>
                  <a:rPr lang="en-US" sz="2800" dirty="0"/>
                  <a:t> RSA</a:t>
                </a:r>
              </a:p>
              <a:p>
                <a:r>
                  <a:rPr lang="en-US" sz="2800" dirty="0"/>
                  <a:t>- </a:t>
                </a:r>
                <a:r>
                  <a:rPr lang="en-US" sz="2800" dirty="0" err="1"/>
                  <a:t>Các</a:t>
                </a:r>
                <a:r>
                  <a:rPr lang="en-US" sz="2800" dirty="0"/>
                  <a:t> </a:t>
                </a:r>
                <a:r>
                  <a:rPr lang="en-US" sz="2800" dirty="0" err="1"/>
                  <a:t>phần</a:t>
                </a:r>
                <a:r>
                  <a:rPr lang="en-US" sz="2800" dirty="0"/>
                  <a:t> </a:t>
                </a:r>
                <a:r>
                  <a:rPr lang="en-US" sz="2800" dirty="0" err="1"/>
                  <a:t>cứng</a:t>
                </a:r>
                <a:r>
                  <a:rPr lang="en-US" sz="2800" dirty="0"/>
                  <a:t> </a:t>
                </a:r>
                <a:r>
                  <a:rPr lang="en-US" sz="2800" dirty="0" err="1"/>
                  <a:t>bị</a:t>
                </a:r>
                <a:r>
                  <a:rPr lang="en-US" sz="2800" dirty="0"/>
                  <a:t> </a:t>
                </a:r>
                <a:r>
                  <a:rPr lang="en-US" sz="2800" dirty="0" err="1"/>
                  <a:t>hạn</a:t>
                </a:r>
                <a:r>
                  <a:rPr lang="en-US" sz="2800" dirty="0"/>
                  <a:t> </a:t>
                </a:r>
                <a:r>
                  <a:rPr lang="en-US" sz="2800" dirty="0" err="1"/>
                  <a:t>chế</a:t>
                </a:r>
                <a:r>
                  <a:rPr lang="en-US" sz="2800" dirty="0"/>
                  <a:t>, </a:t>
                </a:r>
                <a:r>
                  <a:rPr lang="en-US" sz="2800" dirty="0" err="1"/>
                  <a:t>phải</a:t>
                </a:r>
                <a:r>
                  <a:rPr lang="en-US" sz="2800" dirty="0"/>
                  <a:t> </a:t>
                </a:r>
                <a:r>
                  <a:rPr lang="en-US" sz="2800" dirty="0" err="1"/>
                  <a:t>tối</a:t>
                </a:r>
                <a:r>
                  <a:rPr lang="en-US" sz="2800" dirty="0"/>
                  <a:t> </a:t>
                </a:r>
                <a:r>
                  <a:rPr lang="en-US" sz="2800" dirty="0" err="1"/>
                  <a:t>ưu</a:t>
                </a:r>
                <a:endParaRPr lang="en-US" sz="2800" dirty="0"/>
              </a:p>
              <a:p>
                <a:pPr marL="0" indent="0">
                  <a:buNone/>
                </a:pPr>
                <a:endParaRPr lang="en-US" sz="28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E7A103C-824D-63E5-19B2-5C4B19B5AC1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0" y="1969343"/>
                <a:ext cx="12191999" cy="3783757"/>
              </a:xfrm>
              <a:blipFill>
                <a:blip r:embed="rId2"/>
                <a:stretch>
                  <a:fillRect l="-1250" t="-33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02636504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AE38B6-F7AA-F477-A900-EC70CD091C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6649" y="301628"/>
            <a:ext cx="10058400" cy="1450757"/>
          </a:xfrm>
        </p:spPr>
        <p:txBody>
          <a:bodyPr/>
          <a:lstStyle/>
          <a:p>
            <a:r>
              <a:rPr lang="en-US" dirty="0"/>
              <a:t>Ý </a:t>
            </a:r>
            <a:r>
              <a:rPr lang="en-US" dirty="0" err="1"/>
              <a:t>tưởng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8148CA2-C224-7EF2-54DA-633C3196CDD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0" y="1875208"/>
                <a:ext cx="7237095" cy="4364566"/>
              </a:xfrm>
            </p:spPr>
            <p:txBody>
              <a:bodyPr>
                <a:normAutofit fontScale="85000" lnSpcReduction="20000"/>
              </a:bodyPr>
              <a:lstStyle/>
              <a:p>
                <a:r>
                  <a:rPr lang="en-US" b="1" dirty="0"/>
                  <a:t>Quan </a:t>
                </a:r>
                <a:r>
                  <a:rPr lang="en-US" b="1" dirty="0" err="1"/>
                  <a:t>sát</a:t>
                </a:r>
                <a:r>
                  <a:rPr lang="en-US" b="1" dirty="0"/>
                  <a:t> </a:t>
                </a:r>
                <a:r>
                  <a:rPr lang="en-US" b="1" dirty="0" err="1"/>
                  <a:t>chính</a:t>
                </a:r>
                <a:endParaRPr lang="en-US" b="1" dirty="0"/>
              </a:p>
              <a:p>
                <a:r>
                  <a:rPr lang="en-US" dirty="0"/>
                  <a:t>Trong RSA, ta </a:t>
                </a:r>
                <a:r>
                  <a:rPr lang="en-US" dirty="0" err="1"/>
                  <a:t>có</a:t>
                </a:r>
                <a:r>
                  <a:rPr lang="en-US" dirty="0"/>
                  <a:t>:</a:t>
                </a:r>
              </a:p>
              <a:p>
                <a:pPr algn="ctr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𝑒𝑑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≡1 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𝑚𝑜𝑑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𝜑</m:t>
                        </m:r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𝑁</m:t>
                            </m:r>
                          </m:e>
                        </m:d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𝑒𝑑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𝑘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𝜑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𝑁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=1</m:t>
                    </m:r>
                  </m:oMath>
                </a14:m>
                <a:endParaRPr lang="en-US" dirty="0"/>
              </a:p>
              <a:p>
                <a:r>
                  <a:rPr lang="en-US" dirty="0"/>
                  <a:t>Chia </a:t>
                </a:r>
                <a:r>
                  <a:rPr lang="en-US" dirty="0" err="1"/>
                  <a:t>hai</a:t>
                </a:r>
                <a:r>
                  <a:rPr lang="en-US" dirty="0"/>
                  <a:t> </a:t>
                </a:r>
                <a:r>
                  <a:rPr lang="en-US" dirty="0" err="1"/>
                  <a:t>vế</a:t>
                </a:r>
                <a:r>
                  <a:rPr lang="en-US" dirty="0"/>
                  <a:t> </a:t>
                </a:r>
                <a:r>
                  <a:rPr lang="en-US" dirty="0" err="1"/>
                  <a:t>cho</a:t>
                </a:r>
                <a:r>
                  <a:rPr lang="en-US" b="0" dirty="0"/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𝑑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𝜑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𝑁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:</a:t>
                </a:r>
              </a:p>
              <a:p>
                <a:pPr algn="ctr"/>
                <a14:m>
                  <m:oMath xmlns:m="http://schemas.openxmlformats.org/officeDocument/2006/math">
                    <m:f>
                      <m:f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𝑒</m:t>
                        </m:r>
                      </m:num>
                      <m:den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𝜑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𝑁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den>
                    </m:f>
                    <m:r>
                      <a:rPr lang="en-US" b="0" i="1" smtClean="0">
                        <a:latin typeface="Cambria Math" panose="02040503050406030204" pitchFamily="18" charset="0"/>
                      </a:rPr>
                      <m:t>−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</m:den>
                    </m:f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𝜑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𝑁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den>
                    </m:f>
                  </m:oMath>
                </a14:m>
                <a:endParaRPr lang="en-US" dirty="0"/>
              </a:p>
              <a:p>
                <a:r>
                  <a:rPr lang="en-US" dirty="0"/>
                  <a:t>VÌ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𝜑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𝑁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≈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en-US" dirty="0"/>
                  <a:t> (</a:t>
                </a:r>
                <a:r>
                  <a:rPr lang="en-US" dirty="0" err="1"/>
                  <a:t>khi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≈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𝑞</m:t>
                    </m:r>
                  </m:oMath>
                </a14:m>
                <a:r>
                  <a:rPr lang="en-US" dirty="0"/>
                  <a:t>), </a:t>
                </a:r>
                <a:r>
                  <a:rPr lang="en-US" dirty="0" err="1"/>
                  <a:t>nên</a:t>
                </a:r>
                <a:r>
                  <a:rPr lang="en-US" dirty="0"/>
                  <a:t>:</a:t>
                </a:r>
              </a:p>
              <a:p>
                <a:pPr algn="ctr"/>
                <a14:m>
                  <m:oMath xmlns:m="http://schemas.openxmlformats.org/officeDocument/2006/math">
                    <m:f>
                      <m:f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𝑒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</m:den>
                    </m:f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≈</m:t>
                    </m:r>
                    <m:f>
                      <m:fPr>
                        <m:ctrlP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𝑘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𝑑</m:t>
                        </m:r>
                      </m:den>
                    </m:f>
                  </m:oMath>
                </a14:m>
                <a:endParaRPr lang="en-US" dirty="0"/>
              </a:p>
              <a:p>
                <a:r>
                  <a:rPr lang="en-US" dirty="0" err="1"/>
                  <a:t>Điểm</a:t>
                </a:r>
                <a:r>
                  <a:rPr lang="en-US" dirty="0"/>
                  <a:t> </a:t>
                </a:r>
                <a:r>
                  <a:rPr lang="en-US" dirty="0" err="1"/>
                  <a:t>mấu</a:t>
                </a:r>
                <a:r>
                  <a:rPr lang="en-US" dirty="0"/>
                  <a:t> </a:t>
                </a:r>
                <a:r>
                  <a:rPr lang="en-US" dirty="0" err="1"/>
                  <a:t>chốt</a:t>
                </a:r>
                <a:r>
                  <a:rPr lang="en-US" dirty="0"/>
                  <a:t> </a:t>
                </a:r>
                <a:r>
                  <a:rPr lang="en-US" dirty="0" err="1"/>
                  <a:t>của</a:t>
                </a:r>
                <a:r>
                  <a:rPr lang="en-US" dirty="0"/>
                  <a:t> Wiener, </a:t>
                </a:r>
                <a:r>
                  <a:rPr lang="en-US" dirty="0" err="1"/>
                  <a:t>nếu</a:t>
                </a:r>
                <a:r>
                  <a:rPr lang="en-US" dirty="0"/>
                  <a:t> d </a:t>
                </a:r>
                <a:r>
                  <a:rPr lang="en-US" dirty="0" err="1"/>
                  <a:t>rất</a:t>
                </a:r>
                <a:r>
                  <a:rPr lang="en-US" dirty="0"/>
                  <a:t> </a:t>
                </a:r>
                <a:r>
                  <a:rPr lang="en-US" dirty="0" err="1"/>
                  <a:t>nhỏ</a:t>
                </a:r>
                <a:r>
                  <a:rPr lang="en-US" dirty="0"/>
                  <a:t>:</a:t>
                </a:r>
              </a:p>
              <a:p>
                <a:pPr algn="ctr"/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𝑑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&lt; </m:t>
                    </m:r>
                    <m:f>
                      <m:f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den>
                    </m:f>
                    <m:sSup>
                      <m:sSup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p>
                        <m:f>
                          <m:fPr>
                            <m:ctrlP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4</m:t>
                            </m:r>
                          </m:den>
                        </m:f>
                      </m:sup>
                    </m:sSup>
                  </m:oMath>
                </a14:m>
                <a:endParaRPr lang="en-US" dirty="0"/>
              </a:p>
              <a:p>
                <a:r>
                  <a:rPr lang="en-US" dirty="0" err="1"/>
                  <a:t>Thì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</m:den>
                    </m:f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 </a:t>
                </a:r>
                <a:r>
                  <a:rPr lang="en-US" dirty="0" err="1"/>
                  <a:t>sẽ</a:t>
                </a:r>
                <a:r>
                  <a:rPr lang="en-US" dirty="0"/>
                  <a:t> </a:t>
                </a:r>
                <a:r>
                  <a:rPr lang="en-US" dirty="0" err="1"/>
                  <a:t>xuất</a:t>
                </a:r>
                <a:r>
                  <a:rPr lang="en-US" dirty="0"/>
                  <a:t> </a:t>
                </a:r>
                <a:r>
                  <a:rPr lang="en-US" dirty="0" err="1"/>
                  <a:t>hiện</a:t>
                </a:r>
                <a:r>
                  <a:rPr lang="en-US" dirty="0"/>
                  <a:t> </a:t>
                </a:r>
                <a:r>
                  <a:rPr lang="en-US" dirty="0" err="1"/>
                  <a:t>như</a:t>
                </a:r>
                <a:r>
                  <a:rPr lang="en-US" dirty="0"/>
                  <a:t> </a:t>
                </a:r>
                <a:r>
                  <a:rPr lang="en-US" dirty="0" err="1"/>
                  <a:t>một</a:t>
                </a:r>
                <a:r>
                  <a:rPr lang="en-US" dirty="0"/>
                  <a:t> convergent </a:t>
                </a:r>
                <a:r>
                  <a:rPr lang="en-US" dirty="0" err="1"/>
                  <a:t>trong</a:t>
                </a:r>
                <a:r>
                  <a:rPr lang="en-US" dirty="0"/>
                  <a:t> continued fraction </a:t>
                </a:r>
                <a:r>
                  <a:rPr lang="en-US" dirty="0" err="1"/>
                  <a:t>của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latin typeface="Cambria Math" panose="02040503050406030204" pitchFamily="18" charset="0"/>
                          </a:rPr>
                          <m:t>𝑒</m:t>
                        </m:r>
                      </m:num>
                      <m:den>
                        <m:r>
                          <a:rPr lang="en-US" i="1">
                            <a:latin typeface="Cambria Math" panose="02040503050406030204" pitchFamily="18" charset="0"/>
                          </a:rPr>
                          <m:t>𝑁</m:t>
                        </m:r>
                      </m:den>
                    </m:f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8148CA2-C224-7EF2-54DA-633C3196CDD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0" y="1875208"/>
                <a:ext cx="7237095" cy="4364566"/>
              </a:xfrm>
              <a:blipFill>
                <a:blip r:embed="rId2"/>
                <a:stretch>
                  <a:fillRect l="-505" t="-209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5830719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AE38B6-F7AA-F477-A900-EC70CD091C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284374"/>
            <a:ext cx="10058400" cy="1450757"/>
          </a:xfrm>
        </p:spPr>
        <p:txBody>
          <a:bodyPr/>
          <a:lstStyle/>
          <a:p>
            <a:r>
              <a:rPr lang="en-US" dirty="0"/>
              <a:t>Ý </a:t>
            </a:r>
            <a:r>
              <a:rPr lang="en-US" dirty="0" err="1"/>
              <a:t>tưởng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8148CA2-C224-7EF2-54DA-633C3196CDD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0" y="1849328"/>
                <a:ext cx="7237095" cy="3369653"/>
              </a:xfrm>
            </p:spPr>
            <p:txBody>
              <a:bodyPr>
                <a:normAutofit/>
              </a:bodyPr>
              <a:lstStyle/>
              <a:p>
                <a:r>
                  <a:rPr lang="en-US" sz="2000" b="1" dirty="0"/>
                  <a:t>Cách </a:t>
                </a:r>
                <a:r>
                  <a:rPr lang="en-US" sz="2000" b="1" dirty="0" err="1"/>
                  <a:t>tấn</a:t>
                </a:r>
                <a:r>
                  <a:rPr lang="en-US" sz="2000" b="1" dirty="0"/>
                  <a:t> </a:t>
                </a:r>
                <a:r>
                  <a:rPr lang="en-US" sz="2000" b="1" dirty="0" err="1"/>
                  <a:t>công</a:t>
                </a:r>
                <a:endParaRPr lang="en-US" sz="2000" b="1" dirty="0"/>
              </a:p>
              <a:p>
                <a:r>
                  <a:rPr lang="en-US" sz="2000" dirty="0"/>
                  <a:t>1. </a:t>
                </a:r>
                <a:r>
                  <a:rPr lang="en-US" sz="2000" dirty="0" err="1"/>
                  <a:t>Tính</a:t>
                </a:r>
                <a:r>
                  <a:rPr lang="en-US" sz="2000" dirty="0"/>
                  <a:t> </a:t>
                </a:r>
                <a:r>
                  <a:rPr lang="en-US" sz="2000" dirty="0" err="1"/>
                  <a:t>từng</a:t>
                </a:r>
                <a:r>
                  <a:rPr lang="en-US" sz="2000" dirty="0"/>
                  <a:t> continued fraction </a:t>
                </a:r>
                <a:r>
                  <a:rPr lang="en-US" sz="2000" dirty="0" err="1"/>
                  <a:t>của</a:t>
                </a:r>
                <a:r>
                  <a:rPr lang="en-US" sz="2000" dirty="0"/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200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𝑒</m:t>
                        </m:r>
                      </m:num>
                      <m:den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𝑁</m:t>
                        </m:r>
                      </m:den>
                    </m:f>
                  </m:oMath>
                </a14:m>
                <a:r>
                  <a:rPr lang="en-US" sz="2000" dirty="0"/>
                  <a:t> </a:t>
                </a:r>
              </a:p>
              <a:p>
                <a:r>
                  <a:rPr lang="en-US" sz="2000" dirty="0"/>
                  <a:t>2. </a:t>
                </a:r>
                <a:r>
                  <a:rPr lang="en-US" sz="2000" dirty="0" err="1"/>
                  <a:t>Duyệt</a:t>
                </a:r>
                <a:r>
                  <a:rPr lang="en-US" sz="2000" dirty="0"/>
                  <a:t> </a:t>
                </a:r>
                <a:r>
                  <a:rPr lang="en-US" sz="2000" dirty="0" err="1"/>
                  <a:t>từng</a:t>
                </a:r>
                <a:r>
                  <a:rPr lang="en-US" sz="2000" dirty="0"/>
                  <a:t> convergent </a:t>
                </a:r>
                <a:r>
                  <a:rPr lang="en-US" sz="2000" dirty="0" err="1"/>
                  <a:t>của</a:t>
                </a:r>
                <a:r>
                  <a:rPr lang="en-US" sz="2000" dirty="0"/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200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sz="20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</m:e>
                          <m:sub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𝑑</m:t>
                            </m:r>
                          </m:e>
                          <m:sub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den>
                    </m:f>
                  </m:oMath>
                </a14:m>
                <a:endParaRPr lang="en-US" sz="2000" dirty="0"/>
              </a:p>
              <a:p>
                <a:r>
                  <a:rPr lang="en-US" sz="2000" dirty="0"/>
                  <a:t>3. </a:t>
                </a:r>
                <a:r>
                  <a:rPr lang="en-US" sz="2000" dirty="0" err="1"/>
                  <a:t>Với</a:t>
                </a:r>
                <a:r>
                  <a:rPr lang="en-US" sz="2000" dirty="0"/>
                  <a:t> </a:t>
                </a:r>
                <a:r>
                  <a:rPr lang="en-US" sz="2000" dirty="0" err="1"/>
                  <a:t>mỗi</a:t>
                </a:r>
                <a:r>
                  <a:rPr lang="en-US" sz="20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2000" dirty="0"/>
                  <a:t>, </a:t>
                </a:r>
                <a:r>
                  <a:rPr lang="en-US" sz="2000" dirty="0" err="1"/>
                  <a:t>suy</a:t>
                </a:r>
                <a:r>
                  <a:rPr lang="en-US" sz="2000" dirty="0"/>
                  <a:t> </a:t>
                </a:r>
                <a:r>
                  <a:rPr lang="en-US" sz="2000" dirty="0" err="1"/>
                  <a:t>ra</a:t>
                </a:r>
                <a:r>
                  <a:rPr lang="en-US" sz="2000" dirty="0"/>
                  <a:t>:</a:t>
                </a:r>
              </a:p>
              <a:p>
                <a:pPr algn="ctr"/>
                <a14:m>
                  <m:oMath xmlns:m="http://schemas.openxmlformats.org/officeDocument/2006/math">
                    <m:r>
                      <a:rPr lang="en-US" sz="20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𝜑</m:t>
                    </m:r>
                    <m:d>
                      <m:dPr>
                        <m:ctrlP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𝑁</m:t>
                        </m:r>
                      </m:e>
                    </m:d>
                    <m:r>
                      <a:rPr lang="en-US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 </m:t>
                    </m:r>
                    <m:f>
                      <m:fPr>
                        <m:ctrlP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𝑒</m:t>
                        </m:r>
                        <m:sSub>
                          <m:sSubPr>
                            <m:ctrlPr>
                              <a:rPr lang="en-US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𝑑</m:t>
                            </m:r>
                          </m:e>
                          <m:sub>
                            <m:r>
                              <a:rPr lang="en-US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−1</m:t>
                        </m:r>
                      </m:num>
                      <m:den>
                        <m:sSub>
                          <m:sSubPr>
                            <m:ctrlPr>
                              <a:rPr lang="en-US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𝑘</m:t>
                            </m:r>
                          </m:e>
                          <m:sub>
                            <m:r>
                              <a:rPr lang="en-US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den>
                    </m:f>
                  </m:oMath>
                </a14:m>
                <a:endParaRPr lang="en-US" sz="2000" dirty="0"/>
              </a:p>
              <a:p>
                <a:r>
                  <a:rPr lang="en-US" sz="2000" dirty="0"/>
                  <a:t>4. </a:t>
                </a:r>
                <a:r>
                  <a:rPr lang="en-US" sz="2000" dirty="0" err="1"/>
                  <a:t>Từ</a:t>
                </a:r>
                <a:r>
                  <a:rPr lang="en-US" sz="2000" dirty="0"/>
                  <a:t> </a:t>
                </a:r>
                <a14:m>
                  <m:oMath xmlns:m="http://schemas.openxmlformats.org/officeDocument/2006/math">
                    <m:r>
                      <a:rPr lang="en-US" sz="20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𝜑</m:t>
                    </m:r>
                    <m:d>
                      <m:dPr>
                        <m:ctrlP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𝑁</m:t>
                        </m:r>
                      </m:e>
                    </m:d>
                  </m:oMath>
                </a14:m>
                <a:r>
                  <a:rPr lang="en-US" sz="2000" dirty="0"/>
                  <a:t> </a:t>
                </a:r>
                <a:r>
                  <a:rPr lang="en-US" sz="2000" dirty="0" err="1"/>
                  <a:t>giải</a:t>
                </a:r>
                <a:r>
                  <a:rPr lang="en-US" sz="2000" dirty="0"/>
                  <a:t> </a:t>
                </a:r>
                <a:r>
                  <a:rPr lang="en-US" sz="2000" dirty="0" err="1"/>
                  <a:t>ra</a:t>
                </a:r>
                <a:r>
                  <a:rPr lang="en-US" sz="2000" dirty="0"/>
                  <a:t> </a:t>
                </a:r>
                <a:r>
                  <a:rPr lang="en-US" sz="2000" dirty="0" err="1"/>
                  <a:t>p,q</a:t>
                </a:r>
                <a:r>
                  <a:rPr lang="en-US" sz="2000" dirty="0"/>
                  <a:t> =&gt; </a:t>
                </a:r>
                <a:r>
                  <a:rPr lang="en-US" sz="2000" dirty="0" err="1"/>
                  <a:t>dựng</a:t>
                </a:r>
                <a:r>
                  <a:rPr lang="en-US" sz="2000" dirty="0"/>
                  <a:t> </a:t>
                </a:r>
                <a:r>
                  <a:rPr lang="en-US" sz="2000" dirty="0" err="1"/>
                  <a:t>lại</a:t>
                </a:r>
                <a:r>
                  <a:rPr lang="en-US" sz="2000" dirty="0"/>
                  <a:t> private key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8148CA2-C224-7EF2-54DA-633C3196CDD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0" y="1849328"/>
                <a:ext cx="7237095" cy="3369653"/>
              </a:xfrm>
              <a:blipFill>
                <a:blip r:embed="rId2"/>
                <a:stretch>
                  <a:fillRect l="-842" t="-180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" name="Content Placeholder 4">
            <a:extLst>
              <a:ext uri="{FF2B5EF4-FFF2-40B4-BE49-F238E27FC236}">
                <a16:creationId xmlns:a16="http://schemas.microsoft.com/office/drawing/2014/main" id="{57AEDB6B-24DF-EDCC-2B35-516C7CC957C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908311"/>
            <a:ext cx="12192000" cy="14990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1684979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2B0150-081F-3211-A95E-E15A98B8D5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263527"/>
            <a:ext cx="10058400" cy="1450757"/>
          </a:xfrm>
        </p:spPr>
        <p:txBody>
          <a:bodyPr/>
          <a:lstStyle/>
          <a:p>
            <a:r>
              <a:rPr lang="en-US" dirty="0" err="1"/>
              <a:t>Kết</a:t>
            </a:r>
            <a:r>
              <a:rPr lang="en-US" dirty="0"/>
              <a:t> </a:t>
            </a:r>
            <a:r>
              <a:rPr lang="en-US" dirty="0" err="1"/>
              <a:t>quả</a:t>
            </a:r>
            <a:r>
              <a:rPr lang="en-US" dirty="0"/>
              <a:t> - Attack C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565CED2E-5034-A152-2EF1-5CE331C2DB3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804777" y="1855703"/>
            <a:ext cx="8387223" cy="4024313"/>
          </a:xfrm>
        </p:spPr>
      </p:pic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9BA28423-2208-1782-0F63-59F4812F628A}"/>
              </a:ext>
            </a:extLst>
          </p:cNvPr>
          <p:cNvSpPr txBox="1">
            <a:spLocks/>
          </p:cNvSpPr>
          <p:nvPr/>
        </p:nvSpPr>
        <p:spPr>
          <a:xfrm>
            <a:off x="0" y="1940625"/>
            <a:ext cx="3663616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>
            <a:lvl1pPr marL="91440" indent="-9144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Calibri" panose="020F0502020204030204" pitchFamily="34" charset="0"/>
              <a:buChar char=" "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8404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6692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4980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3268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lvl="1">
              <a:buFont typeface="Symbol" panose="05050102010706020507" pitchFamily="18" charset="2"/>
              <a:buChar char="Þ"/>
            </a:pPr>
            <a:r>
              <a:rPr lang="en-US" sz="2400" dirty="0" err="1">
                <a:latin typeface="Calibri (Body)"/>
              </a:rPr>
              <a:t>Tốn</a:t>
            </a:r>
            <a:r>
              <a:rPr lang="en-US" sz="2400" dirty="0">
                <a:latin typeface="Calibri (Body)"/>
              </a:rPr>
              <a:t> </a:t>
            </a:r>
            <a:r>
              <a:rPr lang="en-US" sz="2400" dirty="0" err="1">
                <a:latin typeface="Calibri (Body)"/>
              </a:rPr>
              <a:t>khoảng</a:t>
            </a:r>
            <a:r>
              <a:rPr lang="en-US" sz="2400" dirty="0">
                <a:latin typeface="Calibri (Body)"/>
              </a:rPr>
              <a:t> 0.02s </a:t>
            </a:r>
            <a:r>
              <a:rPr lang="en-US" sz="2400" dirty="0" err="1">
                <a:latin typeface="Calibri (Body)"/>
              </a:rPr>
              <a:t>để</a:t>
            </a:r>
            <a:r>
              <a:rPr lang="en-US" sz="2400" dirty="0">
                <a:latin typeface="Calibri (Body)"/>
              </a:rPr>
              <a:t> attack </a:t>
            </a:r>
            <a:r>
              <a:rPr lang="en-US" sz="2400" dirty="0" err="1">
                <a:latin typeface="Calibri (Body)"/>
              </a:rPr>
              <a:t>thành</a:t>
            </a:r>
            <a:r>
              <a:rPr lang="en-US" sz="2400" dirty="0">
                <a:latin typeface="Calibri (Body)"/>
              </a:rPr>
              <a:t> </a:t>
            </a:r>
            <a:r>
              <a:rPr lang="en-US" sz="2400" dirty="0" err="1">
                <a:latin typeface="Calibri (Body)"/>
              </a:rPr>
              <a:t>công</a:t>
            </a:r>
            <a:endParaRPr lang="en-US" sz="2400" dirty="0">
              <a:latin typeface="Calibri (Body)"/>
            </a:endParaRPr>
          </a:p>
          <a:p>
            <a:pPr lvl="1">
              <a:buFontTx/>
              <a:buChar char="-"/>
            </a:pPr>
            <a:r>
              <a:rPr lang="en-US" dirty="0">
                <a:latin typeface="Calibri (Body)"/>
              </a:rPr>
              <a:t>Qua </a:t>
            </a:r>
            <a:r>
              <a:rPr lang="en-US" dirty="0" err="1">
                <a:latin typeface="Calibri (Body)"/>
              </a:rPr>
              <a:t>đó</a:t>
            </a:r>
            <a:r>
              <a:rPr lang="en-US" dirty="0">
                <a:latin typeface="Calibri (Body)"/>
              </a:rPr>
              <a:t> </a:t>
            </a:r>
            <a:r>
              <a:rPr lang="en-US" dirty="0" err="1">
                <a:latin typeface="Calibri (Body)"/>
              </a:rPr>
              <a:t>chứng</a:t>
            </a:r>
            <a:r>
              <a:rPr lang="en-US" dirty="0">
                <a:latin typeface="Calibri (Body)"/>
              </a:rPr>
              <a:t> </a:t>
            </a:r>
            <a:r>
              <a:rPr lang="en-US" dirty="0" err="1">
                <a:latin typeface="Calibri (Body)"/>
              </a:rPr>
              <a:t>minh</a:t>
            </a:r>
            <a:r>
              <a:rPr lang="en-US" dirty="0">
                <a:latin typeface="Calibri (Body)"/>
              </a:rPr>
              <a:t> </a:t>
            </a:r>
            <a:r>
              <a:rPr lang="en-US" dirty="0" err="1">
                <a:latin typeface="Calibri (Body)"/>
              </a:rPr>
              <a:t>rằng</a:t>
            </a:r>
            <a:r>
              <a:rPr lang="en-US" dirty="0">
                <a:latin typeface="Calibri (Body)"/>
              </a:rPr>
              <a:t>: </a:t>
            </a:r>
          </a:p>
          <a:p>
            <a:pPr marL="201168" lvl="1" indent="0">
              <a:buNone/>
            </a:pPr>
            <a:r>
              <a:rPr lang="en-US" dirty="0" err="1">
                <a:latin typeface="Calibri (Body)"/>
              </a:rPr>
              <a:t>Giả</a:t>
            </a:r>
            <a:r>
              <a:rPr lang="en-US" dirty="0">
                <a:latin typeface="Calibri (Body)"/>
              </a:rPr>
              <a:t> </a:t>
            </a:r>
            <a:r>
              <a:rPr lang="en-US" dirty="0" err="1">
                <a:latin typeface="Calibri (Body)"/>
              </a:rPr>
              <a:t>thuyết</a:t>
            </a:r>
            <a:r>
              <a:rPr lang="en-US" dirty="0">
                <a:latin typeface="Calibri (Body)"/>
              </a:rPr>
              <a:t> small exponent </a:t>
            </a:r>
            <a:r>
              <a:rPr lang="en-US" dirty="0" err="1">
                <a:latin typeface="Calibri (Body)"/>
              </a:rPr>
              <a:t>misue</a:t>
            </a:r>
            <a:r>
              <a:rPr lang="en-US" dirty="0">
                <a:latin typeface="Calibri (Body)"/>
              </a:rPr>
              <a:t> </a:t>
            </a:r>
            <a:r>
              <a:rPr lang="en-US" dirty="0" err="1">
                <a:latin typeface="Calibri (Body)"/>
              </a:rPr>
              <a:t>là</a:t>
            </a:r>
            <a:r>
              <a:rPr lang="en-US" dirty="0">
                <a:latin typeface="Calibri (Body)"/>
              </a:rPr>
              <a:t> </a:t>
            </a:r>
            <a:r>
              <a:rPr lang="en-US" dirty="0" err="1">
                <a:latin typeface="Calibri (Body)"/>
              </a:rPr>
              <a:t>nguyên</a:t>
            </a:r>
            <a:r>
              <a:rPr lang="en-US" dirty="0">
                <a:latin typeface="Calibri (Body)"/>
              </a:rPr>
              <a:t> </a:t>
            </a:r>
            <a:r>
              <a:rPr lang="en-US" dirty="0" err="1">
                <a:latin typeface="Calibri (Body)"/>
              </a:rPr>
              <a:t>nhân</a:t>
            </a:r>
            <a:r>
              <a:rPr lang="en-US" dirty="0">
                <a:latin typeface="Calibri (Body)"/>
              </a:rPr>
              <a:t> compromise </a:t>
            </a:r>
            <a:r>
              <a:rPr lang="en-US" dirty="0" err="1">
                <a:latin typeface="Calibri (Body)"/>
              </a:rPr>
              <a:t>thực</a:t>
            </a:r>
            <a:r>
              <a:rPr lang="en-US" dirty="0">
                <a:latin typeface="Calibri (Body)"/>
              </a:rPr>
              <a:t> </a:t>
            </a:r>
            <a:r>
              <a:rPr lang="en-US" dirty="0" err="1">
                <a:latin typeface="Calibri (Body)"/>
              </a:rPr>
              <a:t>tế</a:t>
            </a:r>
            <a:r>
              <a:rPr lang="en-US" dirty="0">
                <a:latin typeface="Calibri (Body)"/>
              </a:rPr>
              <a:t>, </a:t>
            </a:r>
            <a:r>
              <a:rPr lang="en-US" dirty="0" err="1">
                <a:latin typeface="Calibri (Body)"/>
              </a:rPr>
              <a:t>có</a:t>
            </a:r>
            <a:r>
              <a:rPr lang="en-US" dirty="0">
                <a:latin typeface="Calibri (Body)"/>
              </a:rPr>
              <a:t> </a:t>
            </a:r>
            <a:r>
              <a:rPr lang="en-US" dirty="0" err="1">
                <a:latin typeface="Calibri (Body)"/>
              </a:rPr>
              <a:t>thể</a:t>
            </a:r>
            <a:r>
              <a:rPr lang="en-US" dirty="0">
                <a:latin typeface="Calibri (Body)"/>
              </a:rPr>
              <a:t> </a:t>
            </a:r>
            <a:r>
              <a:rPr lang="en-US" dirty="0" err="1">
                <a:latin typeface="Calibri (Body)"/>
              </a:rPr>
              <a:t>dẫn</a:t>
            </a:r>
            <a:r>
              <a:rPr lang="en-US" dirty="0">
                <a:latin typeface="Calibri (Body)"/>
              </a:rPr>
              <a:t> </a:t>
            </a:r>
            <a:r>
              <a:rPr lang="en-US" dirty="0" err="1">
                <a:latin typeface="Calibri (Body)"/>
              </a:rPr>
              <a:t>đến</a:t>
            </a:r>
            <a:r>
              <a:rPr lang="en-US" dirty="0">
                <a:latin typeface="Calibri (Body)"/>
              </a:rPr>
              <a:t> </a:t>
            </a:r>
            <a:r>
              <a:rPr lang="en-US" dirty="0" err="1">
                <a:latin typeface="Calibri (Body)"/>
              </a:rPr>
              <a:t>cơ</a:t>
            </a:r>
            <a:r>
              <a:rPr lang="en-US" dirty="0">
                <a:latin typeface="Calibri (Body)"/>
              </a:rPr>
              <a:t> </a:t>
            </a:r>
            <a:r>
              <a:rPr lang="en-US" dirty="0" err="1">
                <a:latin typeface="Calibri (Body)"/>
              </a:rPr>
              <a:t>chế</a:t>
            </a:r>
            <a:r>
              <a:rPr lang="en-US" dirty="0">
                <a:latin typeface="Calibri (Body)"/>
              </a:rPr>
              <a:t> </a:t>
            </a:r>
            <a:r>
              <a:rPr lang="en-US" dirty="0" err="1">
                <a:latin typeface="Calibri (Body)"/>
              </a:rPr>
              <a:t>xác</a:t>
            </a:r>
            <a:r>
              <a:rPr lang="en-US" dirty="0">
                <a:latin typeface="Calibri (Body)"/>
              </a:rPr>
              <a:t> </a:t>
            </a:r>
            <a:r>
              <a:rPr lang="en-US" dirty="0" err="1">
                <a:latin typeface="Calibri (Body)"/>
              </a:rPr>
              <a:t>thực</a:t>
            </a:r>
            <a:r>
              <a:rPr lang="en-US" dirty="0">
                <a:latin typeface="Calibri (Body)"/>
              </a:rPr>
              <a:t> </a:t>
            </a:r>
            <a:r>
              <a:rPr lang="en-US" dirty="0" err="1">
                <a:latin typeface="Calibri (Body)"/>
              </a:rPr>
              <a:t>không</a:t>
            </a:r>
            <a:r>
              <a:rPr lang="en-US" dirty="0">
                <a:latin typeface="Calibri (Body)"/>
              </a:rPr>
              <a:t> </a:t>
            </a:r>
            <a:r>
              <a:rPr lang="en-US" dirty="0" err="1">
                <a:latin typeface="Calibri (Body)"/>
              </a:rPr>
              <a:t>còn</a:t>
            </a:r>
            <a:r>
              <a:rPr lang="en-US" dirty="0">
                <a:latin typeface="Calibri (Body)"/>
              </a:rPr>
              <a:t> </a:t>
            </a:r>
            <a:r>
              <a:rPr lang="en-US" dirty="0" err="1">
                <a:latin typeface="Calibri (Body)"/>
              </a:rPr>
              <a:t>đáng</a:t>
            </a:r>
            <a:r>
              <a:rPr lang="en-US" dirty="0">
                <a:latin typeface="Calibri (Body)"/>
              </a:rPr>
              <a:t> tin</a:t>
            </a:r>
          </a:p>
        </p:txBody>
      </p:sp>
    </p:spTree>
    <p:extLst>
      <p:ext uri="{BB962C8B-B14F-4D97-AF65-F5344CB8AC3E}">
        <p14:creationId xmlns:p14="http://schemas.microsoft.com/office/powerpoint/2010/main" val="155281697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2B0150-081F-3211-A95E-E15A98B8D5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263527"/>
            <a:ext cx="10058400" cy="1450757"/>
          </a:xfrm>
        </p:spPr>
        <p:txBody>
          <a:bodyPr/>
          <a:lstStyle/>
          <a:p>
            <a:r>
              <a:rPr lang="en-US" dirty="0" err="1"/>
              <a:t>Kết</a:t>
            </a:r>
            <a:r>
              <a:rPr lang="en-US" dirty="0"/>
              <a:t> </a:t>
            </a:r>
            <a:r>
              <a:rPr lang="en-US" dirty="0" err="1"/>
              <a:t>quả</a:t>
            </a:r>
            <a:r>
              <a:rPr lang="en-US" dirty="0"/>
              <a:t> - Attack C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565CED2E-5034-A152-2EF1-5CE331C2DB3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804777" y="1855703"/>
            <a:ext cx="8387223" cy="4024313"/>
          </a:xfrm>
        </p:spPr>
      </p:pic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9BA28423-2208-1782-0F63-59F4812F628A}"/>
              </a:ext>
            </a:extLst>
          </p:cNvPr>
          <p:cNvSpPr txBox="1">
            <a:spLocks/>
          </p:cNvSpPr>
          <p:nvPr/>
        </p:nvSpPr>
        <p:spPr>
          <a:xfrm>
            <a:off x="0" y="1940625"/>
            <a:ext cx="3663616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>
            <a:lvl1pPr marL="91440" indent="-9144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Calibri" panose="020F0502020204030204" pitchFamily="34" charset="0"/>
              <a:buChar char=" "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8404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6692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4980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3268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lvl="1">
              <a:buFont typeface="Symbol" panose="05050102010706020507" pitchFamily="18" charset="2"/>
              <a:buChar char="Þ"/>
            </a:pPr>
            <a:r>
              <a:rPr lang="en-US" sz="2400" dirty="0" err="1">
                <a:latin typeface="Calibri (Body)"/>
              </a:rPr>
              <a:t>Tốn</a:t>
            </a:r>
            <a:r>
              <a:rPr lang="en-US" sz="2400" dirty="0">
                <a:latin typeface="Calibri (Body)"/>
              </a:rPr>
              <a:t> </a:t>
            </a:r>
            <a:r>
              <a:rPr lang="en-US" sz="2400" dirty="0" err="1">
                <a:latin typeface="Calibri (Body)"/>
              </a:rPr>
              <a:t>khoảng</a:t>
            </a:r>
            <a:r>
              <a:rPr lang="en-US" sz="2400" dirty="0">
                <a:latin typeface="Calibri (Body)"/>
              </a:rPr>
              <a:t> 0.02s </a:t>
            </a:r>
            <a:r>
              <a:rPr lang="en-US" sz="2400" dirty="0" err="1">
                <a:latin typeface="Calibri (Body)"/>
              </a:rPr>
              <a:t>để</a:t>
            </a:r>
            <a:r>
              <a:rPr lang="en-US" sz="2400" dirty="0">
                <a:latin typeface="Calibri (Body)"/>
              </a:rPr>
              <a:t> attack </a:t>
            </a:r>
            <a:r>
              <a:rPr lang="en-US" sz="2400" dirty="0" err="1">
                <a:latin typeface="Calibri (Body)"/>
              </a:rPr>
              <a:t>thành</a:t>
            </a:r>
            <a:r>
              <a:rPr lang="en-US" sz="2400" dirty="0">
                <a:latin typeface="Calibri (Body)"/>
              </a:rPr>
              <a:t> </a:t>
            </a:r>
            <a:r>
              <a:rPr lang="en-US" sz="2400" dirty="0" err="1">
                <a:latin typeface="Calibri (Body)"/>
              </a:rPr>
              <a:t>công</a:t>
            </a:r>
            <a:endParaRPr lang="en-US" sz="2400" dirty="0">
              <a:latin typeface="Calibri (Body)"/>
            </a:endParaRPr>
          </a:p>
          <a:p>
            <a:pPr marL="201168" lvl="1" indent="0">
              <a:buNone/>
            </a:pPr>
            <a:r>
              <a:rPr lang="en-US" dirty="0">
                <a:latin typeface="Calibri (Body)"/>
              </a:rPr>
              <a:t>- Qua </a:t>
            </a:r>
            <a:r>
              <a:rPr lang="en-US" dirty="0" err="1">
                <a:latin typeface="Calibri (Body)"/>
              </a:rPr>
              <a:t>đó</a:t>
            </a:r>
            <a:r>
              <a:rPr lang="en-US" dirty="0">
                <a:latin typeface="Calibri (Body)"/>
              </a:rPr>
              <a:t> </a:t>
            </a:r>
            <a:r>
              <a:rPr lang="en-US" dirty="0" err="1">
                <a:latin typeface="Calibri (Body)"/>
              </a:rPr>
              <a:t>chứng</a:t>
            </a:r>
            <a:r>
              <a:rPr lang="en-US" dirty="0">
                <a:latin typeface="Calibri (Body)"/>
              </a:rPr>
              <a:t> </a:t>
            </a:r>
            <a:r>
              <a:rPr lang="en-US" dirty="0" err="1">
                <a:latin typeface="Calibri (Body)"/>
              </a:rPr>
              <a:t>minh</a:t>
            </a:r>
            <a:r>
              <a:rPr lang="en-US" dirty="0">
                <a:latin typeface="Calibri (Body)"/>
              </a:rPr>
              <a:t> </a:t>
            </a:r>
            <a:r>
              <a:rPr lang="en-US" dirty="0" err="1">
                <a:latin typeface="Calibri (Body)"/>
              </a:rPr>
              <a:t>rằng</a:t>
            </a:r>
            <a:r>
              <a:rPr lang="en-US" dirty="0">
                <a:latin typeface="Calibri (Body)"/>
              </a:rPr>
              <a:t>, </a:t>
            </a:r>
            <a:r>
              <a:rPr lang="en-US" dirty="0" err="1">
                <a:latin typeface="Calibri (Body)"/>
              </a:rPr>
              <a:t>giả</a:t>
            </a:r>
            <a:r>
              <a:rPr lang="en-US" dirty="0">
                <a:latin typeface="Calibri (Body)"/>
              </a:rPr>
              <a:t> </a:t>
            </a:r>
            <a:r>
              <a:rPr lang="en-US" dirty="0" err="1">
                <a:latin typeface="Calibri (Body)"/>
              </a:rPr>
              <a:t>thuyết</a:t>
            </a:r>
            <a:r>
              <a:rPr lang="en-US" dirty="0">
                <a:latin typeface="Calibri (Body)"/>
              </a:rPr>
              <a:t> small exponent </a:t>
            </a:r>
            <a:r>
              <a:rPr lang="en-US" dirty="0" err="1">
                <a:latin typeface="Calibri (Body)"/>
              </a:rPr>
              <a:t>misue</a:t>
            </a:r>
            <a:r>
              <a:rPr lang="en-US" dirty="0">
                <a:latin typeface="Calibri (Body)"/>
              </a:rPr>
              <a:t> </a:t>
            </a:r>
            <a:r>
              <a:rPr lang="en-US" dirty="0" err="1">
                <a:latin typeface="Calibri (Body)"/>
              </a:rPr>
              <a:t>là</a:t>
            </a:r>
            <a:r>
              <a:rPr lang="en-US" dirty="0">
                <a:latin typeface="Calibri (Body)"/>
              </a:rPr>
              <a:t> </a:t>
            </a:r>
            <a:r>
              <a:rPr lang="en-US" dirty="0" err="1">
                <a:latin typeface="Calibri (Body)"/>
              </a:rPr>
              <a:t>nguyên</a:t>
            </a:r>
            <a:r>
              <a:rPr lang="en-US" dirty="0">
                <a:latin typeface="Calibri (Body)"/>
              </a:rPr>
              <a:t> </a:t>
            </a:r>
            <a:r>
              <a:rPr lang="en-US" dirty="0" err="1">
                <a:latin typeface="Calibri (Body)"/>
              </a:rPr>
              <a:t>nhân</a:t>
            </a:r>
            <a:r>
              <a:rPr lang="en-US" dirty="0">
                <a:latin typeface="Calibri (Body)"/>
              </a:rPr>
              <a:t> compromise </a:t>
            </a:r>
            <a:r>
              <a:rPr lang="en-US" dirty="0" err="1">
                <a:latin typeface="Calibri (Body)"/>
              </a:rPr>
              <a:t>thực</a:t>
            </a:r>
            <a:r>
              <a:rPr lang="en-US" dirty="0">
                <a:latin typeface="Calibri (Body)"/>
              </a:rPr>
              <a:t> </a:t>
            </a:r>
            <a:r>
              <a:rPr lang="en-US" dirty="0" err="1">
                <a:latin typeface="Calibri (Body)"/>
              </a:rPr>
              <a:t>tế</a:t>
            </a:r>
            <a:r>
              <a:rPr lang="en-US" dirty="0">
                <a:latin typeface="Calibri (Body)"/>
              </a:rPr>
              <a:t>, </a:t>
            </a:r>
            <a:r>
              <a:rPr lang="en-US" dirty="0" err="1">
                <a:latin typeface="Calibri (Body)"/>
              </a:rPr>
              <a:t>có</a:t>
            </a:r>
            <a:r>
              <a:rPr lang="en-US" dirty="0">
                <a:latin typeface="Calibri (Body)"/>
              </a:rPr>
              <a:t> </a:t>
            </a:r>
            <a:r>
              <a:rPr lang="en-US" dirty="0" err="1">
                <a:latin typeface="Calibri (Body)"/>
              </a:rPr>
              <a:t>thể</a:t>
            </a:r>
            <a:r>
              <a:rPr lang="en-US" dirty="0">
                <a:latin typeface="Calibri (Body)"/>
              </a:rPr>
              <a:t> </a:t>
            </a:r>
            <a:r>
              <a:rPr lang="en-US" dirty="0" err="1">
                <a:latin typeface="Calibri (Body)"/>
              </a:rPr>
              <a:t>dẫn</a:t>
            </a:r>
            <a:r>
              <a:rPr lang="en-US" dirty="0">
                <a:latin typeface="Calibri (Body)"/>
              </a:rPr>
              <a:t> </a:t>
            </a:r>
            <a:r>
              <a:rPr lang="en-US" dirty="0" err="1">
                <a:latin typeface="Calibri (Body)"/>
              </a:rPr>
              <a:t>đến</a:t>
            </a:r>
            <a:r>
              <a:rPr lang="en-US" dirty="0">
                <a:latin typeface="Calibri (Body)"/>
              </a:rPr>
              <a:t> </a:t>
            </a:r>
            <a:r>
              <a:rPr lang="en-US" dirty="0" err="1">
                <a:latin typeface="Calibri (Body)"/>
              </a:rPr>
              <a:t>cơ</a:t>
            </a:r>
            <a:r>
              <a:rPr lang="en-US" dirty="0">
                <a:latin typeface="Calibri (Body)"/>
              </a:rPr>
              <a:t> </a:t>
            </a:r>
            <a:r>
              <a:rPr lang="en-US" dirty="0" err="1">
                <a:latin typeface="Calibri (Body)"/>
              </a:rPr>
              <a:t>chế</a:t>
            </a:r>
            <a:r>
              <a:rPr lang="en-US" dirty="0">
                <a:latin typeface="Calibri (Body)"/>
              </a:rPr>
              <a:t> </a:t>
            </a:r>
            <a:r>
              <a:rPr lang="en-US" dirty="0" err="1">
                <a:latin typeface="Calibri (Body)"/>
              </a:rPr>
              <a:t>xác</a:t>
            </a:r>
            <a:r>
              <a:rPr lang="en-US" dirty="0">
                <a:latin typeface="Calibri (Body)"/>
              </a:rPr>
              <a:t> </a:t>
            </a:r>
            <a:r>
              <a:rPr lang="en-US" dirty="0" err="1">
                <a:latin typeface="Calibri (Body)"/>
              </a:rPr>
              <a:t>thực</a:t>
            </a:r>
            <a:r>
              <a:rPr lang="en-US" dirty="0">
                <a:latin typeface="Calibri (Body)"/>
              </a:rPr>
              <a:t> </a:t>
            </a:r>
            <a:r>
              <a:rPr lang="en-US" dirty="0" err="1">
                <a:latin typeface="Calibri (Body)"/>
              </a:rPr>
              <a:t>không</a:t>
            </a:r>
            <a:r>
              <a:rPr lang="en-US" dirty="0">
                <a:latin typeface="Calibri (Body)"/>
              </a:rPr>
              <a:t> </a:t>
            </a:r>
            <a:r>
              <a:rPr lang="en-US" dirty="0" err="1">
                <a:latin typeface="Calibri (Body)"/>
              </a:rPr>
              <a:t>còn</a:t>
            </a:r>
            <a:r>
              <a:rPr lang="en-US" dirty="0">
                <a:latin typeface="Calibri (Body)"/>
              </a:rPr>
              <a:t> </a:t>
            </a:r>
            <a:r>
              <a:rPr lang="en-US" dirty="0" err="1">
                <a:latin typeface="Calibri (Body)"/>
              </a:rPr>
              <a:t>đáng</a:t>
            </a:r>
            <a:r>
              <a:rPr lang="en-US" dirty="0">
                <a:latin typeface="Calibri (Body)"/>
              </a:rPr>
              <a:t> tin</a:t>
            </a:r>
          </a:p>
        </p:txBody>
      </p:sp>
    </p:spTree>
    <p:extLst>
      <p:ext uri="{BB962C8B-B14F-4D97-AF65-F5344CB8AC3E}">
        <p14:creationId xmlns:p14="http://schemas.microsoft.com/office/powerpoint/2010/main" val="343325237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E10978-8FD7-9E73-86CD-1D5BED9A5E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7155" y="208311"/>
            <a:ext cx="10058400" cy="1450757"/>
          </a:xfrm>
        </p:spPr>
        <p:txBody>
          <a:bodyPr/>
          <a:lstStyle/>
          <a:p>
            <a:r>
              <a:rPr lang="en-US" dirty="0" err="1"/>
              <a:t>Kết</a:t>
            </a:r>
            <a:r>
              <a:rPr lang="en-US" dirty="0"/>
              <a:t> </a:t>
            </a:r>
            <a:r>
              <a:rPr lang="en-US" dirty="0" err="1"/>
              <a:t>quả</a:t>
            </a:r>
            <a:r>
              <a:rPr lang="en-US" dirty="0"/>
              <a:t> - Attack C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9CB913E-247B-B5E5-E7F4-7C5FA68215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724584"/>
            <a:ext cx="12192000" cy="1542681"/>
          </a:xfrm>
          <a:prstGeom prst="rect">
            <a:avLst/>
          </a:prstGeom>
        </p:spPr>
      </p:pic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145FC503-25AF-2A19-1C5B-C0C441F4E8B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838487"/>
            <a:ext cx="6459855" cy="658919"/>
          </a:xfrm>
        </p:spPr>
        <p:txBody>
          <a:bodyPr/>
          <a:lstStyle/>
          <a:p>
            <a:r>
              <a:rPr lang="en-US" b="1" dirty="0"/>
              <a:t>- D bits </a:t>
            </a:r>
            <a:r>
              <a:rPr lang="en-US" b="1" dirty="0" err="1"/>
              <a:t>trước</a:t>
            </a:r>
            <a:r>
              <a:rPr lang="en-US" b="1" dirty="0"/>
              <a:t> </a:t>
            </a:r>
            <a:r>
              <a:rPr lang="en-US" b="1" dirty="0" err="1"/>
              <a:t>khi</a:t>
            </a:r>
            <a:r>
              <a:rPr lang="en-US" b="1" dirty="0"/>
              <a:t> </a:t>
            </a:r>
            <a:r>
              <a:rPr lang="en-US" b="1" dirty="0" err="1"/>
              <a:t>vá</a:t>
            </a:r>
            <a:r>
              <a:rPr lang="en-US" b="1" dirty="0"/>
              <a:t>: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2F6E877C-D3F9-D5BB-984E-1538F6E4645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276596"/>
            <a:ext cx="8935968" cy="1651042"/>
          </a:xfrm>
          <a:prstGeom prst="rect">
            <a:avLst/>
          </a:prstGeom>
        </p:spPr>
      </p:pic>
      <p:sp>
        <p:nvSpPr>
          <p:cNvPr id="12" name="Content Placeholder 8">
            <a:extLst>
              <a:ext uri="{FF2B5EF4-FFF2-40B4-BE49-F238E27FC236}">
                <a16:creationId xmlns:a16="http://schemas.microsoft.com/office/drawing/2014/main" id="{1A90F1BE-1D35-FE8C-7192-78B83413B14A}"/>
              </a:ext>
            </a:extLst>
          </p:cNvPr>
          <p:cNvSpPr txBox="1">
            <a:spLocks/>
          </p:cNvSpPr>
          <p:nvPr/>
        </p:nvSpPr>
        <p:spPr>
          <a:xfrm>
            <a:off x="0" y="4365747"/>
            <a:ext cx="6459855" cy="658919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>
            <a:lvl1pPr marL="91440" indent="-9144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Calibri" panose="020F0502020204030204" pitchFamily="34" charset="0"/>
              <a:buChar char=" "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8404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6692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4980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3268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b="1" dirty="0"/>
              <a:t>- D bits </a:t>
            </a:r>
            <a:r>
              <a:rPr lang="en-US" b="1" dirty="0" err="1"/>
              <a:t>sau</a:t>
            </a:r>
            <a:r>
              <a:rPr lang="en-US" b="1" dirty="0"/>
              <a:t> </a:t>
            </a:r>
            <a:r>
              <a:rPr lang="en-US" b="1" dirty="0" err="1"/>
              <a:t>khi</a:t>
            </a:r>
            <a:r>
              <a:rPr lang="en-US" b="1" dirty="0"/>
              <a:t> </a:t>
            </a:r>
            <a:r>
              <a:rPr lang="en-US" b="1" dirty="0" err="1"/>
              <a:t>vá</a:t>
            </a:r>
            <a:r>
              <a:rPr lang="en-US" b="1" dirty="0"/>
              <a:t>:</a:t>
            </a:r>
          </a:p>
        </p:txBody>
      </p:sp>
    </p:spTree>
    <p:extLst>
      <p:ext uri="{BB962C8B-B14F-4D97-AF65-F5344CB8AC3E}">
        <p14:creationId xmlns:p14="http://schemas.microsoft.com/office/powerpoint/2010/main" val="423353923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E10978-8FD7-9E73-86CD-1D5BED9A5E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7155" y="208311"/>
            <a:ext cx="10058400" cy="1450757"/>
          </a:xfrm>
        </p:spPr>
        <p:txBody>
          <a:bodyPr/>
          <a:lstStyle/>
          <a:p>
            <a:r>
              <a:rPr lang="en-US" dirty="0"/>
              <a:t>Fault attack: </a:t>
            </a:r>
            <a:r>
              <a:rPr lang="en-US" dirty="0" err="1"/>
              <a:t>mở</a:t>
            </a:r>
            <a:r>
              <a:rPr lang="en-US" dirty="0"/>
              <a:t> </a:t>
            </a:r>
            <a:r>
              <a:rPr lang="en-US" dirty="0" err="1"/>
              <a:t>rộng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Content Placeholder 8">
                <a:extLst>
                  <a:ext uri="{FF2B5EF4-FFF2-40B4-BE49-F238E27FC236}">
                    <a16:creationId xmlns:a16="http://schemas.microsoft.com/office/drawing/2014/main" id="{145FC503-25AF-2A19-1C5B-C0C441F4E8B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0" y="1838487"/>
                <a:ext cx="12192000" cy="4200004"/>
              </a:xfrm>
            </p:spPr>
            <p:txBody>
              <a:bodyPr>
                <a:normAutofit/>
              </a:bodyPr>
              <a:lstStyle/>
              <a:p>
                <a:r>
                  <a:rPr lang="en-US" sz="2800" dirty="0"/>
                  <a:t>- Khi </a:t>
                </a:r>
                <a:r>
                  <a:rPr lang="en-US" sz="2800" dirty="0" err="1"/>
                  <a:t>triển</a:t>
                </a:r>
                <a:r>
                  <a:rPr lang="en-US" sz="2800" dirty="0"/>
                  <a:t> </a:t>
                </a:r>
                <a:r>
                  <a:rPr lang="en-US" sz="2800" dirty="0" err="1"/>
                  <a:t>khai</a:t>
                </a:r>
                <a:r>
                  <a:rPr lang="en-US" sz="2800" dirty="0"/>
                  <a:t> RSA, </a:t>
                </a:r>
                <a:r>
                  <a:rPr lang="en-US" sz="2800" dirty="0" err="1"/>
                  <a:t>định</a:t>
                </a:r>
                <a:r>
                  <a:rPr lang="en-US" sz="2800" dirty="0"/>
                  <a:t> </a:t>
                </a:r>
                <a:r>
                  <a:rPr lang="en-US" sz="2800" dirty="0" err="1"/>
                  <a:t>lý</a:t>
                </a:r>
                <a:r>
                  <a:rPr lang="en-US" sz="2800" dirty="0"/>
                  <a:t> </a:t>
                </a:r>
                <a:r>
                  <a:rPr lang="en-US" sz="2800" dirty="0" err="1"/>
                  <a:t>thặng</a:t>
                </a:r>
                <a:r>
                  <a:rPr lang="en-US" sz="2800" dirty="0"/>
                  <a:t> </a:t>
                </a:r>
                <a:r>
                  <a:rPr lang="en-US" sz="2800" dirty="0" err="1"/>
                  <a:t>dư</a:t>
                </a:r>
                <a:r>
                  <a:rPr lang="en-US" sz="2800" dirty="0"/>
                  <a:t> Trung Hoa </a:t>
                </a:r>
                <a:r>
                  <a:rPr lang="en-US" sz="2800" dirty="0" err="1"/>
                  <a:t>được</a:t>
                </a:r>
                <a:r>
                  <a:rPr lang="en-US" sz="2800" dirty="0"/>
                  <a:t> dung </a:t>
                </a:r>
                <a:r>
                  <a:rPr lang="en-US" sz="2800" dirty="0" err="1"/>
                  <a:t>để</a:t>
                </a:r>
                <a:r>
                  <a:rPr lang="en-US" sz="2800" dirty="0"/>
                  <a:t> </a:t>
                </a:r>
                <a:r>
                  <a:rPr lang="en-US" sz="2800" dirty="0" err="1"/>
                  <a:t>tăng</a:t>
                </a:r>
                <a:r>
                  <a:rPr lang="en-US" sz="2800" dirty="0"/>
                  <a:t> </a:t>
                </a:r>
                <a:r>
                  <a:rPr lang="en-US" sz="2800" dirty="0" err="1"/>
                  <a:t>tốc</a:t>
                </a:r>
                <a:r>
                  <a:rPr lang="en-US" sz="2800" dirty="0"/>
                  <a:t> </a:t>
                </a:r>
                <a:r>
                  <a:rPr lang="en-US" sz="2800" dirty="0" err="1"/>
                  <a:t>độ</a:t>
                </a:r>
                <a:r>
                  <a:rPr lang="en-US" sz="2800" dirty="0"/>
                  <a:t> </a:t>
                </a:r>
                <a:r>
                  <a:rPr lang="en-US" sz="2800" dirty="0" err="1"/>
                  <a:t>kí</a:t>
                </a:r>
                <a:r>
                  <a:rPr lang="en-US" sz="2800" dirty="0"/>
                  <a:t> </a:t>
                </a:r>
                <a:r>
                  <a:rPr lang="en-US" sz="2800" dirty="0" err="1"/>
                  <a:t>và</a:t>
                </a:r>
                <a:r>
                  <a:rPr lang="en-US" sz="2800" dirty="0"/>
                  <a:t> </a:t>
                </a:r>
                <a:r>
                  <a:rPr lang="en-US" sz="2800" dirty="0" err="1"/>
                  <a:t>giải</a:t>
                </a:r>
                <a:r>
                  <a:rPr lang="en-US" sz="2800" dirty="0"/>
                  <a:t> </a:t>
                </a:r>
                <a:r>
                  <a:rPr lang="en-US" sz="2800" dirty="0" err="1"/>
                  <a:t>mã</a:t>
                </a:r>
                <a:r>
                  <a:rPr lang="en-US" sz="2800" dirty="0"/>
                  <a:t> (</a:t>
                </a:r>
                <a:r>
                  <a:rPr lang="en-US" sz="2800" dirty="0" err="1"/>
                  <a:t>nhanh</a:t>
                </a:r>
                <a:r>
                  <a:rPr lang="en-US" sz="2800" dirty="0"/>
                  <a:t> </a:t>
                </a:r>
                <a:r>
                  <a:rPr lang="en-US" sz="2800" dirty="0" err="1"/>
                  <a:t>hơn</a:t>
                </a:r>
                <a:r>
                  <a:rPr lang="en-US" sz="2800" dirty="0"/>
                  <a:t> </a:t>
                </a:r>
                <a:r>
                  <a:rPr lang="en-US" sz="2800" dirty="0" err="1"/>
                  <a:t>khoảng</a:t>
                </a:r>
                <a:r>
                  <a:rPr lang="en-US" sz="2800" dirty="0"/>
                  <a:t> 4 </a:t>
                </a:r>
                <a:r>
                  <a:rPr lang="en-US" sz="2800" dirty="0" err="1"/>
                  <a:t>lần</a:t>
                </a:r>
                <a:r>
                  <a:rPr lang="en-US" sz="2800" dirty="0"/>
                  <a:t>)</a:t>
                </a:r>
              </a:p>
              <a:p>
                <a:r>
                  <a:rPr lang="en-US" sz="2800" dirty="0"/>
                  <a:t>- Quy </a:t>
                </a:r>
                <a:r>
                  <a:rPr lang="en-US" sz="2800" dirty="0" err="1"/>
                  <a:t>trình</a:t>
                </a:r>
                <a:r>
                  <a:rPr lang="en-US" sz="2800" dirty="0"/>
                  <a:t>: </a:t>
                </a:r>
                <a:r>
                  <a:rPr lang="en-US" sz="2800" dirty="0" err="1"/>
                  <a:t>Thay</a:t>
                </a:r>
                <a:r>
                  <a:rPr lang="en-US" sz="2800" dirty="0"/>
                  <a:t> </a:t>
                </a:r>
                <a:r>
                  <a:rPr lang="en-US" sz="2800" dirty="0" err="1"/>
                  <a:t>vì</a:t>
                </a:r>
                <a:r>
                  <a:rPr lang="en-US" sz="2800" dirty="0"/>
                  <a:t> </a:t>
                </a:r>
                <a:r>
                  <a:rPr lang="en-US" sz="2800" dirty="0" err="1"/>
                  <a:t>tính</a:t>
                </a:r>
                <a:r>
                  <a:rPr lang="en-US" sz="2800" dirty="0"/>
                  <a:t> </a:t>
                </a:r>
                <a:r>
                  <a:rPr lang="en-US" sz="2800" dirty="0" err="1"/>
                  <a:t>dư</a:t>
                </a:r>
                <a:r>
                  <a:rPr lang="en-US" sz="2800" dirty="0"/>
                  <a:t> </a:t>
                </a:r>
                <a:r>
                  <a:rPr lang="en-US" sz="2800" dirty="0" err="1"/>
                  <a:t>trên</a:t>
                </a:r>
                <a:r>
                  <a:rPr lang="en-US" sz="2800" dirty="0"/>
                  <a:t> N, </a:t>
                </a:r>
                <a:r>
                  <a:rPr lang="en-US" sz="2800" dirty="0" err="1"/>
                  <a:t>hệ</a:t>
                </a:r>
                <a:r>
                  <a:rPr lang="en-US" sz="2800" dirty="0"/>
                  <a:t> </a:t>
                </a:r>
                <a:r>
                  <a:rPr lang="en-US" sz="2800" dirty="0" err="1"/>
                  <a:t>thống</a:t>
                </a:r>
                <a:r>
                  <a:rPr lang="en-US" sz="2800" dirty="0"/>
                  <a:t> </a:t>
                </a:r>
                <a:r>
                  <a:rPr lang="en-US" sz="2800" dirty="0" err="1"/>
                  <a:t>tính</a:t>
                </a:r>
                <a:r>
                  <a:rPr lang="en-US" sz="2800" dirty="0"/>
                  <a:t> </a:t>
                </a:r>
                <a:r>
                  <a:rPr lang="en-US" sz="2800" dirty="0" err="1"/>
                  <a:t>trên</a:t>
                </a:r>
                <a:r>
                  <a:rPr lang="en-US" sz="2800" dirty="0"/>
                  <a:t> </a:t>
                </a:r>
                <a:r>
                  <a:rPr lang="en-US" sz="2800" dirty="0" err="1"/>
                  <a:t>hai</a:t>
                </a:r>
                <a:r>
                  <a:rPr lang="en-US" sz="2800" dirty="0"/>
                  <a:t> </a:t>
                </a:r>
                <a:r>
                  <a:rPr lang="en-US" sz="2800" dirty="0" err="1"/>
                  <a:t>nhánh</a:t>
                </a:r>
                <a:r>
                  <a:rPr lang="en-US" sz="2800" dirty="0"/>
                  <a:t>:</a:t>
                </a:r>
              </a:p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en-US" sz="28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e>
                      <m:sub>
                        <m:r>
                          <a:rPr lang="en-US" sz="2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</m:t>
                        </m:r>
                      </m:sub>
                    </m:sSub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sz="2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  <m:r>
                          <a:rPr lang="en-US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a:rPr lang="en-US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𝑚</m:t>
                        </m:r>
                        <m:r>
                          <a:rPr lang="en-US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e>
                      <m:sup>
                        <m:r>
                          <a:rPr lang="en-US" sz="2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𝑑</m:t>
                        </m:r>
                        <m:r>
                          <a:rPr lang="en-US" sz="2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  <m:r>
                          <a:rPr lang="en-US" sz="2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𝑚𝑜𝑑</m:t>
                        </m:r>
                        <m:r>
                          <a:rPr lang="en-US" sz="2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  <m:r>
                          <a:rPr lang="en-US" sz="2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</m:t>
                        </m:r>
                        <m:r>
                          <a:rPr lang="en-US" sz="2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−1</m:t>
                        </m:r>
                      </m:sup>
                    </m:sSup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𝑚𝑜𝑑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𝑝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  </m:t>
                    </m:r>
                    <m:sSub>
                      <m:sSubPr>
                        <m:ctrlPr>
                          <a:rPr lang="en-US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e>
                      <m:sub>
                        <m:r>
                          <a:rPr lang="en-US" sz="2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𝑞</m:t>
                        </m:r>
                      </m:sub>
                    </m:sSub>
                    <m:r>
                      <a:rPr lang="en-US" sz="28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  <m:r>
                          <a:rPr lang="en-US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a:rPr lang="en-US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𝑚</m:t>
                        </m:r>
                        <m:r>
                          <a:rPr lang="en-US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e>
                      <m:sup>
                        <m:r>
                          <a:rPr lang="en-US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𝑑</m:t>
                        </m:r>
                        <m:r>
                          <a:rPr lang="en-US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  <m:r>
                          <a:rPr lang="en-US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𝑚𝑜𝑑</m:t>
                        </m:r>
                        <m:r>
                          <a:rPr lang="en-US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  <m:r>
                          <a:rPr lang="en-US" sz="2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𝑞</m:t>
                        </m:r>
                        <m:r>
                          <a:rPr lang="en-US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−1</m:t>
                        </m:r>
                      </m:sup>
                    </m:sSup>
                    <m:r>
                      <a:rPr lang="en-US" sz="28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n-US" sz="28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𝑚𝑜𝑑</m:t>
                    </m:r>
                    <m:r>
                      <a:rPr lang="en-US" sz="28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𝑞</m:t>
                    </m:r>
                  </m:oMath>
                </a14:m>
                <a:endParaRPr lang="en-US" sz="2800" dirty="0"/>
              </a:p>
              <a:p>
                <a:r>
                  <a:rPr lang="en-US" sz="2800" dirty="0"/>
                  <a:t>- Sau </a:t>
                </a:r>
                <a:r>
                  <a:rPr lang="en-US" sz="2800" dirty="0" err="1"/>
                  <a:t>đó</a:t>
                </a:r>
                <a:r>
                  <a:rPr lang="en-US" sz="2800" dirty="0"/>
                  <a:t>, </a:t>
                </a:r>
                <a:r>
                  <a:rPr lang="en-US" sz="2800" dirty="0" err="1"/>
                  <a:t>gộp</a:t>
                </a:r>
                <a:r>
                  <a:rPr lang="en-US" sz="2800" dirty="0"/>
                  <a:t> </a:t>
                </a:r>
                <a:r>
                  <a:rPr lang="en-US" sz="2800" dirty="0" err="1"/>
                  <a:t>lại</a:t>
                </a:r>
                <a:r>
                  <a:rPr lang="en-US" sz="2800" dirty="0"/>
                  <a:t> </a:t>
                </a:r>
                <a:r>
                  <a:rPr lang="en-US" sz="2800" dirty="0" err="1"/>
                  <a:t>bằng</a:t>
                </a:r>
                <a:r>
                  <a:rPr lang="en-US" sz="2800" dirty="0"/>
                  <a:t> CRT </a:t>
                </a:r>
                <a:r>
                  <a:rPr lang="en-US" sz="2800" dirty="0" err="1"/>
                  <a:t>để</a:t>
                </a:r>
                <a:r>
                  <a:rPr lang="en-US" sz="2800" dirty="0"/>
                  <a:t> </a:t>
                </a:r>
                <a:r>
                  <a:rPr lang="en-US" sz="2800" dirty="0" err="1"/>
                  <a:t>ra</a:t>
                </a:r>
                <a:r>
                  <a:rPr lang="en-US" sz="2800" dirty="0"/>
                  <a:t> </a:t>
                </a:r>
                <a:r>
                  <a:rPr lang="en-US" sz="2800" dirty="0" err="1"/>
                  <a:t>chữ</a:t>
                </a:r>
                <a:r>
                  <a:rPr lang="en-US" sz="2800" dirty="0"/>
                  <a:t> </a:t>
                </a:r>
                <a:r>
                  <a:rPr lang="en-US" sz="2800" dirty="0" err="1"/>
                  <a:t>kí</a:t>
                </a:r>
                <a:r>
                  <a:rPr lang="en-US" sz="2800" dirty="0"/>
                  <a:t> </a:t>
                </a:r>
                <a14:m>
                  <m:oMath xmlns:m="http://schemas.openxmlformats.org/officeDocument/2006/math">
                    <m:r>
                      <a:rPr lang="en-US" sz="28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𝜎</m:t>
                    </m:r>
                  </m:oMath>
                </a14:m>
                <a:r>
                  <a:rPr lang="en-US" sz="2800" dirty="0"/>
                  <a:t>.</a:t>
                </a:r>
              </a:p>
            </p:txBody>
          </p:sp>
        </mc:Choice>
        <mc:Fallback xmlns="">
          <p:sp>
            <p:nvSpPr>
              <p:cNvPr id="9" name="Content Placeholder 8">
                <a:extLst>
                  <a:ext uri="{FF2B5EF4-FFF2-40B4-BE49-F238E27FC236}">
                    <a16:creationId xmlns:a16="http://schemas.microsoft.com/office/drawing/2014/main" id="{145FC503-25AF-2A19-1C5B-C0C441F4E8B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0" y="1838487"/>
                <a:ext cx="12192000" cy="4200004"/>
              </a:xfrm>
              <a:blipFill>
                <a:blip r:embed="rId2"/>
                <a:stretch>
                  <a:fillRect l="-1000" t="-2467" r="-6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5328504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E10978-8FD7-9E73-86CD-1D5BED9A5E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7155" y="208311"/>
            <a:ext cx="10058400" cy="1450757"/>
          </a:xfrm>
        </p:spPr>
        <p:txBody>
          <a:bodyPr/>
          <a:lstStyle/>
          <a:p>
            <a:r>
              <a:rPr lang="en-US" dirty="0" err="1"/>
              <a:t>Bellcore</a:t>
            </a:r>
            <a:r>
              <a:rPr lang="en-US" dirty="0"/>
              <a:t> Attack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Content Placeholder 8">
                <a:extLst>
                  <a:ext uri="{FF2B5EF4-FFF2-40B4-BE49-F238E27FC236}">
                    <a16:creationId xmlns:a16="http://schemas.microsoft.com/office/drawing/2014/main" id="{145FC503-25AF-2A19-1C5B-C0C441F4E8B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0" y="1838487"/>
                <a:ext cx="11222966" cy="4200004"/>
              </a:xfrm>
            </p:spPr>
            <p:txBody>
              <a:bodyPr>
                <a:normAutofit/>
              </a:bodyPr>
              <a:lstStyle/>
              <a:p>
                <a:r>
                  <a:rPr lang="en-US" sz="2800" dirty="0"/>
                  <a:t>Gi</a:t>
                </a:r>
                <a:r>
                  <a:rPr lang="en-US" sz="2800" dirty="0" err="1"/>
                  <a:t>ả</a:t>
                </a:r>
                <a:r>
                  <a:rPr lang="en-US" sz="2800" dirty="0"/>
                  <a:t> </a:t>
                </a:r>
                <a:r>
                  <a:rPr lang="en-US" sz="2800" dirty="0" err="1"/>
                  <a:t>định</a:t>
                </a:r>
                <a:r>
                  <a:rPr lang="en-US" sz="2800" dirty="0"/>
                  <a:t>: attacker </a:t>
                </a:r>
                <a:r>
                  <a:rPr lang="en-US" sz="2800" dirty="0" err="1"/>
                  <a:t>có</a:t>
                </a:r>
                <a:r>
                  <a:rPr lang="en-US" sz="2800" dirty="0"/>
                  <a:t> </a:t>
                </a:r>
                <a:r>
                  <a:rPr lang="en-US" sz="2800" dirty="0" err="1"/>
                  <a:t>thể</a:t>
                </a:r>
                <a:r>
                  <a:rPr lang="en-US" sz="2800" dirty="0"/>
                  <a:t> </a:t>
                </a:r>
                <a:r>
                  <a:rPr lang="en-US" sz="2800" dirty="0" err="1"/>
                  <a:t>tạo</a:t>
                </a:r>
                <a:r>
                  <a:rPr lang="en-US" sz="2800" dirty="0"/>
                  <a:t> </a:t>
                </a:r>
                <a:r>
                  <a:rPr lang="en-US" sz="2800" dirty="0" err="1"/>
                  <a:t>ra</a:t>
                </a:r>
                <a:r>
                  <a:rPr lang="en-US" sz="2800" dirty="0"/>
                  <a:t> </a:t>
                </a:r>
                <a:r>
                  <a:rPr lang="en-US" sz="2800" dirty="0" err="1"/>
                  <a:t>lỗi</a:t>
                </a:r>
                <a:r>
                  <a:rPr lang="en-US" sz="2800" dirty="0"/>
                  <a:t> </a:t>
                </a:r>
                <a:r>
                  <a:rPr lang="en-US" sz="2800" dirty="0" err="1"/>
                  <a:t>khi</a:t>
                </a:r>
                <a:r>
                  <a:rPr lang="en-US" sz="2800" dirty="0"/>
                  <a:t> </a:t>
                </a:r>
                <a:r>
                  <a:rPr lang="en-US" sz="2800" dirty="0" err="1"/>
                  <a:t>tính</a:t>
                </a:r>
                <a:r>
                  <a:rPr lang="en-US" sz="2800" dirty="0"/>
                  <a:t> </a:t>
                </a:r>
                <a:r>
                  <a:rPr lang="en-US" sz="2800" dirty="0" err="1"/>
                  <a:t>toán</a:t>
                </a:r>
                <a:r>
                  <a:rPr lang="en-US" sz="2800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e>
                      <m:sub>
                        <m:r>
                          <a:rPr lang="en-US" sz="2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𝑞</m:t>
                        </m:r>
                      </m:sub>
                    </m:sSub>
                  </m:oMath>
                </a14:m>
                <a:r>
                  <a:rPr lang="en-US" sz="2800" dirty="0"/>
                  <a:t>, </a:t>
                </a:r>
                <a:r>
                  <a:rPr lang="en-US" sz="2800" dirty="0" err="1"/>
                  <a:t>trong</a:t>
                </a:r>
                <a:r>
                  <a:rPr lang="en-US" sz="2800" dirty="0"/>
                  <a:t> </a:t>
                </a:r>
                <a:r>
                  <a:rPr lang="en-US" sz="2800" dirty="0" err="1"/>
                  <a:t>khi</a:t>
                </a:r>
                <a:r>
                  <a:rPr lang="en-US" sz="2800" dirty="0"/>
                  <a:t> </a:t>
                </a:r>
                <a:r>
                  <a:rPr lang="en-US" sz="2800" dirty="0" err="1"/>
                  <a:t>đó</a:t>
                </a:r>
                <a:r>
                  <a:rPr lang="en-US" sz="2800" dirty="0"/>
                  <a:t> server </a:t>
                </a:r>
                <a:r>
                  <a:rPr lang="en-US" sz="2800" dirty="0" err="1"/>
                  <a:t>lại</a:t>
                </a:r>
                <a:r>
                  <a:rPr lang="en-US" sz="2800" dirty="0"/>
                  <a:t> </a:t>
                </a:r>
                <a:r>
                  <a:rPr lang="en-US" sz="2800" dirty="0" err="1"/>
                  <a:t>tính</a:t>
                </a:r>
                <a:r>
                  <a:rPr lang="en-US" sz="2800" dirty="0"/>
                  <a:t> </a:t>
                </a:r>
                <a:r>
                  <a:rPr lang="en-US" sz="2800" dirty="0" err="1"/>
                  <a:t>toán</a:t>
                </a:r>
                <a:r>
                  <a:rPr lang="en-US" sz="28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e>
                      <m:sub>
                        <m:r>
                          <a:rPr lang="en-US" sz="2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</m:t>
                        </m:r>
                      </m:sub>
                    </m:sSub>
                  </m:oMath>
                </a14:m>
                <a:r>
                  <a:rPr lang="en-US" sz="2800" dirty="0"/>
                  <a:t> </a:t>
                </a:r>
                <a:r>
                  <a:rPr lang="en-US" sz="2800" dirty="0" err="1"/>
                  <a:t>đúng</a:t>
                </a:r>
                <a:r>
                  <a:rPr lang="en-US" sz="2800" dirty="0"/>
                  <a:t>:</a:t>
                </a:r>
              </a:p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en-US" sz="28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e>
                      <m:sub>
                        <m:r>
                          <a:rPr lang="en-US" sz="2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</m:t>
                        </m:r>
                      </m:sub>
                    </m:sSub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sz="2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  <m:r>
                          <a:rPr lang="en-US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a:rPr lang="en-US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𝑚</m:t>
                        </m:r>
                        <m:r>
                          <a:rPr lang="en-US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e>
                      <m:sup>
                        <m:r>
                          <a:rPr lang="en-US" sz="2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𝑑</m:t>
                        </m:r>
                        <m:r>
                          <a:rPr lang="en-US" sz="2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  <m:r>
                          <a:rPr lang="en-US" sz="2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𝑚𝑜𝑑</m:t>
                        </m:r>
                        <m:r>
                          <a:rPr lang="en-US" sz="2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  <m:r>
                          <a:rPr lang="en-US" sz="2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</m:t>
                        </m:r>
                        <m:r>
                          <a:rPr lang="en-US" sz="2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−1</m:t>
                        </m:r>
                      </m:sup>
                    </m:sSup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𝑚𝑜𝑑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𝑝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e>
                      <m:sub>
                        <m:r>
                          <a:rPr lang="en-US" sz="2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𝑞</m:t>
                        </m:r>
                      </m:sub>
                    </m:sSub>
                    <m:r>
                      <a:rPr lang="en-US" sz="28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≠</m:t>
                    </m:r>
                    <m:sSup>
                      <m:sSupPr>
                        <m:ctrlPr>
                          <a:rPr lang="en-US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  <m:r>
                          <a:rPr lang="en-US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a:rPr lang="en-US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𝑚</m:t>
                        </m:r>
                        <m:r>
                          <a:rPr lang="en-US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e>
                      <m:sup>
                        <m:r>
                          <a:rPr lang="en-US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𝑑</m:t>
                        </m:r>
                        <m:r>
                          <a:rPr lang="en-US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  <m:r>
                          <a:rPr lang="en-US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𝑚𝑜𝑑</m:t>
                        </m:r>
                        <m:r>
                          <a:rPr lang="en-US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  <m:r>
                          <a:rPr lang="en-US" sz="2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𝑞</m:t>
                        </m:r>
                        <m:r>
                          <a:rPr lang="en-US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−1</m:t>
                        </m:r>
                      </m:sup>
                    </m:sSup>
                    <m:r>
                      <a:rPr lang="en-US" sz="28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n-US" sz="28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𝑚𝑜𝑑</m:t>
                    </m:r>
                    <m:r>
                      <a:rPr lang="en-US" sz="28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𝑞</m:t>
                    </m:r>
                  </m:oMath>
                </a14:m>
                <a:endParaRPr lang="en-US" sz="2800" dirty="0"/>
              </a:p>
              <a:p>
                <a:r>
                  <a:rPr lang="en-US" sz="2800" dirty="0" err="1"/>
                  <a:t>Từ</a:t>
                </a:r>
                <a:r>
                  <a:rPr lang="en-US" sz="2800" dirty="0"/>
                  <a:t> </a:t>
                </a:r>
                <a:r>
                  <a:rPr lang="en-US" sz="2800" dirty="0" err="1"/>
                  <a:t>đó</a:t>
                </a:r>
                <a:r>
                  <a:rPr lang="en-US" sz="2800" dirty="0"/>
                  <a:t> </a:t>
                </a:r>
                <a14:m>
                  <m:oMath xmlns:m="http://schemas.openxmlformats.org/officeDocument/2006/math">
                    <m:r>
                      <a:rPr lang="en-US" sz="28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𝜎</m:t>
                    </m:r>
                  </m:oMath>
                </a14:m>
                <a:r>
                  <a:rPr lang="en-US" sz="2800" dirty="0"/>
                  <a:t> </a:t>
                </a:r>
                <a:r>
                  <a:rPr lang="en-US" sz="2800" dirty="0" err="1"/>
                  <a:t>khi</a:t>
                </a:r>
                <a:r>
                  <a:rPr lang="en-US" sz="2800" dirty="0"/>
                  <a:t> </a:t>
                </a:r>
                <a:r>
                  <a:rPr lang="en-US" sz="2800" dirty="0" err="1"/>
                  <a:t>gộp</a:t>
                </a:r>
                <a:r>
                  <a:rPr lang="en-US" sz="2800" dirty="0"/>
                  <a:t> </a:t>
                </a:r>
                <a:r>
                  <a:rPr lang="en-US" sz="2800" dirty="0" err="1"/>
                  <a:t>lại</a:t>
                </a:r>
                <a:r>
                  <a:rPr lang="en-US" sz="2800" dirty="0"/>
                  <a:t> </a:t>
                </a:r>
                <a:r>
                  <a:rPr lang="en-US" sz="2800" dirty="0" err="1"/>
                  <a:t>sẽ</a:t>
                </a:r>
                <a:r>
                  <a:rPr lang="en-US" sz="2800" dirty="0"/>
                  <a:t> chia </a:t>
                </a:r>
                <a:r>
                  <a:rPr lang="en-US" sz="2800" dirty="0" err="1"/>
                  <a:t>hết</a:t>
                </a:r>
                <a:r>
                  <a:rPr lang="en-US" sz="2800" dirty="0"/>
                  <a:t> </a:t>
                </a:r>
                <a:r>
                  <a:rPr lang="en-US" sz="2800" dirty="0" err="1"/>
                  <a:t>cho</a:t>
                </a:r>
                <a:r>
                  <a:rPr lang="en-US" sz="2800" dirty="0"/>
                  <a:t> p </a:t>
                </a:r>
                <a:r>
                  <a:rPr lang="en-US" sz="2800" dirty="0" err="1"/>
                  <a:t>nhưng</a:t>
                </a:r>
                <a:r>
                  <a:rPr lang="en-US" sz="2800" dirty="0"/>
                  <a:t> </a:t>
                </a:r>
                <a:r>
                  <a:rPr lang="en-US" sz="2800" dirty="0" err="1"/>
                  <a:t>không</a:t>
                </a:r>
                <a:r>
                  <a:rPr lang="en-US" sz="2800" dirty="0"/>
                  <a:t> chia </a:t>
                </a:r>
                <a:r>
                  <a:rPr lang="en-US" sz="2800" dirty="0" err="1"/>
                  <a:t>hết</a:t>
                </a:r>
                <a:r>
                  <a:rPr lang="en-US" sz="2800" dirty="0"/>
                  <a:t> </a:t>
                </a:r>
                <a:r>
                  <a:rPr lang="en-US" sz="2800" dirty="0" err="1"/>
                  <a:t>cho</a:t>
                </a:r>
                <a:r>
                  <a:rPr lang="en-US" sz="2800" dirty="0"/>
                  <a:t> q:</a:t>
                </a:r>
              </a:p>
              <a:p>
                <a:pPr algn="ctr"/>
                <a14:m>
                  <m:oMath xmlns:m="http://schemas.openxmlformats.org/officeDocument/2006/math">
                    <m:func>
                      <m:funcPr>
                        <m:ctrlPr>
                          <a:rPr lang="en-US" sz="2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28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gcd</m:t>
                        </m:r>
                      </m:fName>
                      <m:e>
                        <m:d>
                          <m:dPr>
                            <m:ctrlPr>
                              <a:rPr lang="en-US" sz="2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sSup>
                              <m:sSupPr>
                                <m:ctrlPr>
                                  <a:rPr lang="en-US" sz="28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sz="28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𝜎</m:t>
                                </m:r>
                              </m:e>
                              <m:sup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𝑒</m:t>
                                </m:r>
                              </m:sup>
                            </m:sSup>
                            <m:r>
                              <a:rPr lang="en-US" sz="2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28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𝜇</m:t>
                            </m:r>
                            <m:d>
                              <m:dPr>
                                <m:ctrlPr>
                                  <a:rPr lang="en-US" sz="28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𝑚</m:t>
                                </m:r>
                              </m:e>
                            </m:d>
                            <m:r>
                              <a:rPr lang="en-US" sz="2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𝑚𝑜𝑑</m:t>
                            </m:r>
                            <m:r>
                              <a:rPr lang="en-US" sz="2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US" sz="2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𝑁</m:t>
                            </m:r>
                            <m:r>
                              <a:rPr lang="en-US" sz="2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2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𝑁</m:t>
                            </m:r>
                          </m:e>
                        </m:d>
                      </m:e>
                    </m:func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𝑝</m:t>
                    </m:r>
                  </m:oMath>
                </a14:m>
                <a:endParaRPr lang="en-US" sz="2800" dirty="0"/>
              </a:p>
              <a:p>
                <a:endParaRPr lang="en-US" sz="2800" dirty="0"/>
              </a:p>
            </p:txBody>
          </p:sp>
        </mc:Choice>
        <mc:Fallback xmlns="">
          <p:sp>
            <p:nvSpPr>
              <p:cNvPr id="9" name="Content Placeholder 8">
                <a:extLst>
                  <a:ext uri="{FF2B5EF4-FFF2-40B4-BE49-F238E27FC236}">
                    <a16:creationId xmlns:a16="http://schemas.microsoft.com/office/drawing/2014/main" id="{145FC503-25AF-2A19-1C5B-C0C441F4E8B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0" y="1838487"/>
                <a:ext cx="11222966" cy="4200004"/>
              </a:xfrm>
              <a:blipFill>
                <a:blip r:embed="rId2"/>
                <a:stretch>
                  <a:fillRect l="-1086" t="-21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1034023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D7C28B-16E5-1A84-EF3F-88CF63A00B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9947" y="534569"/>
            <a:ext cx="10515600" cy="1325563"/>
          </a:xfrm>
        </p:spPr>
        <p:txBody>
          <a:bodyPr/>
          <a:lstStyle/>
          <a:p>
            <a:r>
              <a:rPr lang="en-US" dirty="0"/>
              <a:t>4. </a:t>
            </a:r>
            <a:r>
              <a:rPr lang="en-US" dirty="0" err="1"/>
              <a:t>Kiến</a:t>
            </a:r>
            <a:r>
              <a:rPr lang="en-US" dirty="0"/>
              <a:t> </a:t>
            </a:r>
            <a:r>
              <a:rPr lang="en-US" dirty="0" err="1"/>
              <a:t>trúc</a:t>
            </a:r>
            <a:r>
              <a:rPr lang="en-US" dirty="0"/>
              <a:t> </a:t>
            </a:r>
            <a:r>
              <a:rPr lang="en-US" dirty="0" err="1"/>
              <a:t>giải</a:t>
            </a:r>
            <a:r>
              <a:rPr lang="en-US" dirty="0"/>
              <a:t> </a:t>
            </a:r>
            <a:r>
              <a:rPr lang="en-US" dirty="0" err="1"/>
              <a:t>pháp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CDDB8B-8E67-8881-EFDE-8726FE1E533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09550" y="1972093"/>
            <a:ext cx="10515600" cy="4351338"/>
          </a:xfrm>
        </p:spPr>
        <p:txBody>
          <a:bodyPr/>
          <a:lstStyle/>
          <a:p>
            <a:pPr marL="514350" indent="-514350">
              <a:spcBef>
                <a:spcPts val="2000"/>
              </a:spcBef>
              <a:buAutoNum type="arabicParenR"/>
            </a:pPr>
            <a:r>
              <a:rPr lang="en-US" dirty="0"/>
              <a:t>Key size </a:t>
            </a:r>
            <a:r>
              <a:rPr lang="en-US" dirty="0" err="1"/>
              <a:t>phải</a:t>
            </a:r>
            <a:r>
              <a:rPr lang="en-US" dirty="0"/>
              <a:t> </a:t>
            </a:r>
            <a:r>
              <a:rPr lang="en-US" dirty="0" err="1"/>
              <a:t>đạt</a:t>
            </a:r>
            <a:r>
              <a:rPr lang="en-US" dirty="0"/>
              <a:t> </a:t>
            </a:r>
            <a:r>
              <a:rPr lang="en-US" dirty="0" err="1"/>
              <a:t>chuẩn</a:t>
            </a:r>
            <a:r>
              <a:rPr lang="en-US" dirty="0"/>
              <a:t>: </a:t>
            </a:r>
            <a:r>
              <a:rPr lang="en-US" dirty="0" err="1"/>
              <a:t>ít</a:t>
            </a:r>
            <a:r>
              <a:rPr lang="en-US" dirty="0"/>
              <a:t> </a:t>
            </a:r>
            <a:r>
              <a:rPr lang="en-US" dirty="0" err="1"/>
              <a:t>nhất</a:t>
            </a:r>
            <a:r>
              <a:rPr lang="en-US" dirty="0"/>
              <a:t> 2048 bit, </a:t>
            </a:r>
            <a:r>
              <a:rPr lang="en-US" dirty="0" err="1"/>
              <a:t>khuyến</a:t>
            </a:r>
            <a:r>
              <a:rPr lang="en-US" dirty="0"/>
              <a:t> </a:t>
            </a:r>
            <a:r>
              <a:rPr lang="en-US" dirty="0" err="1"/>
              <a:t>khích</a:t>
            </a:r>
            <a:r>
              <a:rPr lang="en-US" dirty="0"/>
              <a:t> </a:t>
            </a:r>
            <a:r>
              <a:rPr lang="en-US" dirty="0" err="1"/>
              <a:t>tăng</a:t>
            </a:r>
            <a:r>
              <a:rPr lang="en-US" dirty="0"/>
              <a:t> </a:t>
            </a:r>
            <a:r>
              <a:rPr lang="en-US" dirty="0" err="1"/>
              <a:t>lên</a:t>
            </a:r>
            <a:r>
              <a:rPr lang="en-US" dirty="0"/>
              <a:t> 3072 bit </a:t>
            </a:r>
            <a:r>
              <a:rPr lang="en-US" dirty="0" err="1"/>
              <a:t>hoặc</a:t>
            </a:r>
            <a:r>
              <a:rPr lang="en-US" dirty="0"/>
              <a:t> </a:t>
            </a:r>
            <a:r>
              <a:rPr lang="en-US" dirty="0" err="1"/>
              <a:t>cao</a:t>
            </a:r>
            <a:r>
              <a:rPr lang="en-US" dirty="0"/>
              <a:t> </a:t>
            </a:r>
            <a:r>
              <a:rPr lang="en-US" dirty="0" err="1"/>
              <a:t>hơn</a:t>
            </a:r>
            <a:r>
              <a:rPr lang="en-US" dirty="0"/>
              <a:t> </a:t>
            </a:r>
            <a:r>
              <a:rPr lang="en-US" dirty="0" err="1"/>
              <a:t>nếu</a:t>
            </a:r>
            <a:r>
              <a:rPr lang="en-US" dirty="0"/>
              <a:t> </a:t>
            </a:r>
            <a:r>
              <a:rPr lang="en-US" dirty="0" err="1"/>
              <a:t>muốn</a:t>
            </a:r>
            <a:r>
              <a:rPr lang="en-US" dirty="0"/>
              <a:t> </a:t>
            </a:r>
            <a:r>
              <a:rPr lang="en-US" dirty="0" err="1"/>
              <a:t>bảo</a:t>
            </a:r>
            <a:r>
              <a:rPr lang="en-US" dirty="0"/>
              <a:t> </a:t>
            </a:r>
            <a:r>
              <a:rPr lang="en-US" dirty="0" err="1"/>
              <a:t>mật</a:t>
            </a:r>
            <a:r>
              <a:rPr lang="en-US" dirty="0"/>
              <a:t> </a:t>
            </a:r>
            <a:r>
              <a:rPr lang="en-US" dirty="0" err="1"/>
              <a:t>dài</a:t>
            </a:r>
            <a:r>
              <a:rPr lang="en-US" dirty="0"/>
              <a:t> </a:t>
            </a:r>
            <a:r>
              <a:rPr lang="en-US" dirty="0" err="1"/>
              <a:t>hạn</a:t>
            </a:r>
            <a:r>
              <a:rPr lang="en-US" dirty="0"/>
              <a:t>.</a:t>
            </a:r>
          </a:p>
          <a:p>
            <a:pPr marL="514350" indent="-514350">
              <a:spcBef>
                <a:spcPts val="2000"/>
              </a:spcBef>
              <a:buAutoNum type="arabicParenR"/>
            </a:pPr>
            <a:r>
              <a:rPr lang="en-US" dirty="0" err="1"/>
              <a:t>Đảm</a:t>
            </a:r>
            <a:r>
              <a:rPr lang="en-US" dirty="0"/>
              <a:t> </a:t>
            </a:r>
            <a:r>
              <a:rPr lang="en-US" dirty="0" err="1"/>
              <a:t>bảo</a:t>
            </a:r>
            <a:r>
              <a:rPr lang="en-US" dirty="0"/>
              <a:t> </a:t>
            </a:r>
            <a:r>
              <a:rPr lang="en-US" dirty="0" err="1"/>
              <a:t>tính</a:t>
            </a:r>
            <a:r>
              <a:rPr lang="en-US" dirty="0"/>
              <a:t> </a:t>
            </a:r>
            <a:r>
              <a:rPr lang="en-US" dirty="0" err="1"/>
              <a:t>ngẫu</a:t>
            </a:r>
            <a:r>
              <a:rPr lang="en-US" dirty="0"/>
              <a:t> </a:t>
            </a:r>
            <a:r>
              <a:rPr lang="en-US" dirty="0" err="1"/>
              <a:t>nhiên</a:t>
            </a:r>
            <a:r>
              <a:rPr lang="en-US" dirty="0"/>
              <a:t> </a:t>
            </a:r>
            <a:r>
              <a:rPr lang="en-US" dirty="0" err="1"/>
              <a:t>khi</a:t>
            </a:r>
            <a:r>
              <a:rPr lang="en-US" dirty="0"/>
              <a:t> </a:t>
            </a:r>
            <a:r>
              <a:rPr lang="en-US" dirty="0" err="1"/>
              <a:t>sinh</a:t>
            </a:r>
            <a:r>
              <a:rPr lang="en-US" dirty="0"/>
              <a:t> </a:t>
            </a:r>
            <a:r>
              <a:rPr lang="en-US" dirty="0" err="1"/>
              <a:t>khóa</a:t>
            </a:r>
            <a:r>
              <a:rPr lang="en-US" dirty="0"/>
              <a:t>.</a:t>
            </a:r>
          </a:p>
          <a:p>
            <a:pPr marL="514350" indent="-514350">
              <a:spcBef>
                <a:spcPts val="2000"/>
              </a:spcBef>
              <a:buAutoNum type="arabicParenR"/>
            </a:pPr>
            <a:r>
              <a:rPr lang="en-US" dirty="0" err="1"/>
              <a:t>Tránh</a:t>
            </a:r>
            <a:r>
              <a:rPr lang="en-US" dirty="0"/>
              <a:t> dung </a:t>
            </a:r>
            <a:r>
              <a:rPr lang="en-US" dirty="0" err="1"/>
              <a:t>chung</a:t>
            </a:r>
            <a:r>
              <a:rPr lang="en-US" dirty="0"/>
              <a:t> 1 </a:t>
            </a:r>
            <a:r>
              <a:rPr lang="en-US" dirty="0" err="1"/>
              <a:t>khóa</a:t>
            </a:r>
            <a:r>
              <a:rPr lang="en-US" dirty="0"/>
              <a:t> </a:t>
            </a:r>
            <a:r>
              <a:rPr lang="en-US" dirty="0" err="1"/>
              <a:t>cho</a:t>
            </a:r>
            <a:r>
              <a:rPr lang="en-US" dirty="0"/>
              <a:t> </a:t>
            </a:r>
            <a:r>
              <a:rPr lang="en-US" dirty="0" err="1"/>
              <a:t>nhiều</a:t>
            </a:r>
            <a:r>
              <a:rPr lang="en-US" dirty="0"/>
              <a:t> </a:t>
            </a:r>
            <a:r>
              <a:rPr lang="en-US" dirty="0" err="1"/>
              <a:t>dịch</a:t>
            </a:r>
            <a:r>
              <a:rPr lang="en-US" dirty="0"/>
              <a:t> </a:t>
            </a:r>
            <a:r>
              <a:rPr lang="en-US" dirty="0" err="1"/>
              <a:t>vụ</a:t>
            </a:r>
            <a:r>
              <a:rPr lang="en-US" dirty="0"/>
              <a:t> </a:t>
            </a:r>
            <a:r>
              <a:rPr lang="en-US" dirty="0" err="1"/>
              <a:t>khác</a:t>
            </a:r>
            <a:r>
              <a:rPr lang="en-US" dirty="0"/>
              <a:t> </a:t>
            </a:r>
            <a:r>
              <a:rPr lang="en-US" dirty="0" err="1"/>
              <a:t>nhau</a:t>
            </a:r>
            <a:r>
              <a:rPr lang="en-US" dirty="0"/>
              <a:t>.</a:t>
            </a:r>
          </a:p>
          <a:p>
            <a:pPr marL="514350" indent="-514350">
              <a:spcBef>
                <a:spcPts val="2000"/>
              </a:spcBef>
              <a:buAutoNum type="arabicParenR"/>
            </a:pPr>
            <a:r>
              <a:rPr lang="en-US" dirty="0" err="1"/>
              <a:t>Chuẩn</a:t>
            </a:r>
            <a:r>
              <a:rPr lang="en-US" dirty="0"/>
              <a:t> </a:t>
            </a:r>
            <a:r>
              <a:rPr lang="en-US" dirty="0" err="1"/>
              <a:t>bị</a:t>
            </a:r>
            <a:r>
              <a:rPr lang="en-US" dirty="0"/>
              <a:t> </a:t>
            </a:r>
            <a:r>
              <a:rPr lang="en-US" dirty="0" err="1"/>
              <a:t>các</a:t>
            </a:r>
            <a:r>
              <a:rPr lang="en-US" dirty="0"/>
              <a:t> </a:t>
            </a:r>
            <a:r>
              <a:rPr lang="en-US" dirty="0" err="1"/>
              <a:t>giải</a:t>
            </a:r>
            <a:r>
              <a:rPr lang="en-US" dirty="0"/>
              <a:t> </a:t>
            </a:r>
            <a:r>
              <a:rPr lang="en-US" dirty="0" err="1"/>
              <a:t>pháp</a:t>
            </a:r>
            <a:r>
              <a:rPr lang="en-US" dirty="0"/>
              <a:t> </a:t>
            </a:r>
            <a:r>
              <a:rPr lang="en-US" dirty="0" err="1"/>
              <a:t>bảo</a:t>
            </a:r>
            <a:r>
              <a:rPr lang="en-US" dirty="0"/>
              <a:t> </a:t>
            </a:r>
            <a:r>
              <a:rPr lang="en-US" dirty="0" err="1"/>
              <a:t>vệ</a:t>
            </a:r>
            <a:r>
              <a:rPr lang="en-US" dirty="0"/>
              <a:t> </a:t>
            </a:r>
            <a:r>
              <a:rPr lang="en-US" dirty="0" err="1"/>
              <a:t>dài</a:t>
            </a:r>
            <a:r>
              <a:rPr lang="en-US" dirty="0"/>
              <a:t> </a:t>
            </a:r>
            <a:r>
              <a:rPr lang="en-US" dirty="0" err="1"/>
              <a:t>hạn</a:t>
            </a:r>
            <a:r>
              <a:rPr lang="en-US" dirty="0"/>
              <a:t>: </a:t>
            </a:r>
            <a:br>
              <a:rPr lang="en-US" dirty="0"/>
            </a:br>
            <a:r>
              <a:rPr lang="en-US" dirty="0" err="1"/>
              <a:t>Giám</a:t>
            </a:r>
            <a:r>
              <a:rPr lang="en-US" dirty="0"/>
              <a:t> </a:t>
            </a:r>
            <a:r>
              <a:rPr lang="en-US" dirty="0" err="1"/>
              <a:t>sát</a:t>
            </a:r>
            <a:r>
              <a:rPr lang="en-US" dirty="0"/>
              <a:t> </a:t>
            </a:r>
            <a:r>
              <a:rPr lang="en-US" dirty="0" err="1"/>
              <a:t>các</a:t>
            </a:r>
            <a:r>
              <a:rPr lang="en-US" dirty="0"/>
              <a:t> </a:t>
            </a:r>
            <a:r>
              <a:rPr lang="en-US" dirty="0" err="1"/>
              <a:t>kĩ</a:t>
            </a:r>
            <a:r>
              <a:rPr lang="en-US" dirty="0"/>
              <a:t> </a:t>
            </a:r>
            <a:r>
              <a:rPr lang="en-US" dirty="0" err="1"/>
              <a:t>thuật</a:t>
            </a:r>
            <a:r>
              <a:rPr lang="en-US" dirty="0"/>
              <a:t> </a:t>
            </a:r>
            <a:r>
              <a:rPr lang="en-US" dirty="0" err="1"/>
              <a:t>phá</a:t>
            </a:r>
            <a:r>
              <a:rPr lang="en-US" dirty="0"/>
              <a:t> </a:t>
            </a:r>
            <a:r>
              <a:rPr lang="en-US" dirty="0" err="1"/>
              <a:t>mã</a:t>
            </a:r>
            <a:r>
              <a:rPr lang="en-US" dirty="0"/>
              <a:t> </a:t>
            </a:r>
            <a:r>
              <a:rPr lang="en-US" dirty="0" err="1"/>
              <a:t>và</a:t>
            </a:r>
            <a:r>
              <a:rPr lang="en-US" dirty="0"/>
              <a:t> </a:t>
            </a:r>
            <a:r>
              <a:rPr lang="en-US" dirty="0" err="1"/>
              <a:t>điều</a:t>
            </a:r>
            <a:r>
              <a:rPr lang="en-US" dirty="0"/>
              <a:t> </a:t>
            </a:r>
            <a:r>
              <a:rPr lang="en-US" dirty="0" err="1"/>
              <a:t>chỉnh</a:t>
            </a:r>
            <a:r>
              <a:rPr lang="en-US" dirty="0"/>
              <a:t> </a:t>
            </a:r>
            <a:r>
              <a:rPr lang="en-US" dirty="0" err="1"/>
              <a:t>độ</a:t>
            </a:r>
            <a:r>
              <a:rPr lang="en-US" dirty="0"/>
              <a:t> </a:t>
            </a:r>
            <a:r>
              <a:rPr lang="en-US" dirty="0" err="1"/>
              <a:t>dài</a:t>
            </a:r>
            <a:r>
              <a:rPr lang="en-US" dirty="0"/>
              <a:t> </a:t>
            </a:r>
            <a:r>
              <a:rPr lang="en-US" dirty="0" err="1"/>
              <a:t>khóa</a:t>
            </a:r>
            <a:r>
              <a:rPr lang="en-US" dirty="0"/>
              <a:t>. </a:t>
            </a:r>
            <a:r>
              <a:rPr lang="en-US" dirty="0" err="1"/>
              <a:t>Lên</a:t>
            </a:r>
            <a:r>
              <a:rPr lang="en-US" dirty="0"/>
              <a:t> </a:t>
            </a:r>
            <a:r>
              <a:rPr lang="en-US" dirty="0" err="1"/>
              <a:t>kế</a:t>
            </a:r>
            <a:r>
              <a:rPr lang="en-US" dirty="0"/>
              <a:t> </a:t>
            </a:r>
            <a:r>
              <a:rPr lang="en-US" dirty="0" err="1"/>
              <a:t>hoạch</a:t>
            </a:r>
            <a:r>
              <a:rPr lang="en-US" dirty="0"/>
              <a:t> </a:t>
            </a:r>
            <a:r>
              <a:rPr lang="en-US" dirty="0" err="1"/>
              <a:t>chuyển</a:t>
            </a:r>
            <a:r>
              <a:rPr lang="en-US" dirty="0"/>
              <a:t> sang </a:t>
            </a:r>
            <a:r>
              <a:rPr lang="en-US" dirty="0" err="1"/>
              <a:t>các</a:t>
            </a:r>
            <a:r>
              <a:rPr lang="en-US" dirty="0"/>
              <a:t> </a:t>
            </a:r>
            <a:r>
              <a:rPr lang="en-US" dirty="0" err="1"/>
              <a:t>thuật</a:t>
            </a:r>
            <a:r>
              <a:rPr lang="en-US" dirty="0"/>
              <a:t> </a:t>
            </a:r>
            <a:r>
              <a:rPr lang="en-US" dirty="0" err="1"/>
              <a:t>toán</a:t>
            </a:r>
            <a:r>
              <a:rPr lang="en-US" dirty="0"/>
              <a:t> </a:t>
            </a:r>
            <a:r>
              <a:rPr lang="en-US" dirty="0" err="1"/>
              <a:t>mới</a:t>
            </a:r>
            <a:r>
              <a:rPr lang="en-US" dirty="0"/>
              <a:t>, </a:t>
            </a:r>
            <a:r>
              <a:rPr lang="en-US" dirty="0" err="1"/>
              <a:t>đặc</a:t>
            </a:r>
            <a:r>
              <a:rPr lang="en-US" dirty="0"/>
              <a:t> </a:t>
            </a:r>
            <a:r>
              <a:rPr lang="en-US" dirty="0" err="1"/>
              <a:t>biệt</a:t>
            </a:r>
            <a:r>
              <a:rPr lang="en-US" dirty="0"/>
              <a:t> </a:t>
            </a:r>
            <a:r>
              <a:rPr lang="en-US" dirty="0" err="1"/>
              <a:t>là</a:t>
            </a:r>
            <a:r>
              <a:rPr lang="en-US" dirty="0"/>
              <a:t> </a:t>
            </a:r>
            <a:r>
              <a:rPr lang="en-US" dirty="0" err="1"/>
              <a:t>mật</a:t>
            </a:r>
            <a:r>
              <a:rPr lang="en-US" dirty="0"/>
              <a:t> </a:t>
            </a:r>
            <a:r>
              <a:rPr lang="en-US" dirty="0" err="1"/>
              <a:t>mã</a:t>
            </a:r>
            <a:r>
              <a:rPr lang="en-US" dirty="0"/>
              <a:t> </a:t>
            </a:r>
            <a:r>
              <a:rPr lang="en-US" dirty="0" err="1"/>
              <a:t>hậu</a:t>
            </a:r>
            <a:r>
              <a:rPr lang="en-US" dirty="0"/>
              <a:t> </a:t>
            </a:r>
            <a:r>
              <a:rPr lang="en-US" dirty="0" err="1"/>
              <a:t>lượng</a:t>
            </a:r>
            <a:r>
              <a:rPr lang="en-US" dirty="0"/>
              <a:t> </a:t>
            </a:r>
            <a:r>
              <a:rPr lang="en-US" dirty="0" err="1"/>
              <a:t>tử</a:t>
            </a:r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80542232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EE02C9-43C9-2BCE-5DB3-E90CC5CDE7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9563" y="511773"/>
            <a:ext cx="10515600" cy="1325563"/>
          </a:xfrm>
        </p:spPr>
        <p:txBody>
          <a:bodyPr/>
          <a:lstStyle/>
          <a:p>
            <a:r>
              <a:rPr lang="en-US" dirty="0" err="1"/>
              <a:t>Kết</a:t>
            </a:r>
            <a:r>
              <a:rPr lang="en-US" dirty="0"/>
              <a:t> </a:t>
            </a:r>
            <a:r>
              <a:rPr lang="en-US" dirty="0" err="1"/>
              <a:t>luận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D69A5CB-4CC6-E56D-5F11-96E4F980402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7174" y="1994889"/>
            <a:ext cx="11249025" cy="4351338"/>
          </a:xfrm>
        </p:spPr>
        <p:txBody>
          <a:bodyPr>
            <a:normAutofit/>
          </a:bodyPr>
          <a:lstStyle/>
          <a:p>
            <a:pPr>
              <a:spcBef>
                <a:spcPts val="2000"/>
              </a:spcBef>
              <a:buFontTx/>
              <a:buChar char="-"/>
            </a:pPr>
            <a:r>
              <a:rPr lang="en-US" sz="2400" dirty="0">
                <a:latin typeface="Calibri (Body)"/>
              </a:rPr>
              <a:t> RSA </a:t>
            </a:r>
            <a:r>
              <a:rPr lang="en-US" sz="2400" dirty="0" err="1">
                <a:latin typeface="Calibri (Body)"/>
              </a:rPr>
              <a:t>vẫn</a:t>
            </a:r>
            <a:r>
              <a:rPr lang="en-US" sz="2400" dirty="0">
                <a:latin typeface="Calibri (Body)"/>
              </a:rPr>
              <a:t> an </a:t>
            </a:r>
            <a:r>
              <a:rPr lang="en-US" sz="2400" dirty="0" err="1">
                <a:latin typeface="Calibri (Body)"/>
              </a:rPr>
              <a:t>toàn</a:t>
            </a:r>
            <a:r>
              <a:rPr lang="en-US" sz="2400" dirty="0">
                <a:latin typeface="Calibri (Body)"/>
              </a:rPr>
              <a:t> </a:t>
            </a:r>
            <a:r>
              <a:rPr lang="en-US" sz="2400" dirty="0" err="1">
                <a:latin typeface="Calibri (Body)"/>
              </a:rPr>
              <a:t>nếu</a:t>
            </a:r>
            <a:r>
              <a:rPr lang="en-US" sz="2400" dirty="0">
                <a:latin typeface="Calibri (Body)"/>
              </a:rPr>
              <a:t> </a:t>
            </a:r>
            <a:r>
              <a:rPr lang="en-US" sz="2400" dirty="0" err="1">
                <a:latin typeface="Calibri (Body)"/>
              </a:rPr>
              <a:t>triển</a:t>
            </a:r>
            <a:r>
              <a:rPr lang="en-US" sz="2400" dirty="0">
                <a:latin typeface="Calibri (Body)"/>
              </a:rPr>
              <a:t> </a:t>
            </a:r>
            <a:r>
              <a:rPr lang="en-US" sz="2400" dirty="0" err="1">
                <a:latin typeface="Calibri (Body)"/>
              </a:rPr>
              <a:t>khai</a:t>
            </a:r>
            <a:r>
              <a:rPr lang="en-US" sz="2400" dirty="0">
                <a:latin typeface="Calibri (Body)"/>
              </a:rPr>
              <a:t> </a:t>
            </a:r>
            <a:r>
              <a:rPr lang="en-US" sz="2400" dirty="0" err="1">
                <a:latin typeface="Calibri (Body)"/>
              </a:rPr>
              <a:t>chuẩn</a:t>
            </a:r>
            <a:r>
              <a:rPr lang="en-US" sz="2400" dirty="0">
                <a:latin typeface="Calibri (Body)"/>
              </a:rPr>
              <a:t>, </a:t>
            </a:r>
            <a:r>
              <a:rPr lang="en-US" sz="2400" dirty="0" err="1">
                <a:latin typeface="Calibri (Body)"/>
              </a:rPr>
              <a:t>đầy</a:t>
            </a:r>
            <a:r>
              <a:rPr lang="en-US" sz="2400" dirty="0">
                <a:latin typeface="Calibri (Body)"/>
              </a:rPr>
              <a:t> </a:t>
            </a:r>
            <a:r>
              <a:rPr lang="en-US" sz="2400" dirty="0" err="1">
                <a:latin typeface="Calibri (Body)"/>
              </a:rPr>
              <a:t>đủ</a:t>
            </a:r>
            <a:endParaRPr lang="en-US" sz="2400" dirty="0">
              <a:latin typeface="Calibri (Body)"/>
            </a:endParaRPr>
          </a:p>
          <a:p>
            <a:pPr>
              <a:spcBef>
                <a:spcPts val="2000"/>
              </a:spcBef>
              <a:buFontTx/>
              <a:buChar char="-"/>
            </a:pPr>
            <a:r>
              <a:rPr lang="en-US" sz="2400" dirty="0">
                <a:latin typeface="Calibri (Body)"/>
              </a:rPr>
              <a:t> </a:t>
            </a:r>
            <a:r>
              <a:rPr lang="vi-VN" sz="2400" dirty="0">
                <a:latin typeface="Calibri (Body)"/>
              </a:rPr>
              <a:t>Ưu tiên RSASSA-PSS cho chữ ký và tránh PKCS#1 v1.5 khi có thể.</a:t>
            </a:r>
            <a:endParaRPr lang="en-US" sz="2400" dirty="0">
              <a:latin typeface="Calibri (Body)"/>
            </a:endParaRPr>
          </a:p>
          <a:p>
            <a:pPr>
              <a:spcBef>
                <a:spcPts val="2000"/>
              </a:spcBef>
              <a:buFontTx/>
              <a:buChar char="-"/>
            </a:pPr>
            <a:r>
              <a:rPr lang="en-US" sz="2400" dirty="0">
                <a:latin typeface="Calibri (Body)"/>
              </a:rPr>
              <a:t> </a:t>
            </a:r>
            <a:r>
              <a:rPr lang="vi-VN" sz="2400" dirty="0">
                <a:latin typeface="Calibri (Body)"/>
              </a:rPr>
              <a:t>Dùng kích thước khóa lớn (≥3072 bit) hoặc chuyển sang ECC/PQC cho bảo vệ dài hạn.</a:t>
            </a:r>
            <a:endParaRPr lang="en-US" sz="2400" dirty="0">
              <a:latin typeface="Calibri (Body)"/>
            </a:endParaRPr>
          </a:p>
          <a:p>
            <a:pPr>
              <a:spcBef>
                <a:spcPts val="2000"/>
              </a:spcBef>
              <a:buFontTx/>
              <a:buChar char="-"/>
            </a:pPr>
            <a:r>
              <a:rPr lang="en-US" sz="2400" dirty="0">
                <a:latin typeface="Calibri (Body)"/>
              </a:rPr>
              <a:t> </a:t>
            </a:r>
            <a:r>
              <a:rPr lang="vi-VN" sz="2400" dirty="0">
                <a:latin typeface="Calibri (Body)"/>
              </a:rPr>
              <a:t>Vô hiệu hóa RSA key exchange trong TLS, ưu tiên ECDHE cho forward secrecy.</a:t>
            </a:r>
            <a:endParaRPr lang="en-US" sz="2400" dirty="0">
              <a:latin typeface="Calibri (Body)"/>
            </a:endParaRPr>
          </a:p>
          <a:p>
            <a:pPr>
              <a:spcBef>
                <a:spcPts val="2000"/>
              </a:spcBef>
              <a:buFontTx/>
              <a:buChar char="-"/>
            </a:pPr>
            <a:r>
              <a:rPr lang="en-US" sz="2400" dirty="0">
                <a:latin typeface="Calibri (Body)"/>
              </a:rPr>
              <a:t> </a:t>
            </a:r>
            <a:r>
              <a:rPr lang="vi-VN" sz="2400" dirty="0">
                <a:latin typeface="Calibri (Body)"/>
              </a:rPr>
              <a:t>Áp dụng exponent &amp; CRT blinding, constant-time modular exponentiation, và CSPRNG mạnh cho keygen.</a:t>
            </a:r>
            <a:endParaRPr lang="en-US" sz="2400" dirty="0">
              <a:latin typeface="Calibri (Body)"/>
            </a:endParaRPr>
          </a:p>
          <a:p>
            <a:pPr>
              <a:spcBef>
                <a:spcPts val="2000"/>
              </a:spcBef>
              <a:buFontTx/>
              <a:buChar char="-"/>
            </a:pPr>
            <a:r>
              <a:rPr lang="en-US" sz="2400" dirty="0">
                <a:latin typeface="Calibri (Body)"/>
              </a:rPr>
              <a:t> </a:t>
            </a:r>
            <a:r>
              <a:rPr lang="vi-VN" sz="2400" dirty="0">
                <a:latin typeface="Calibri (Body)"/>
              </a:rPr>
              <a:t>Lưu private key </a:t>
            </a:r>
            <a:r>
              <a:rPr lang="en-US" sz="2400" dirty="0" err="1">
                <a:latin typeface="Calibri (Body)"/>
              </a:rPr>
              <a:t>kĩ</a:t>
            </a:r>
            <a:r>
              <a:rPr lang="vi-VN" sz="2400" dirty="0">
                <a:latin typeface="Calibri (Body)"/>
              </a:rPr>
              <a:t>, giới hạn API và dùng uniform error messages.</a:t>
            </a:r>
            <a:endParaRPr lang="en-US" sz="2400" dirty="0">
              <a:latin typeface="Calibri (Body)"/>
            </a:endParaRPr>
          </a:p>
        </p:txBody>
      </p:sp>
    </p:spTree>
    <p:extLst>
      <p:ext uri="{BB962C8B-B14F-4D97-AF65-F5344CB8AC3E}">
        <p14:creationId xmlns:p14="http://schemas.microsoft.com/office/powerpoint/2010/main" val="1704221707"/>
      </p:ext>
    </p:extLst>
  </p:cSld>
  <p:clrMapOvr>
    <a:masterClrMapping/>
  </p:clrMapOvr>
</p:sld>
</file>

<file path=ppt/theme/theme1.xml><?xml version="1.0" encoding="utf-8"?>
<a:theme xmlns:a="http://schemas.openxmlformats.org/drawingml/2006/main" name="Retrospect">
  <a:themeElements>
    <a:clrScheme name="Retrospect">
      <a:dk1>
        <a:srgbClr val="000000"/>
      </a:dk1>
      <a:lt1>
        <a:sysClr val="window" lastClr="FFFFFF"/>
      </a:lt1>
      <a:dk2>
        <a:srgbClr val="637052"/>
      </a:dk2>
      <a:lt2>
        <a:srgbClr val="CCDDEA"/>
      </a:lt2>
      <a:accent1>
        <a:srgbClr val="E48312"/>
      </a:accent1>
      <a:accent2>
        <a:srgbClr val="BD582C"/>
      </a:accent2>
      <a:accent3>
        <a:srgbClr val="865640"/>
      </a:accent3>
      <a:accent4>
        <a:srgbClr val="9B8357"/>
      </a:accent4>
      <a:accent5>
        <a:srgbClr val="C2BC80"/>
      </a:accent5>
      <a:accent6>
        <a:srgbClr val="94A088"/>
      </a:accent6>
      <a:hlink>
        <a:srgbClr val="2998E3"/>
      </a:hlink>
      <a:folHlink>
        <a:srgbClr val="8C8C8C"/>
      </a:folHlink>
    </a:clrScheme>
    <a:fontScheme name="Retrospect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Retrospec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etrospect" id="{5F128B03-DCCA-4EEB-AB3B-CF2899314A46}" vid="{3F1AAB62-24C6-49D2-8E01-B56FAC9A3DCD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Tài liệu" ma:contentTypeID="0x010100B1C9C9CFBA54554FAB72A368ED558EE9" ma:contentTypeVersion="4" ma:contentTypeDescription="Tạo tài liệu mới." ma:contentTypeScope="" ma:versionID="7afe8246de33ba856f7f9004637ff618">
  <xsd:schema xmlns:xsd="http://www.w3.org/2001/XMLSchema" xmlns:xs="http://www.w3.org/2001/XMLSchema" xmlns:p="http://schemas.microsoft.com/office/2006/metadata/properties" xmlns:ns3="7804a6fb-3003-4c78-85cc-87186ae6e246" targetNamespace="http://schemas.microsoft.com/office/2006/metadata/properties" ma:root="true" ma:fieldsID="1dbbbb438070c4d288d95d0c153f475e" ns3:_="">
    <xsd:import namespace="7804a6fb-3003-4c78-85cc-87186ae6e246"/>
    <xsd:element name="properties">
      <xsd:complexType>
        <xsd:sequence>
          <xsd:element name="documentManagement">
            <xsd:complexType>
              <xsd:all>
                <xsd:element ref="ns3:MediaServiceDateTaken" minOccurs="0"/>
                <xsd:element ref="ns3:MediaServiceMetadata" minOccurs="0"/>
                <xsd:element ref="ns3:MediaServiceFastMetadata" minOccurs="0"/>
                <xsd:element ref="ns3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804a6fb-3003-4c78-85cc-87186ae6e246" elementFormDefault="qualified">
    <xsd:import namespace="http://schemas.microsoft.com/office/2006/documentManagement/types"/>
    <xsd:import namespace="http://schemas.microsoft.com/office/infopath/2007/PartnerControls"/>
    <xsd:element name="MediaServiceDateTaken" ma:index="8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Metadata" ma:index="9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0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Loại Nội dung"/>
        <xsd:element ref="dc:title" minOccurs="0" maxOccurs="1" ma:index="4" ma:displayName="Tiêu đề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9EA5A663-36CB-4D52-ACF0-0994F2B58167}">
  <ds:schemaRefs>
    <ds:schemaRef ds:uri="http://purl.org/dc/dcmitype/"/>
    <ds:schemaRef ds:uri="http://schemas.openxmlformats.org/package/2006/metadata/core-properties"/>
    <ds:schemaRef ds:uri="http://purl.org/dc/elements/1.1/"/>
    <ds:schemaRef ds:uri="http://purl.org/dc/terms/"/>
    <ds:schemaRef ds:uri="http://www.w3.org/XML/1998/namespace"/>
    <ds:schemaRef ds:uri="http://schemas.microsoft.com/office/2006/documentManagement/types"/>
    <ds:schemaRef ds:uri="http://schemas.microsoft.com/office/infopath/2007/PartnerControls"/>
    <ds:schemaRef ds:uri="7804a6fb-3003-4c78-85cc-87186ae6e246"/>
    <ds:schemaRef ds:uri="http://schemas.microsoft.com/office/2006/metadata/properties"/>
  </ds:schemaRefs>
</ds:datastoreItem>
</file>

<file path=customXml/itemProps2.xml><?xml version="1.0" encoding="utf-8"?>
<ds:datastoreItem xmlns:ds="http://schemas.openxmlformats.org/officeDocument/2006/customXml" ds:itemID="{FDB0FCB8-DB46-4959-B9E6-F720DF2AB4B9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804a6fb-3003-4c78-85cc-87186ae6e246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02A294DC-FDDB-4C19-A732-9D70B934EFDB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4166</TotalTime>
  <Words>1956</Words>
  <Application>Microsoft Office PowerPoint</Application>
  <PresentationFormat>Widescreen</PresentationFormat>
  <Paragraphs>225</Paragraphs>
  <Slides>35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35</vt:i4>
      </vt:variant>
    </vt:vector>
  </HeadingPairs>
  <TitlesOfParts>
    <vt:vector size="43" baseType="lpstr">
      <vt:lpstr>-apple-system</vt:lpstr>
      <vt:lpstr>Calibri</vt:lpstr>
      <vt:lpstr>Calibri (Body)</vt:lpstr>
      <vt:lpstr>Calibri Light</vt:lpstr>
      <vt:lpstr>Cambria Math</vt:lpstr>
      <vt:lpstr>Courier New</vt:lpstr>
      <vt:lpstr>Symbol</vt:lpstr>
      <vt:lpstr>Retrospect</vt:lpstr>
      <vt:lpstr>Cryptanalysis on Asymmetric Ciphers — RSA &amp; RSA‑Based Signatures</vt:lpstr>
      <vt:lpstr>1. Bối cảnh</vt:lpstr>
      <vt:lpstr>Rủi ro</vt:lpstr>
      <vt:lpstr>Security Goals</vt:lpstr>
      <vt:lpstr>2. Các  câu hỏi nghiên cứu và giả thuyết</vt:lpstr>
      <vt:lpstr>2. Các  câu hỏi nghiên cứu và giả thuyết</vt:lpstr>
      <vt:lpstr>2. Các  câu hỏi nghiên cứu và giả thuyết</vt:lpstr>
      <vt:lpstr>3. Kịch bản triển khai</vt:lpstr>
      <vt:lpstr>Các attack triển khai</vt:lpstr>
      <vt:lpstr>Attack A - Bleichenbacher padding oracle </vt:lpstr>
      <vt:lpstr>PKCS#1 v1.5 Padding</vt:lpstr>
      <vt:lpstr>Padding Oracle là gì?</vt:lpstr>
      <vt:lpstr>Attack A - Bleichenbacher padding oracle </vt:lpstr>
      <vt:lpstr>Attack A - Bleichenbacher padding oracle </vt:lpstr>
      <vt:lpstr>Kết quả - Attack A</vt:lpstr>
      <vt:lpstr>Kết quả - Attack A</vt:lpstr>
      <vt:lpstr>Kết quả - Attack A</vt:lpstr>
      <vt:lpstr>Attack B – Timing Attack on RSA</vt:lpstr>
      <vt:lpstr>Điều kiện</vt:lpstr>
      <vt:lpstr>Decryption/Signing</vt:lpstr>
      <vt:lpstr>Square and Multiply</vt:lpstr>
      <vt:lpstr>Thu thập dữ liệu và thống kê</vt:lpstr>
      <vt:lpstr>Kết quả attack B</vt:lpstr>
      <vt:lpstr>Trả lời câu hỏi RQ2</vt:lpstr>
      <vt:lpstr>Attack C – Wiener’s Attack / low d</vt:lpstr>
      <vt:lpstr>Điều kiện</vt:lpstr>
      <vt:lpstr>Ý tưởng</vt:lpstr>
      <vt:lpstr>Ý tưởng</vt:lpstr>
      <vt:lpstr>Kết quả - Attack C</vt:lpstr>
      <vt:lpstr>Kết quả - Attack C</vt:lpstr>
      <vt:lpstr>Kết quả - Attack C</vt:lpstr>
      <vt:lpstr>Fault attack: mở rộng</vt:lpstr>
      <vt:lpstr>Bellcore Attack</vt:lpstr>
      <vt:lpstr>4. Kiến trúc giải pháp</vt:lpstr>
      <vt:lpstr>Kết luận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Phạm Nguyễn Thành Long</dc:creator>
  <cp:lastModifiedBy>Phạm Nguyễn Thành Long</cp:lastModifiedBy>
  <cp:revision>19</cp:revision>
  <dcterms:created xsi:type="dcterms:W3CDTF">2025-12-19T07:28:18Z</dcterms:created>
  <dcterms:modified xsi:type="dcterms:W3CDTF">2025-12-28T22:09:26Z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0x010100B1C9C9CFBA54554FAB72A368ED558EE9</vt:lpwstr>
  </property>
</Properties>
</file>