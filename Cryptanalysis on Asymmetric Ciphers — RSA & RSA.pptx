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4"/>
  </p:sldMasterIdLst>
  <p:sldIdLst>
    <p:sldId id="256" r:id="rId5"/>
    <p:sldId id="257" r:id="rId6"/>
    <p:sldId id="258" r:id="rId7"/>
    <p:sldId id="260" r:id="rId8"/>
    <p:sldId id="266" r:id="rId9"/>
    <p:sldId id="269" r:id="rId10"/>
    <p:sldId id="268" r:id="rId11"/>
    <p:sldId id="261" r:id="rId12"/>
    <p:sldId id="262" r:id="rId13"/>
    <p:sldId id="274" r:id="rId14"/>
    <p:sldId id="275" r:id="rId15"/>
    <p:sldId id="278" r:id="rId16"/>
    <p:sldId id="276" r:id="rId17"/>
    <p:sldId id="277" r:id="rId18"/>
    <p:sldId id="263" r:id="rId19"/>
    <p:sldId id="270" r:id="rId20"/>
    <p:sldId id="272" r:id="rId21"/>
    <p:sldId id="273" r:id="rId22"/>
    <p:sldId id="279" r:id="rId23"/>
    <p:sldId id="287" r:id="rId24"/>
    <p:sldId id="289" r:id="rId25"/>
    <p:sldId id="288" r:id="rId26"/>
    <p:sldId id="280" r:id="rId27"/>
    <p:sldId id="281" r:id="rId28"/>
    <p:sldId id="286" r:id="rId29"/>
    <p:sldId id="271" r:id="rId30"/>
    <p:sldId id="283" r:id="rId31"/>
    <p:sldId id="284" r:id="rId32"/>
    <p:sldId id="259" r:id="rId33"/>
    <p:sldId id="264" r:id="rId3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9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presProps" Target="pres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25300-05E8-4D28-85DB-000DB90F5912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A904E4-DD49-4406-9C6D-DC1F0A4BC90A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060597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25300-05E8-4D28-85DB-000DB90F5912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A904E4-DD49-4406-9C6D-DC1F0A4BC9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89677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25300-05E8-4D28-85DB-000DB90F5912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A904E4-DD49-4406-9C6D-DC1F0A4BC90A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132096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25300-05E8-4D28-85DB-000DB90F5912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A904E4-DD49-4406-9C6D-DC1F0A4BC9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52428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25300-05E8-4D28-85DB-000DB90F5912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A904E4-DD49-4406-9C6D-DC1F0A4BC9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41665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25300-05E8-4D28-85DB-000DB90F5912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A904E4-DD49-4406-9C6D-DC1F0A4BC9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12384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25300-05E8-4D28-85DB-000DB90F5912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A904E4-DD49-4406-9C6D-DC1F0A4BC9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67512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E1525300-05E8-4D28-85DB-000DB90F5912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70A904E4-DD49-4406-9C6D-DC1F0A4BC9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9663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25300-05E8-4D28-85DB-000DB90F5912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A904E4-DD49-4406-9C6D-DC1F0A4BC9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94165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25300-05E8-4D28-85DB-000DB90F5912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A904E4-DD49-4406-9C6D-DC1F0A4BC9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97327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25300-05E8-4D28-85DB-000DB90F5912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A904E4-DD49-4406-9C6D-DC1F0A4BC9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06609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E1525300-05E8-4D28-85DB-000DB90F5912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70A904E4-DD49-4406-9C6D-DC1F0A4BC90A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396534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utoShape 4">
            <a:extLst>
              <a:ext uri="{FF2B5EF4-FFF2-40B4-BE49-F238E27FC236}">
                <a16:creationId xmlns:a16="http://schemas.microsoft.com/office/drawing/2014/main" id="{E7E577F2-1107-AEB4-5611-905F7AB78C5F}"/>
              </a:ext>
            </a:extLst>
          </p:cNvPr>
          <p:cNvSpPr>
            <a:spLocks noGrp="1" noChangeAspect="1" noChangeArrowheads="1"/>
          </p:cNvSpPr>
          <p:nvPr>
            <p:ph type="ctrTitle"/>
          </p:nvPr>
        </p:nvSpPr>
        <p:spPr bwMode="auto">
          <a:xfrm>
            <a:off x="1342845" y="484038"/>
            <a:ext cx="9144000" cy="2387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fontScale="90000"/>
          </a:bodyPr>
          <a:lstStyle/>
          <a:p>
            <a:r>
              <a:rPr lang="en-US" i="0" dirty="0">
                <a:solidFill>
                  <a:srgbClr val="1F2328"/>
                </a:solidFill>
                <a:effectLst/>
                <a:latin typeface="-apple-system"/>
              </a:rPr>
              <a:t>Cryptanalysis on Asymmetric Ciphers — RSA &amp; RSA‑Based Signatures</a:t>
            </a:r>
          </a:p>
        </p:txBody>
      </p:sp>
    </p:spTree>
    <p:extLst>
      <p:ext uri="{BB962C8B-B14F-4D97-AF65-F5344CB8AC3E}">
        <p14:creationId xmlns:p14="http://schemas.microsoft.com/office/powerpoint/2010/main" val="22546506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63F865-B938-0204-A786-4DFC29D08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53413"/>
            <a:ext cx="10515600" cy="1325563"/>
          </a:xfrm>
        </p:spPr>
        <p:txBody>
          <a:bodyPr/>
          <a:lstStyle/>
          <a:p>
            <a:r>
              <a:rPr lang="en-US" dirty="0"/>
              <a:t>1. </a:t>
            </a:r>
            <a:r>
              <a:rPr lang="en-US" dirty="0" err="1"/>
              <a:t>Bối</a:t>
            </a:r>
            <a:r>
              <a:rPr lang="en-US" dirty="0"/>
              <a:t> </a:t>
            </a:r>
            <a:r>
              <a:rPr lang="en-US" dirty="0" err="1"/>
              <a:t>cảnh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D87684-54E6-6F24-93FC-5F8A1EE280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702" y="1747987"/>
            <a:ext cx="10515600" cy="4351338"/>
          </a:xfrm>
        </p:spPr>
        <p:txBody>
          <a:bodyPr/>
          <a:lstStyle/>
          <a:p>
            <a:r>
              <a:rPr lang="en-US" dirty="0"/>
              <a:t>RSA </a:t>
            </a:r>
            <a:r>
              <a:rPr lang="en-US" dirty="0" err="1"/>
              <a:t>là</a:t>
            </a:r>
            <a:r>
              <a:rPr lang="en-US" dirty="0"/>
              <a:t> </a:t>
            </a:r>
            <a:r>
              <a:rPr lang="en-US" dirty="0" err="1"/>
              <a:t>thuật</a:t>
            </a:r>
            <a:r>
              <a:rPr lang="en-US" dirty="0"/>
              <a:t> </a:t>
            </a:r>
            <a:r>
              <a:rPr lang="en-US" dirty="0" err="1"/>
              <a:t>toán</a:t>
            </a:r>
            <a:r>
              <a:rPr lang="en-US" dirty="0"/>
              <a:t> </a:t>
            </a:r>
            <a:r>
              <a:rPr lang="en-US" dirty="0" err="1"/>
              <a:t>mã</a:t>
            </a:r>
            <a:r>
              <a:rPr lang="en-US" dirty="0"/>
              <a:t> </a:t>
            </a:r>
            <a:r>
              <a:rPr lang="en-US" dirty="0" err="1"/>
              <a:t>hóa</a:t>
            </a:r>
            <a:r>
              <a:rPr lang="en-US" dirty="0"/>
              <a:t> </a:t>
            </a:r>
            <a:r>
              <a:rPr lang="en-US" dirty="0" err="1"/>
              <a:t>được</a:t>
            </a:r>
            <a:r>
              <a:rPr lang="en-US" dirty="0"/>
              <a:t> </a:t>
            </a:r>
            <a:r>
              <a:rPr lang="en-US" dirty="0" err="1"/>
              <a:t>sử</a:t>
            </a:r>
            <a:r>
              <a:rPr lang="en-US" dirty="0"/>
              <a:t> </a:t>
            </a:r>
            <a:r>
              <a:rPr lang="en-US" dirty="0" err="1"/>
              <a:t>dụng</a:t>
            </a:r>
            <a:r>
              <a:rPr lang="en-US" dirty="0"/>
              <a:t> </a:t>
            </a:r>
            <a:r>
              <a:rPr lang="en-US" dirty="0" err="1"/>
              <a:t>rộng</a:t>
            </a:r>
            <a:r>
              <a:rPr lang="en-US" dirty="0"/>
              <a:t> </a:t>
            </a:r>
            <a:r>
              <a:rPr lang="en-US" dirty="0" err="1"/>
              <a:t>rãi</a:t>
            </a:r>
            <a:r>
              <a:rPr lang="en-US" dirty="0"/>
              <a:t> ở </a:t>
            </a:r>
            <a:r>
              <a:rPr lang="en-US" dirty="0" err="1"/>
              <a:t>nhiều</a:t>
            </a:r>
            <a:r>
              <a:rPr lang="en-US" dirty="0"/>
              <a:t> </a:t>
            </a:r>
            <a:r>
              <a:rPr lang="en-US" dirty="0" err="1"/>
              <a:t>công</a:t>
            </a:r>
            <a:r>
              <a:rPr lang="en-US" dirty="0"/>
              <a:t> </a:t>
            </a:r>
            <a:r>
              <a:rPr lang="en-US" dirty="0" err="1"/>
              <a:t>nghệ</a:t>
            </a:r>
            <a:r>
              <a:rPr lang="en-US" dirty="0"/>
              <a:t>:</a:t>
            </a:r>
          </a:p>
          <a:p>
            <a:pPr>
              <a:buFontTx/>
              <a:buChar char="-"/>
            </a:pPr>
            <a:r>
              <a:rPr lang="en-US" dirty="0"/>
              <a:t>Giao </a:t>
            </a:r>
            <a:r>
              <a:rPr lang="en-US" dirty="0" err="1"/>
              <a:t>thức</a:t>
            </a:r>
            <a:r>
              <a:rPr lang="en-US" dirty="0"/>
              <a:t> </a:t>
            </a:r>
            <a:r>
              <a:rPr lang="en-US" dirty="0" err="1"/>
              <a:t>mạng</a:t>
            </a:r>
            <a:r>
              <a:rPr lang="en-US" dirty="0"/>
              <a:t> </a:t>
            </a:r>
            <a:r>
              <a:rPr lang="en-US" dirty="0" err="1"/>
              <a:t>như</a:t>
            </a:r>
            <a:r>
              <a:rPr lang="en-US" dirty="0"/>
              <a:t> SSL/TLS, SSH, …</a:t>
            </a:r>
          </a:p>
          <a:p>
            <a:pPr>
              <a:buFontTx/>
              <a:buChar char="-"/>
            </a:pPr>
            <a:r>
              <a:rPr lang="en-US" dirty="0" err="1"/>
              <a:t>Dịch</a:t>
            </a:r>
            <a:r>
              <a:rPr lang="en-US" dirty="0"/>
              <a:t> </a:t>
            </a:r>
            <a:r>
              <a:rPr lang="en-US" dirty="0" err="1"/>
              <a:t>vụ</a:t>
            </a:r>
            <a:r>
              <a:rPr lang="en-US" dirty="0"/>
              <a:t> VPN</a:t>
            </a:r>
          </a:p>
          <a:p>
            <a:pPr>
              <a:buFontTx/>
              <a:buChar char="-"/>
            </a:pPr>
            <a:r>
              <a:rPr lang="en-US" dirty="0"/>
              <a:t>Smart Cards,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thiết</a:t>
            </a:r>
            <a:r>
              <a:rPr lang="en-US" dirty="0"/>
              <a:t> </a:t>
            </a:r>
            <a:r>
              <a:rPr lang="en-US" dirty="0" err="1"/>
              <a:t>bị</a:t>
            </a:r>
            <a:r>
              <a:rPr lang="en-US" dirty="0"/>
              <a:t> IoT</a:t>
            </a:r>
          </a:p>
          <a:p>
            <a:r>
              <a:rPr lang="en-US" dirty="0" err="1"/>
              <a:t>Vấn</a:t>
            </a:r>
            <a:r>
              <a:rPr lang="en-US" dirty="0"/>
              <a:t> </a:t>
            </a:r>
            <a:r>
              <a:rPr lang="en-US" dirty="0" err="1"/>
              <a:t>đề</a:t>
            </a:r>
            <a:r>
              <a:rPr lang="en-US" dirty="0"/>
              <a:t>: </a:t>
            </a:r>
            <a:r>
              <a:rPr lang="en-US" dirty="0" err="1"/>
              <a:t>tuy</a:t>
            </a:r>
            <a:r>
              <a:rPr lang="en-US" dirty="0"/>
              <a:t> </a:t>
            </a:r>
            <a:r>
              <a:rPr lang="en-US" dirty="0" err="1"/>
              <a:t>phổ</a:t>
            </a:r>
            <a:r>
              <a:rPr lang="en-US" dirty="0"/>
              <a:t> </a:t>
            </a:r>
            <a:r>
              <a:rPr lang="en-US" dirty="0" err="1"/>
              <a:t>biến</a:t>
            </a:r>
            <a:r>
              <a:rPr lang="en-US" dirty="0"/>
              <a:t>, RSA </a:t>
            </a:r>
            <a:r>
              <a:rPr lang="en-US" dirty="0" err="1"/>
              <a:t>vẫn</a:t>
            </a:r>
            <a:r>
              <a:rPr lang="en-US" dirty="0"/>
              <a:t> </a:t>
            </a:r>
            <a:r>
              <a:rPr lang="en-US" dirty="0" err="1"/>
              <a:t>tiềm</a:t>
            </a:r>
            <a:r>
              <a:rPr lang="en-US" dirty="0"/>
              <a:t> </a:t>
            </a:r>
            <a:r>
              <a:rPr lang="en-US" dirty="0" err="1"/>
              <a:t>ẩn</a:t>
            </a:r>
            <a:r>
              <a:rPr lang="en-US" dirty="0"/>
              <a:t> </a:t>
            </a:r>
            <a:r>
              <a:rPr lang="en-US" dirty="0" err="1"/>
              <a:t>rủi</a:t>
            </a:r>
            <a:r>
              <a:rPr lang="en-US" dirty="0"/>
              <a:t> </a:t>
            </a:r>
            <a:r>
              <a:rPr lang="en-US" dirty="0" err="1"/>
              <a:t>ro</a:t>
            </a:r>
            <a:r>
              <a:rPr lang="en-US" dirty="0"/>
              <a:t> </a:t>
            </a:r>
            <a:r>
              <a:rPr lang="en-US" dirty="0" err="1"/>
              <a:t>cao</a:t>
            </a:r>
            <a:r>
              <a:rPr lang="en-US" dirty="0"/>
              <a:t> </a:t>
            </a:r>
            <a:r>
              <a:rPr lang="en-US" dirty="0" err="1"/>
              <a:t>nếu</a:t>
            </a:r>
            <a:r>
              <a:rPr lang="en-US" dirty="0"/>
              <a:t> </a:t>
            </a:r>
            <a:r>
              <a:rPr lang="en-US" dirty="0" err="1"/>
              <a:t>triển</a:t>
            </a:r>
            <a:r>
              <a:rPr lang="en-US" dirty="0"/>
              <a:t> </a:t>
            </a:r>
            <a:r>
              <a:rPr lang="en-US" dirty="0" err="1"/>
              <a:t>khai</a:t>
            </a:r>
            <a:r>
              <a:rPr lang="en-US" dirty="0"/>
              <a:t> </a:t>
            </a:r>
            <a:r>
              <a:rPr lang="en-US" dirty="0" err="1"/>
              <a:t>sai</a:t>
            </a:r>
            <a:r>
              <a:rPr lang="en-US" dirty="0"/>
              <a:t> </a:t>
            </a:r>
            <a:r>
              <a:rPr lang="en-US" dirty="0" err="1"/>
              <a:t>hoặc</a:t>
            </a:r>
            <a:r>
              <a:rPr lang="en-US" dirty="0"/>
              <a:t> </a:t>
            </a:r>
            <a:r>
              <a:rPr lang="en-US" dirty="0" err="1"/>
              <a:t>tham</a:t>
            </a:r>
            <a:r>
              <a:rPr lang="en-US" dirty="0"/>
              <a:t> </a:t>
            </a:r>
            <a:r>
              <a:rPr lang="en-US" dirty="0" err="1"/>
              <a:t>số</a:t>
            </a:r>
            <a:r>
              <a:rPr lang="en-US" dirty="0"/>
              <a:t> </a:t>
            </a:r>
            <a:r>
              <a:rPr lang="en-US" dirty="0" err="1"/>
              <a:t>đầu</a:t>
            </a:r>
            <a:r>
              <a:rPr lang="en-US" dirty="0"/>
              <a:t> </a:t>
            </a:r>
            <a:r>
              <a:rPr lang="en-US" dirty="0" err="1"/>
              <a:t>vào</a:t>
            </a:r>
            <a:r>
              <a:rPr lang="en-US" dirty="0"/>
              <a:t> </a:t>
            </a:r>
            <a:r>
              <a:rPr lang="en-US" dirty="0" err="1"/>
              <a:t>không</a:t>
            </a:r>
            <a:r>
              <a:rPr lang="en-US" dirty="0"/>
              <a:t> </a:t>
            </a:r>
            <a:r>
              <a:rPr lang="en-US" dirty="0" err="1"/>
              <a:t>đạt</a:t>
            </a:r>
            <a:r>
              <a:rPr lang="en-US" dirty="0"/>
              <a:t> </a:t>
            </a:r>
            <a:r>
              <a:rPr lang="en-US" dirty="0" err="1"/>
              <a:t>chuẩn</a:t>
            </a:r>
            <a:r>
              <a:rPr lang="en-US" dirty="0"/>
              <a:t>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54992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2EADD6-AB03-4EC7-EEDD-C6639EB92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9460" y="322537"/>
            <a:ext cx="10515600" cy="1325563"/>
          </a:xfrm>
        </p:spPr>
        <p:txBody>
          <a:bodyPr/>
          <a:lstStyle/>
          <a:p>
            <a:r>
              <a:rPr lang="en-US" dirty="0" err="1"/>
              <a:t>Rủi</a:t>
            </a:r>
            <a:r>
              <a:rPr lang="en-US" dirty="0"/>
              <a:t> </a:t>
            </a:r>
            <a:r>
              <a:rPr lang="en-US" dirty="0" err="1"/>
              <a:t>ro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1E0B4F-C6AC-0CDE-7AA7-6BE4A77850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" y="1716657"/>
            <a:ext cx="7573992" cy="4818806"/>
          </a:xfrm>
        </p:spPr>
        <p:txBody>
          <a:bodyPr>
            <a:normAutofit/>
          </a:bodyPr>
          <a:lstStyle/>
          <a:p>
            <a:r>
              <a:rPr lang="en-US" sz="2400" dirty="0" err="1"/>
              <a:t>Nếu</a:t>
            </a:r>
            <a:r>
              <a:rPr lang="en-US" sz="2400" dirty="0"/>
              <a:t> </a:t>
            </a:r>
            <a:r>
              <a:rPr lang="en-US" sz="2400" dirty="0" err="1"/>
              <a:t>có</a:t>
            </a:r>
            <a:r>
              <a:rPr lang="en-US" sz="2400" dirty="0"/>
              <a:t> </a:t>
            </a:r>
            <a:r>
              <a:rPr lang="en-US" sz="2400" dirty="0" err="1"/>
              <a:t>thể</a:t>
            </a:r>
            <a:r>
              <a:rPr lang="en-US" sz="2400" dirty="0"/>
              <a:t> </a:t>
            </a:r>
            <a:r>
              <a:rPr lang="en-US" sz="2400" dirty="0" err="1"/>
              <a:t>phân</a:t>
            </a:r>
            <a:r>
              <a:rPr lang="en-US" sz="2400" dirty="0"/>
              <a:t> </a:t>
            </a:r>
            <a:r>
              <a:rPr lang="en-US" sz="2400" dirty="0" err="1"/>
              <a:t>tích</a:t>
            </a:r>
            <a:r>
              <a:rPr lang="en-US" sz="2400" dirty="0"/>
              <a:t> </a:t>
            </a:r>
            <a:r>
              <a:rPr lang="en-US" sz="2400" dirty="0" err="1"/>
              <a:t>thừa</a:t>
            </a:r>
            <a:r>
              <a:rPr lang="en-US" sz="2400" dirty="0"/>
              <a:t> </a:t>
            </a:r>
            <a:r>
              <a:rPr lang="en-US" sz="2400" dirty="0" err="1"/>
              <a:t>số</a:t>
            </a:r>
            <a:r>
              <a:rPr lang="en-US" sz="2400" dirty="0"/>
              <a:t> N </a:t>
            </a:r>
            <a:r>
              <a:rPr lang="en-US" sz="2400" dirty="0" err="1"/>
              <a:t>và</a:t>
            </a:r>
            <a:r>
              <a:rPr lang="en-US" sz="2400" dirty="0"/>
              <a:t> </a:t>
            </a:r>
            <a:r>
              <a:rPr lang="en-US" sz="2400" dirty="0" err="1"/>
              <a:t>tìm</a:t>
            </a:r>
            <a:r>
              <a:rPr lang="en-US" sz="2400" dirty="0"/>
              <a:t> </a:t>
            </a:r>
            <a:r>
              <a:rPr lang="en-US" sz="2400" dirty="0" err="1"/>
              <a:t>được</a:t>
            </a:r>
            <a:r>
              <a:rPr lang="en-US" sz="2400" dirty="0"/>
              <a:t> </a:t>
            </a:r>
            <a:r>
              <a:rPr lang="en-US" sz="2400" dirty="0" err="1"/>
              <a:t>p,q</a:t>
            </a:r>
            <a:r>
              <a:rPr lang="en-US" sz="2400" dirty="0"/>
              <a:t>, </a:t>
            </a:r>
            <a:r>
              <a:rPr lang="en-US" sz="2400" dirty="0" err="1"/>
              <a:t>hệ</a:t>
            </a:r>
            <a:r>
              <a:rPr lang="en-US" sz="2400" dirty="0"/>
              <a:t> </a:t>
            </a:r>
            <a:r>
              <a:rPr lang="en-US" sz="2400" dirty="0" err="1"/>
              <a:t>thống</a:t>
            </a:r>
            <a:r>
              <a:rPr lang="en-US" sz="2400" dirty="0"/>
              <a:t> </a:t>
            </a:r>
            <a:r>
              <a:rPr lang="en-US" sz="2400" dirty="0" err="1"/>
              <a:t>sẽ</a:t>
            </a:r>
            <a:r>
              <a:rPr lang="en-US" sz="2400" dirty="0"/>
              <a:t> </a:t>
            </a:r>
            <a:r>
              <a:rPr lang="en-US" sz="2400" dirty="0" err="1"/>
              <a:t>gặp</a:t>
            </a:r>
            <a:r>
              <a:rPr lang="en-US" sz="2400" dirty="0"/>
              <a:t> </a:t>
            </a:r>
            <a:r>
              <a:rPr lang="en-US" sz="2400" dirty="0" err="1"/>
              <a:t>những</a:t>
            </a:r>
            <a:r>
              <a:rPr lang="en-US" sz="2400" dirty="0"/>
              <a:t> </a:t>
            </a:r>
            <a:r>
              <a:rPr lang="en-US" sz="2400" dirty="0" err="1"/>
              <a:t>rủi</a:t>
            </a:r>
            <a:r>
              <a:rPr lang="en-US" sz="2400" dirty="0"/>
              <a:t> </a:t>
            </a:r>
            <a:r>
              <a:rPr lang="en-US" sz="2400" dirty="0" err="1"/>
              <a:t>ro</a:t>
            </a:r>
            <a:r>
              <a:rPr lang="en-US" sz="2400" dirty="0"/>
              <a:t> </a:t>
            </a:r>
            <a:r>
              <a:rPr lang="en-US" sz="2400" dirty="0" err="1"/>
              <a:t>sau</a:t>
            </a:r>
            <a:r>
              <a:rPr lang="en-US" sz="2400" dirty="0"/>
              <a:t>:</a:t>
            </a:r>
          </a:p>
          <a:p>
            <a:pPr>
              <a:buFontTx/>
              <a:buChar char="-"/>
            </a:pPr>
            <a:r>
              <a:rPr lang="en-US" sz="2400" dirty="0" err="1"/>
              <a:t>Khôi</a:t>
            </a:r>
            <a:r>
              <a:rPr lang="en-US" sz="2400" dirty="0"/>
              <a:t> </a:t>
            </a:r>
            <a:r>
              <a:rPr lang="en-US" sz="2400" dirty="0" err="1"/>
              <a:t>phục</a:t>
            </a:r>
            <a:r>
              <a:rPr lang="en-US" sz="2400" dirty="0"/>
              <a:t> </a:t>
            </a:r>
            <a:r>
              <a:rPr lang="en-US" sz="2400" dirty="0" err="1"/>
              <a:t>lại</a:t>
            </a:r>
            <a:r>
              <a:rPr lang="en-US" sz="2400" dirty="0"/>
              <a:t> </a:t>
            </a:r>
            <a:r>
              <a:rPr lang="en-US" sz="2400" dirty="0" err="1"/>
              <a:t>được</a:t>
            </a:r>
            <a:r>
              <a:rPr lang="en-US" sz="2400" dirty="0"/>
              <a:t> private key</a:t>
            </a:r>
          </a:p>
          <a:p>
            <a:pPr>
              <a:buFontTx/>
              <a:buChar char="-"/>
            </a:pPr>
            <a:r>
              <a:rPr lang="en-US" sz="2400" dirty="0" err="1"/>
              <a:t>Mất</a:t>
            </a:r>
            <a:r>
              <a:rPr lang="en-US" sz="2400" dirty="0"/>
              <a:t> </a:t>
            </a:r>
            <a:r>
              <a:rPr lang="en-US" sz="2400" dirty="0" err="1"/>
              <a:t>tính</a:t>
            </a:r>
            <a:r>
              <a:rPr lang="en-US" sz="2400" dirty="0"/>
              <a:t> </a:t>
            </a:r>
            <a:r>
              <a:rPr lang="en-US" sz="2400" dirty="0" err="1"/>
              <a:t>bảo</a:t>
            </a:r>
            <a:r>
              <a:rPr lang="en-US" sz="2400" dirty="0"/>
              <a:t> </a:t>
            </a:r>
            <a:r>
              <a:rPr lang="en-US" sz="2400" dirty="0" err="1"/>
              <a:t>mật</a:t>
            </a:r>
            <a:r>
              <a:rPr lang="en-US" sz="2400" dirty="0"/>
              <a:t>: </a:t>
            </a:r>
            <a:r>
              <a:rPr lang="en-US" sz="2400" dirty="0" err="1"/>
              <a:t>dịch</a:t>
            </a:r>
            <a:r>
              <a:rPr lang="en-US" sz="2400" dirty="0"/>
              <a:t> </a:t>
            </a:r>
            <a:r>
              <a:rPr lang="en-US" sz="2400" dirty="0" err="1"/>
              <a:t>lại</a:t>
            </a:r>
            <a:r>
              <a:rPr lang="en-US" sz="2400" dirty="0"/>
              <a:t> </a:t>
            </a:r>
            <a:r>
              <a:rPr lang="en-US" sz="2400" dirty="0" err="1"/>
              <a:t>các</a:t>
            </a:r>
            <a:r>
              <a:rPr lang="en-US" sz="2400" dirty="0"/>
              <a:t> </a:t>
            </a:r>
            <a:r>
              <a:rPr lang="en-US" sz="2400" dirty="0" err="1"/>
              <a:t>dữ</a:t>
            </a:r>
            <a:r>
              <a:rPr lang="en-US" sz="2400" dirty="0"/>
              <a:t> </a:t>
            </a:r>
            <a:r>
              <a:rPr lang="en-US" sz="2400" dirty="0" err="1"/>
              <a:t>liệu</a:t>
            </a:r>
            <a:r>
              <a:rPr lang="en-US" sz="2400" dirty="0"/>
              <a:t> </a:t>
            </a:r>
            <a:r>
              <a:rPr lang="en-US" sz="2400" dirty="0" err="1"/>
              <a:t>như</a:t>
            </a:r>
            <a:r>
              <a:rPr lang="en-US" sz="2400" dirty="0"/>
              <a:t> </a:t>
            </a:r>
            <a:r>
              <a:rPr lang="en-US" sz="2400" dirty="0" err="1"/>
              <a:t>thông</a:t>
            </a:r>
            <a:r>
              <a:rPr lang="en-US" sz="2400" dirty="0"/>
              <a:t> tin </a:t>
            </a:r>
            <a:r>
              <a:rPr lang="en-US" sz="2400" dirty="0" err="1"/>
              <a:t>đăng</a:t>
            </a:r>
            <a:r>
              <a:rPr lang="en-US" sz="2400" dirty="0"/>
              <a:t> </a:t>
            </a:r>
            <a:r>
              <a:rPr lang="en-US" sz="2400" dirty="0" err="1"/>
              <a:t>nhập</a:t>
            </a:r>
            <a:r>
              <a:rPr lang="en-US" sz="2400" dirty="0"/>
              <a:t>, </a:t>
            </a:r>
            <a:r>
              <a:rPr lang="en-US" sz="2400" dirty="0" err="1"/>
              <a:t>các</a:t>
            </a:r>
            <a:r>
              <a:rPr lang="en-US" sz="2400" dirty="0"/>
              <a:t> </a:t>
            </a:r>
            <a:r>
              <a:rPr lang="en-US" sz="2400" dirty="0" err="1"/>
              <a:t>khóa</a:t>
            </a:r>
            <a:r>
              <a:rPr lang="en-US" sz="2400" dirty="0"/>
              <a:t> </a:t>
            </a:r>
            <a:r>
              <a:rPr lang="en-US" sz="2400" dirty="0" err="1"/>
              <a:t>phiên</a:t>
            </a:r>
            <a:r>
              <a:rPr lang="en-US" sz="2400" dirty="0"/>
              <a:t>, …</a:t>
            </a:r>
          </a:p>
          <a:p>
            <a:pPr>
              <a:buFontTx/>
              <a:buChar char="-"/>
            </a:pPr>
            <a:r>
              <a:rPr lang="en-US" sz="2400" dirty="0" err="1"/>
              <a:t>Mất</a:t>
            </a:r>
            <a:r>
              <a:rPr lang="en-US" sz="2400" dirty="0"/>
              <a:t> </a:t>
            </a:r>
            <a:r>
              <a:rPr lang="en-US" sz="2400" dirty="0" err="1"/>
              <a:t>tính</a:t>
            </a:r>
            <a:r>
              <a:rPr lang="en-US" sz="2400" dirty="0"/>
              <a:t> </a:t>
            </a:r>
            <a:r>
              <a:rPr lang="en-US" sz="2400" dirty="0" err="1"/>
              <a:t>tính</a:t>
            </a:r>
            <a:r>
              <a:rPr lang="en-US" sz="2400" dirty="0"/>
              <a:t> </a:t>
            </a:r>
            <a:r>
              <a:rPr lang="en-US" sz="2400" dirty="0" err="1"/>
              <a:t>toàn</a:t>
            </a:r>
            <a:r>
              <a:rPr lang="en-US" sz="2400" dirty="0"/>
              <a:t> </a:t>
            </a:r>
            <a:r>
              <a:rPr lang="en-US" sz="2400" dirty="0" err="1"/>
              <a:t>vẹn</a:t>
            </a:r>
            <a:r>
              <a:rPr lang="en-US" sz="2400" dirty="0"/>
              <a:t>, </a:t>
            </a:r>
            <a:r>
              <a:rPr lang="en-US" sz="2400" dirty="0" err="1"/>
              <a:t>tính</a:t>
            </a:r>
            <a:r>
              <a:rPr lang="en-US" sz="2400" dirty="0"/>
              <a:t> </a:t>
            </a:r>
            <a:r>
              <a:rPr lang="en-US" sz="2400" dirty="0" err="1"/>
              <a:t>xác</a:t>
            </a:r>
            <a:r>
              <a:rPr lang="en-US" sz="2400" dirty="0"/>
              <a:t> </a:t>
            </a:r>
            <a:r>
              <a:rPr lang="en-US" sz="2400" dirty="0" err="1"/>
              <a:t>thực</a:t>
            </a:r>
            <a:r>
              <a:rPr lang="en-US" sz="2400" dirty="0"/>
              <a:t>: </a:t>
            </a:r>
            <a:r>
              <a:rPr lang="en-US" sz="2400" dirty="0" err="1"/>
              <a:t>giả</a:t>
            </a:r>
            <a:r>
              <a:rPr lang="en-US" sz="2400" dirty="0"/>
              <a:t> </a:t>
            </a:r>
            <a:r>
              <a:rPr lang="en-US" sz="2400" dirty="0" err="1"/>
              <a:t>mạo</a:t>
            </a:r>
            <a:r>
              <a:rPr lang="en-US" sz="2400" dirty="0"/>
              <a:t> </a:t>
            </a:r>
            <a:r>
              <a:rPr lang="en-US" sz="2400" dirty="0" err="1"/>
              <a:t>chữ</a:t>
            </a:r>
            <a:r>
              <a:rPr lang="en-US" sz="2400" dirty="0"/>
              <a:t> </a:t>
            </a:r>
            <a:r>
              <a:rPr lang="en-US" sz="2400" dirty="0" err="1"/>
              <a:t>kí</a:t>
            </a:r>
            <a:endParaRPr lang="en-US" sz="2400" dirty="0"/>
          </a:p>
          <a:p>
            <a:pPr>
              <a:buFontTx/>
              <a:buChar char="-"/>
            </a:pPr>
            <a:r>
              <a:rPr lang="en-US" sz="2400" dirty="0" err="1"/>
              <a:t>Nếu</a:t>
            </a:r>
            <a:r>
              <a:rPr lang="en-US" sz="2400" dirty="0"/>
              <a:t> </a:t>
            </a:r>
            <a:r>
              <a:rPr lang="en-US" sz="2400" dirty="0" err="1"/>
              <a:t>các</a:t>
            </a:r>
            <a:r>
              <a:rPr lang="en-US" sz="2400" dirty="0"/>
              <a:t> </a:t>
            </a:r>
            <a:r>
              <a:rPr lang="en-US" sz="2400" dirty="0" err="1"/>
              <a:t>cặp</a:t>
            </a:r>
            <a:r>
              <a:rPr lang="en-US" sz="2400" dirty="0"/>
              <a:t> </a:t>
            </a:r>
            <a:r>
              <a:rPr lang="en-US" sz="2400" dirty="0" err="1"/>
              <a:t>khóa</a:t>
            </a:r>
            <a:r>
              <a:rPr lang="en-US" sz="2400" dirty="0"/>
              <a:t> </a:t>
            </a:r>
            <a:r>
              <a:rPr lang="en-US" sz="2400" dirty="0" err="1"/>
              <a:t>được</a:t>
            </a:r>
            <a:r>
              <a:rPr lang="en-US" sz="2400" dirty="0"/>
              <a:t> </a:t>
            </a:r>
            <a:r>
              <a:rPr lang="en-US" sz="2400" dirty="0" err="1"/>
              <a:t>tái</a:t>
            </a:r>
            <a:r>
              <a:rPr lang="en-US" sz="2400" dirty="0"/>
              <a:t> </a:t>
            </a:r>
            <a:r>
              <a:rPr lang="en-US" sz="2400" dirty="0" err="1"/>
              <a:t>sử</a:t>
            </a:r>
            <a:r>
              <a:rPr lang="en-US" sz="2400" dirty="0"/>
              <a:t> </a:t>
            </a:r>
            <a:r>
              <a:rPr lang="en-US" sz="2400" dirty="0" err="1"/>
              <a:t>dụng</a:t>
            </a:r>
            <a:r>
              <a:rPr lang="en-US" sz="2400" dirty="0"/>
              <a:t> </a:t>
            </a:r>
            <a:r>
              <a:rPr lang="en-US" sz="2400" dirty="0" err="1"/>
              <a:t>trên</a:t>
            </a:r>
            <a:r>
              <a:rPr lang="en-US" sz="2400" dirty="0"/>
              <a:t> </a:t>
            </a:r>
            <a:r>
              <a:rPr lang="en-US" sz="2400" dirty="0" err="1"/>
              <a:t>nhiều</a:t>
            </a:r>
            <a:r>
              <a:rPr lang="en-US" sz="2400" dirty="0"/>
              <a:t> service </a:t>
            </a:r>
            <a:r>
              <a:rPr lang="en-US" sz="2400" dirty="0" err="1"/>
              <a:t>của</a:t>
            </a:r>
            <a:r>
              <a:rPr lang="en-US" sz="2400" dirty="0"/>
              <a:t> </a:t>
            </a:r>
            <a:r>
              <a:rPr lang="en-US" sz="2400" dirty="0" err="1"/>
              <a:t>hệ</a:t>
            </a:r>
            <a:r>
              <a:rPr lang="en-US" sz="2400" dirty="0"/>
              <a:t> </a:t>
            </a:r>
            <a:r>
              <a:rPr lang="en-US" sz="2400" dirty="0" err="1"/>
              <a:t>thống</a:t>
            </a:r>
            <a:r>
              <a:rPr lang="en-US" sz="2400" dirty="0"/>
              <a:t> </a:t>
            </a:r>
            <a:r>
              <a:rPr lang="en-US" sz="2400" dirty="0" err="1"/>
              <a:t>thì</a:t>
            </a:r>
            <a:r>
              <a:rPr lang="en-US" sz="2400" dirty="0"/>
              <a:t> </a:t>
            </a:r>
            <a:r>
              <a:rPr lang="en-US" sz="2400" dirty="0" err="1"/>
              <a:t>có</a:t>
            </a:r>
            <a:r>
              <a:rPr lang="en-US" sz="2400" dirty="0"/>
              <a:t> </a:t>
            </a:r>
            <a:r>
              <a:rPr lang="en-US" sz="2400" dirty="0" err="1"/>
              <a:t>thể</a:t>
            </a:r>
            <a:r>
              <a:rPr lang="en-US" sz="2400" dirty="0"/>
              <a:t> </a:t>
            </a:r>
            <a:r>
              <a:rPr lang="en-US" sz="2400" dirty="0" err="1"/>
              <a:t>bị</a:t>
            </a:r>
            <a:r>
              <a:rPr lang="en-US" sz="2400" dirty="0"/>
              <a:t> </a:t>
            </a:r>
            <a:r>
              <a:rPr lang="en-US" sz="2400" dirty="0" err="1"/>
              <a:t>ảnh</a:t>
            </a:r>
            <a:r>
              <a:rPr lang="en-US" sz="2400" dirty="0"/>
              <a:t> </a:t>
            </a:r>
            <a:r>
              <a:rPr lang="en-US" sz="2400" dirty="0" err="1"/>
              <a:t>hưởng</a:t>
            </a:r>
            <a:endParaRPr lang="en-US" sz="2400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8808D2E8-5AC7-5FD4-BCCF-D415F4A87F5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3" t="1935" r="5582"/>
          <a:stretch/>
        </p:blipFill>
        <p:spPr bwMode="auto">
          <a:xfrm>
            <a:off x="7461850" y="1589447"/>
            <a:ext cx="4730150" cy="36204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71085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10102D-985C-CC9C-EB7E-2C67506C1F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022" y="189512"/>
            <a:ext cx="10515600" cy="1325563"/>
          </a:xfrm>
        </p:spPr>
        <p:txBody>
          <a:bodyPr/>
          <a:lstStyle/>
          <a:p>
            <a:r>
              <a:rPr lang="en-US" dirty="0"/>
              <a:t>Security Goals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F9B7E2-B0E8-A8BE-4A48-445B8F4B9F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998154"/>
            <a:ext cx="10515600" cy="4351338"/>
          </a:xfrm>
        </p:spPr>
        <p:txBody>
          <a:bodyPr/>
          <a:lstStyle/>
          <a:p>
            <a:r>
              <a:rPr lang="en-US" dirty="0" err="1"/>
              <a:t>Bảo</a:t>
            </a:r>
            <a:r>
              <a:rPr lang="en-US" dirty="0"/>
              <a:t> </a:t>
            </a:r>
            <a:r>
              <a:rPr lang="en-US" dirty="0" err="1"/>
              <a:t>vệ</a:t>
            </a:r>
            <a:r>
              <a:rPr lang="en-US" dirty="0"/>
              <a:t>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r>
              <a:rPr lang="en-US" dirty="0"/>
              <a:t>: </a:t>
            </a:r>
            <a:r>
              <a:rPr lang="en-US" dirty="0" err="1"/>
              <a:t>đảm</a:t>
            </a:r>
            <a:r>
              <a:rPr lang="en-US" dirty="0"/>
              <a:t> </a:t>
            </a:r>
            <a:r>
              <a:rPr lang="en-US" dirty="0" err="1"/>
              <a:t>bảo</a:t>
            </a:r>
            <a:r>
              <a:rPr lang="en-US" dirty="0"/>
              <a:t> </a:t>
            </a:r>
            <a:r>
              <a:rPr lang="en-US" dirty="0" err="1"/>
              <a:t>người</a:t>
            </a:r>
            <a:r>
              <a:rPr lang="en-US" dirty="0"/>
              <a:t> </a:t>
            </a:r>
            <a:r>
              <a:rPr lang="en-US" dirty="0" err="1"/>
              <a:t>được</a:t>
            </a:r>
            <a:r>
              <a:rPr lang="en-US" dirty="0"/>
              <a:t> </a:t>
            </a:r>
            <a:r>
              <a:rPr lang="en-US" dirty="0" err="1"/>
              <a:t>phép</a:t>
            </a:r>
            <a:r>
              <a:rPr lang="en-US" dirty="0"/>
              <a:t> </a:t>
            </a:r>
            <a:r>
              <a:rPr lang="en-US" dirty="0" err="1"/>
              <a:t>mới</a:t>
            </a:r>
            <a:r>
              <a:rPr lang="en-US" dirty="0"/>
              <a:t> </a:t>
            </a:r>
            <a:r>
              <a:rPr lang="en-US" dirty="0" err="1"/>
              <a:t>được</a:t>
            </a:r>
            <a:r>
              <a:rPr lang="en-US" dirty="0"/>
              <a:t> </a:t>
            </a:r>
            <a:r>
              <a:rPr lang="en-US" dirty="0" err="1"/>
              <a:t>đọc</a:t>
            </a:r>
            <a:r>
              <a:rPr lang="en-US" dirty="0"/>
              <a:t>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r>
              <a:rPr lang="en-US" dirty="0"/>
              <a:t>.</a:t>
            </a:r>
          </a:p>
          <a:p>
            <a:r>
              <a:rPr lang="en-US" dirty="0" err="1"/>
              <a:t>Tính</a:t>
            </a:r>
            <a:r>
              <a:rPr lang="en-US" dirty="0"/>
              <a:t> </a:t>
            </a:r>
            <a:r>
              <a:rPr lang="en-US" dirty="0" err="1"/>
              <a:t>toàn</a:t>
            </a:r>
            <a:r>
              <a:rPr lang="en-US" dirty="0"/>
              <a:t> </a:t>
            </a:r>
            <a:r>
              <a:rPr lang="en-US" dirty="0" err="1"/>
              <a:t>vẹn</a:t>
            </a:r>
            <a:r>
              <a:rPr lang="en-US" dirty="0"/>
              <a:t>: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r>
              <a:rPr lang="en-US" dirty="0"/>
              <a:t> </a:t>
            </a:r>
            <a:r>
              <a:rPr lang="en-US" dirty="0" err="1"/>
              <a:t>gốc</a:t>
            </a:r>
            <a:r>
              <a:rPr lang="en-US" dirty="0"/>
              <a:t> </a:t>
            </a:r>
            <a:r>
              <a:rPr lang="en-US" dirty="0" err="1"/>
              <a:t>không</a:t>
            </a:r>
            <a:r>
              <a:rPr lang="en-US" dirty="0"/>
              <a:t> </a:t>
            </a:r>
            <a:r>
              <a:rPr lang="en-US" dirty="0" err="1"/>
              <a:t>bị</a:t>
            </a:r>
            <a:r>
              <a:rPr lang="en-US" dirty="0"/>
              <a:t> </a:t>
            </a:r>
            <a:r>
              <a:rPr lang="en-US" dirty="0" err="1"/>
              <a:t>thay</a:t>
            </a:r>
            <a:r>
              <a:rPr lang="en-US" dirty="0"/>
              <a:t> </a:t>
            </a:r>
            <a:r>
              <a:rPr lang="en-US" dirty="0" err="1"/>
              <a:t>đổi</a:t>
            </a:r>
            <a:r>
              <a:rPr lang="en-US" dirty="0"/>
              <a:t> </a:t>
            </a:r>
            <a:r>
              <a:rPr lang="en-US" dirty="0" err="1"/>
              <a:t>khi</a:t>
            </a:r>
            <a:r>
              <a:rPr lang="en-US" dirty="0"/>
              <a:t> </a:t>
            </a:r>
            <a:r>
              <a:rPr lang="en-US" dirty="0" err="1"/>
              <a:t>được</a:t>
            </a:r>
            <a:r>
              <a:rPr lang="en-US" dirty="0"/>
              <a:t> </a:t>
            </a:r>
            <a:r>
              <a:rPr lang="en-US" dirty="0" err="1"/>
              <a:t>mã</a:t>
            </a:r>
            <a:r>
              <a:rPr lang="en-US" dirty="0"/>
              <a:t> </a:t>
            </a:r>
            <a:r>
              <a:rPr lang="en-US" dirty="0" err="1"/>
              <a:t>hóa</a:t>
            </a:r>
            <a:r>
              <a:rPr lang="en-US" dirty="0"/>
              <a:t>.</a:t>
            </a:r>
          </a:p>
          <a:p>
            <a:r>
              <a:rPr lang="en-US" dirty="0" err="1"/>
              <a:t>Tính</a:t>
            </a:r>
            <a:r>
              <a:rPr lang="en-US" dirty="0"/>
              <a:t> </a:t>
            </a:r>
            <a:r>
              <a:rPr lang="en-US" dirty="0" err="1"/>
              <a:t>xác</a:t>
            </a:r>
            <a:r>
              <a:rPr lang="en-US" dirty="0"/>
              <a:t> </a:t>
            </a:r>
            <a:r>
              <a:rPr lang="en-US" dirty="0" err="1"/>
              <a:t>thực</a:t>
            </a:r>
            <a:r>
              <a:rPr lang="en-US" dirty="0"/>
              <a:t>: </a:t>
            </a:r>
            <a:r>
              <a:rPr lang="en-US" dirty="0" err="1"/>
              <a:t>biết</a:t>
            </a:r>
            <a:r>
              <a:rPr lang="en-US" dirty="0"/>
              <a:t> </a:t>
            </a:r>
            <a:r>
              <a:rPr lang="en-US" dirty="0" err="1"/>
              <a:t>chắc</a:t>
            </a:r>
            <a:r>
              <a:rPr lang="en-US" dirty="0"/>
              <a:t> </a:t>
            </a:r>
            <a:r>
              <a:rPr lang="en-US" dirty="0" err="1"/>
              <a:t>chắn</a:t>
            </a:r>
            <a:r>
              <a:rPr lang="en-US" dirty="0"/>
              <a:t>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r>
              <a:rPr lang="en-US" dirty="0"/>
              <a:t> </a:t>
            </a:r>
            <a:r>
              <a:rPr lang="en-US" dirty="0" err="1"/>
              <a:t>đến</a:t>
            </a:r>
            <a:r>
              <a:rPr lang="en-US" dirty="0"/>
              <a:t> </a:t>
            </a:r>
            <a:r>
              <a:rPr lang="en-US" dirty="0" err="1"/>
              <a:t>từ</a:t>
            </a:r>
            <a:r>
              <a:rPr lang="en-US" dirty="0"/>
              <a:t> </a:t>
            </a:r>
            <a:r>
              <a:rPr lang="en-US" dirty="0" err="1"/>
              <a:t>đâu</a:t>
            </a:r>
            <a:r>
              <a:rPr lang="en-US" dirty="0"/>
              <a:t>, </a:t>
            </a:r>
            <a:r>
              <a:rPr lang="en-US" dirty="0" err="1"/>
              <a:t>xác</a:t>
            </a:r>
            <a:r>
              <a:rPr lang="en-US" dirty="0"/>
              <a:t> </a:t>
            </a:r>
            <a:r>
              <a:rPr lang="en-US" dirty="0" err="1"/>
              <a:t>định</a:t>
            </a:r>
            <a:r>
              <a:rPr lang="en-US" dirty="0"/>
              <a:t> </a:t>
            </a:r>
            <a:r>
              <a:rPr lang="en-US" dirty="0" err="1"/>
              <a:t>được</a:t>
            </a:r>
            <a:r>
              <a:rPr lang="en-US" dirty="0"/>
              <a:t> </a:t>
            </a:r>
            <a:r>
              <a:rPr lang="en-US" dirty="0" err="1"/>
              <a:t>người</a:t>
            </a:r>
            <a:r>
              <a:rPr lang="en-US" dirty="0"/>
              <a:t> </a:t>
            </a:r>
            <a:r>
              <a:rPr lang="en-US" dirty="0" err="1"/>
              <a:t>gửi</a:t>
            </a:r>
            <a:r>
              <a:rPr lang="en-US" dirty="0"/>
              <a:t>.</a:t>
            </a:r>
          </a:p>
          <a:p>
            <a:r>
              <a:rPr lang="en-US" dirty="0" err="1"/>
              <a:t>Chống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cuộc</a:t>
            </a:r>
            <a:r>
              <a:rPr lang="en-US" dirty="0"/>
              <a:t> </a:t>
            </a:r>
            <a:r>
              <a:rPr lang="en-US" dirty="0" err="1"/>
              <a:t>tấn</a:t>
            </a:r>
            <a:r>
              <a:rPr lang="en-US" dirty="0"/>
              <a:t> </a:t>
            </a:r>
            <a:r>
              <a:rPr lang="en-US" dirty="0" err="1"/>
              <a:t>công</a:t>
            </a:r>
            <a:r>
              <a:rPr lang="en-US" dirty="0"/>
              <a:t> </a:t>
            </a:r>
            <a:r>
              <a:rPr lang="en-US" dirty="0" err="1"/>
              <a:t>khi</a:t>
            </a:r>
            <a:r>
              <a:rPr lang="en-US" dirty="0"/>
              <a:t> </a:t>
            </a:r>
            <a:r>
              <a:rPr lang="en-US" dirty="0" err="1"/>
              <a:t>triển</a:t>
            </a:r>
            <a:r>
              <a:rPr lang="en-US" dirty="0"/>
              <a:t> </a:t>
            </a:r>
            <a:r>
              <a:rPr lang="en-US" dirty="0" err="1"/>
              <a:t>khai</a:t>
            </a:r>
            <a:r>
              <a:rPr lang="en-US" dirty="0"/>
              <a:t> </a:t>
            </a:r>
            <a:r>
              <a:rPr lang="en-US" dirty="0" err="1"/>
              <a:t>thực</a:t>
            </a:r>
            <a:r>
              <a:rPr lang="en-US" dirty="0"/>
              <a:t> </a:t>
            </a:r>
            <a:r>
              <a:rPr lang="en-US" dirty="0" err="1"/>
              <a:t>tế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95415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10102D-985C-CC9C-EB7E-2C67506C1F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413797"/>
            <a:ext cx="10515600" cy="1325563"/>
          </a:xfrm>
        </p:spPr>
        <p:txBody>
          <a:bodyPr/>
          <a:lstStyle/>
          <a:p>
            <a:r>
              <a:rPr lang="en-US" dirty="0"/>
              <a:t>2. </a:t>
            </a:r>
            <a:r>
              <a:rPr lang="en-US" dirty="0" err="1"/>
              <a:t>Các</a:t>
            </a:r>
            <a:r>
              <a:rPr lang="en-US" dirty="0"/>
              <a:t>  </a:t>
            </a:r>
            <a:r>
              <a:rPr lang="en-US" dirty="0" err="1"/>
              <a:t>câu</a:t>
            </a:r>
            <a:r>
              <a:rPr lang="en-US" dirty="0"/>
              <a:t> </a:t>
            </a:r>
            <a:r>
              <a:rPr lang="en-US" dirty="0" err="1"/>
              <a:t>hỏi</a:t>
            </a:r>
            <a:r>
              <a:rPr lang="en-US" dirty="0"/>
              <a:t> </a:t>
            </a:r>
            <a:r>
              <a:rPr lang="en-US" dirty="0" err="1"/>
              <a:t>nghiên</a:t>
            </a:r>
            <a:r>
              <a:rPr lang="en-US" dirty="0"/>
              <a:t> </a:t>
            </a:r>
            <a:r>
              <a:rPr lang="en-US" dirty="0" err="1"/>
              <a:t>cứu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giả</a:t>
            </a:r>
            <a:r>
              <a:rPr lang="en-US" dirty="0"/>
              <a:t> </a:t>
            </a:r>
            <a:r>
              <a:rPr lang="en-US" dirty="0" err="1"/>
              <a:t>thuyết</a:t>
            </a:r>
            <a:endParaRPr lang="en-US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53F9B7E2-B0E8-A8BE-4A48-445B8F4B9F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3517" y="1739360"/>
            <a:ext cx="10515600" cy="2159779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n-US" sz="2800" dirty="0"/>
              <a:t>RQ1: Trong </a:t>
            </a:r>
            <a:r>
              <a:rPr lang="en-US" sz="2800" dirty="0" err="1"/>
              <a:t>kịch</a:t>
            </a:r>
            <a:r>
              <a:rPr lang="en-US" sz="2800" dirty="0"/>
              <a:t> </a:t>
            </a:r>
            <a:r>
              <a:rPr lang="en-US" sz="2800" dirty="0" err="1"/>
              <a:t>bản</a:t>
            </a:r>
            <a:r>
              <a:rPr lang="en-US" sz="2800" dirty="0"/>
              <a:t> </a:t>
            </a:r>
            <a:r>
              <a:rPr lang="en-US" sz="2800" dirty="0" err="1"/>
              <a:t>triển</a:t>
            </a:r>
            <a:r>
              <a:rPr lang="en-US" sz="2800" dirty="0"/>
              <a:t> </a:t>
            </a:r>
            <a:r>
              <a:rPr lang="en-US" sz="2800" dirty="0" err="1"/>
              <a:t>khai</a:t>
            </a:r>
            <a:r>
              <a:rPr lang="en-US" sz="2800" dirty="0"/>
              <a:t> </a:t>
            </a:r>
            <a:r>
              <a:rPr lang="en-US" sz="2800" dirty="0" err="1"/>
              <a:t>thực</a:t>
            </a:r>
            <a:r>
              <a:rPr lang="en-US" sz="2800" dirty="0"/>
              <a:t> </a:t>
            </a:r>
            <a:r>
              <a:rPr lang="en-US" sz="2800" dirty="0" err="1"/>
              <a:t>tế</a:t>
            </a:r>
            <a:r>
              <a:rPr lang="en-US" sz="2800" dirty="0"/>
              <a:t> (TLS, JWT, code signing), </a:t>
            </a:r>
            <a:r>
              <a:rPr lang="en-US" sz="2800" dirty="0" err="1"/>
              <a:t>đâu</a:t>
            </a:r>
            <a:r>
              <a:rPr lang="en-US" sz="2800" dirty="0"/>
              <a:t> </a:t>
            </a:r>
            <a:r>
              <a:rPr lang="en-US" sz="2800" dirty="0" err="1"/>
              <a:t>là</a:t>
            </a:r>
            <a:r>
              <a:rPr lang="en-US" sz="2800" dirty="0"/>
              <a:t> </a:t>
            </a:r>
            <a:r>
              <a:rPr lang="en-US" sz="2800" dirty="0" err="1"/>
              <a:t>các</a:t>
            </a:r>
            <a:r>
              <a:rPr lang="en-US" sz="2800" dirty="0"/>
              <a:t> </a:t>
            </a:r>
            <a:r>
              <a:rPr lang="en-US" sz="2800" dirty="0" err="1"/>
              <a:t>điểm</a:t>
            </a:r>
            <a:r>
              <a:rPr lang="en-US" sz="2800" dirty="0"/>
              <a:t> </a:t>
            </a:r>
            <a:r>
              <a:rPr lang="en-US" sz="2800" dirty="0" err="1"/>
              <a:t>yếu</a:t>
            </a:r>
            <a:r>
              <a:rPr lang="en-US" sz="2800" dirty="0"/>
              <a:t> </a:t>
            </a:r>
            <a:r>
              <a:rPr lang="en-US" sz="2800" dirty="0" err="1"/>
              <a:t>phổ</a:t>
            </a:r>
            <a:r>
              <a:rPr lang="en-US" sz="2800" dirty="0"/>
              <a:t> </a:t>
            </a:r>
            <a:r>
              <a:rPr lang="en-US" sz="2800" dirty="0" err="1"/>
              <a:t>biến</a:t>
            </a:r>
            <a:r>
              <a:rPr lang="en-US" sz="2800" dirty="0"/>
              <a:t> </a:t>
            </a:r>
            <a:r>
              <a:rPr lang="en-US" sz="2800" dirty="0" err="1"/>
              <a:t>nhất</a:t>
            </a:r>
            <a:r>
              <a:rPr lang="en-US" sz="2800" dirty="0"/>
              <a:t> </a:t>
            </a:r>
            <a:r>
              <a:rPr lang="en-US" sz="2800" dirty="0" err="1"/>
              <a:t>liên</a:t>
            </a:r>
            <a:r>
              <a:rPr lang="en-US" sz="2800" dirty="0"/>
              <a:t> </a:t>
            </a:r>
            <a:r>
              <a:rPr lang="en-US" sz="2800" dirty="0" err="1"/>
              <a:t>quan</a:t>
            </a:r>
            <a:r>
              <a:rPr lang="en-US" sz="2800" dirty="0"/>
              <a:t> </a:t>
            </a:r>
            <a:r>
              <a:rPr lang="en-US" sz="2800" dirty="0" err="1"/>
              <a:t>tới</a:t>
            </a:r>
            <a:r>
              <a:rPr lang="en-US" sz="2800" dirty="0"/>
              <a:t> RSA </a:t>
            </a:r>
            <a:r>
              <a:rPr lang="en-US" sz="2800" dirty="0" err="1"/>
              <a:t>và</a:t>
            </a:r>
            <a:r>
              <a:rPr lang="en-US" sz="2800" dirty="0"/>
              <a:t> </a:t>
            </a:r>
            <a:r>
              <a:rPr lang="en-US" sz="2800" dirty="0" err="1"/>
              <a:t>chúng</a:t>
            </a:r>
            <a:r>
              <a:rPr lang="en-US" sz="2800" dirty="0"/>
              <a:t> </a:t>
            </a:r>
            <a:r>
              <a:rPr lang="en-US" sz="2800" dirty="0" err="1"/>
              <a:t>dẫn</a:t>
            </a:r>
            <a:r>
              <a:rPr lang="en-US" sz="2800" dirty="0"/>
              <a:t> </a:t>
            </a:r>
            <a:r>
              <a:rPr lang="en-US" sz="2800" dirty="0" err="1"/>
              <a:t>tới</a:t>
            </a:r>
            <a:r>
              <a:rPr lang="en-US" sz="2800" dirty="0"/>
              <a:t> </a:t>
            </a:r>
            <a:r>
              <a:rPr lang="en-US" sz="2800" dirty="0" err="1"/>
              <a:t>hậu</a:t>
            </a:r>
            <a:r>
              <a:rPr lang="en-US" sz="2800" dirty="0"/>
              <a:t> </a:t>
            </a:r>
            <a:r>
              <a:rPr lang="en-US" sz="2800" dirty="0" err="1"/>
              <a:t>quả</a:t>
            </a:r>
            <a:r>
              <a:rPr lang="en-US" sz="2800" dirty="0"/>
              <a:t> </a:t>
            </a:r>
            <a:r>
              <a:rPr lang="en-US" sz="2800" dirty="0" err="1"/>
              <a:t>gì</a:t>
            </a:r>
            <a:r>
              <a:rPr lang="en-US" sz="2800" dirty="0"/>
              <a:t> (forgery, key recovery, signature replay)?</a:t>
            </a:r>
          </a:p>
        </p:txBody>
      </p:sp>
    </p:spTree>
    <p:extLst>
      <p:ext uri="{BB962C8B-B14F-4D97-AF65-F5344CB8AC3E}">
        <p14:creationId xmlns:p14="http://schemas.microsoft.com/office/powerpoint/2010/main" val="6195047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10102D-985C-CC9C-EB7E-2C67506C1F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422425"/>
            <a:ext cx="10515600" cy="1325563"/>
          </a:xfrm>
        </p:spPr>
        <p:txBody>
          <a:bodyPr/>
          <a:lstStyle/>
          <a:p>
            <a:r>
              <a:rPr lang="en-US" dirty="0"/>
              <a:t>2. </a:t>
            </a:r>
            <a:r>
              <a:rPr lang="en-US" dirty="0" err="1"/>
              <a:t>Các</a:t>
            </a:r>
            <a:r>
              <a:rPr lang="en-US" dirty="0"/>
              <a:t>  </a:t>
            </a:r>
            <a:r>
              <a:rPr lang="en-US" dirty="0" err="1"/>
              <a:t>câu</a:t>
            </a:r>
            <a:r>
              <a:rPr lang="en-US" dirty="0"/>
              <a:t> </a:t>
            </a:r>
            <a:r>
              <a:rPr lang="en-US" dirty="0" err="1"/>
              <a:t>hỏi</a:t>
            </a:r>
            <a:r>
              <a:rPr lang="en-US" dirty="0"/>
              <a:t> </a:t>
            </a:r>
            <a:r>
              <a:rPr lang="en-US" dirty="0" err="1"/>
              <a:t>nghiên</a:t>
            </a:r>
            <a:r>
              <a:rPr lang="en-US" dirty="0"/>
              <a:t> </a:t>
            </a:r>
            <a:r>
              <a:rPr lang="en-US" dirty="0" err="1"/>
              <a:t>cứu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giả</a:t>
            </a:r>
            <a:r>
              <a:rPr lang="en-US" dirty="0"/>
              <a:t> </a:t>
            </a:r>
            <a:r>
              <a:rPr lang="en-US" dirty="0" err="1"/>
              <a:t>thuyết</a:t>
            </a:r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C4CC90B-89E3-0291-19AD-473828443C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3517" y="1739360"/>
            <a:ext cx="10515600" cy="2159779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n-US" sz="2800" dirty="0"/>
              <a:t>RQ2: </a:t>
            </a:r>
            <a:r>
              <a:rPr lang="en-US" sz="2800" dirty="0" err="1"/>
              <a:t>Các</a:t>
            </a:r>
            <a:r>
              <a:rPr lang="en-US" sz="2800" dirty="0"/>
              <a:t> </a:t>
            </a:r>
            <a:r>
              <a:rPr lang="en-US" sz="2800" dirty="0" err="1"/>
              <a:t>tấn</a:t>
            </a:r>
            <a:r>
              <a:rPr lang="en-US" sz="2800" dirty="0"/>
              <a:t> </a:t>
            </a:r>
            <a:r>
              <a:rPr lang="en-US" sz="2800" dirty="0" err="1"/>
              <a:t>công</a:t>
            </a:r>
            <a:r>
              <a:rPr lang="en-US" sz="2800" dirty="0"/>
              <a:t> </a:t>
            </a:r>
            <a:r>
              <a:rPr lang="en-US" sz="2800" dirty="0" err="1"/>
              <a:t>Bleichenbacher</a:t>
            </a:r>
            <a:r>
              <a:rPr lang="en-US" sz="2800" dirty="0"/>
              <a:t> (padding oracle) </a:t>
            </a:r>
            <a:r>
              <a:rPr lang="en-US" sz="2800" dirty="0" err="1"/>
              <a:t>và</a:t>
            </a:r>
            <a:r>
              <a:rPr lang="en-US" sz="2800" dirty="0"/>
              <a:t> timing attacks </a:t>
            </a:r>
            <a:r>
              <a:rPr lang="en-US" sz="2800" dirty="0" err="1"/>
              <a:t>còn</a:t>
            </a:r>
            <a:r>
              <a:rPr lang="en-US" sz="2800" dirty="0"/>
              <a:t> </a:t>
            </a:r>
            <a:r>
              <a:rPr lang="en-US" sz="2800" dirty="0" err="1"/>
              <a:t>khả</a:t>
            </a:r>
            <a:r>
              <a:rPr lang="en-US" sz="2800" dirty="0"/>
              <a:t> </a:t>
            </a:r>
            <a:r>
              <a:rPr lang="en-US" sz="2800" dirty="0" err="1"/>
              <a:t>thi</a:t>
            </a:r>
            <a:r>
              <a:rPr lang="en-US" sz="2800" dirty="0"/>
              <a:t> </a:t>
            </a:r>
            <a:r>
              <a:rPr lang="en-US" sz="2800" dirty="0" err="1"/>
              <a:t>trên</a:t>
            </a:r>
            <a:r>
              <a:rPr lang="en-US" sz="2800" dirty="0"/>
              <a:t> </a:t>
            </a:r>
            <a:r>
              <a:rPr lang="en-US" sz="2800" dirty="0" err="1"/>
              <a:t>các</a:t>
            </a:r>
            <a:r>
              <a:rPr lang="en-US" sz="2800" dirty="0"/>
              <a:t> stack </a:t>
            </a:r>
            <a:r>
              <a:rPr lang="en-US" sz="2800" dirty="0" err="1"/>
              <a:t>hiện</a:t>
            </a:r>
            <a:r>
              <a:rPr lang="en-US" sz="2800" dirty="0"/>
              <a:t> </a:t>
            </a:r>
            <a:r>
              <a:rPr lang="en-US" sz="2800" dirty="0" err="1"/>
              <a:t>đại</a:t>
            </a:r>
            <a:r>
              <a:rPr lang="en-US" sz="2800" dirty="0"/>
              <a:t> (OpenSSL/LibreSSL/</a:t>
            </a:r>
            <a:r>
              <a:rPr lang="en-US" sz="2800" dirty="0" err="1"/>
              <a:t>BoringSSL</a:t>
            </a:r>
            <a:r>
              <a:rPr lang="en-US" sz="2800" dirty="0"/>
              <a:t>) </a:t>
            </a:r>
            <a:r>
              <a:rPr lang="en-US" sz="2800" dirty="0" err="1"/>
              <a:t>khi</a:t>
            </a:r>
            <a:r>
              <a:rPr lang="en-US" sz="2800" dirty="0"/>
              <a:t> </a:t>
            </a:r>
            <a:r>
              <a:rPr lang="en-US" sz="2800" dirty="0" err="1"/>
              <a:t>gặp</a:t>
            </a:r>
            <a:r>
              <a:rPr lang="en-US" sz="2800" dirty="0"/>
              <a:t> </a:t>
            </a:r>
            <a:r>
              <a:rPr lang="en-US" sz="2800" dirty="0" err="1"/>
              <a:t>cấu</a:t>
            </a:r>
            <a:r>
              <a:rPr lang="en-US" sz="2800" dirty="0"/>
              <a:t> </a:t>
            </a:r>
            <a:r>
              <a:rPr lang="en-US" sz="2800" dirty="0" err="1"/>
              <a:t>hình</a:t>
            </a:r>
            <a:r>
              <a:rPr lang="en-US" sz="2800" dirty="0"/>
              <a:t> </a:t>
            </a:r>
            <a:r>
              <a:rPr lang="en-US" sz="2800" dirty="0" err="1"/>
              <a:t>cũ</a:t>
            </a:r>
            <a:r>
              <a:rPr lang="en-US" sz="2800" dirty="0"/>
              <a:t> </a:t>
            </a:r>
            <a:r>
              <a:rPr lang="en-US" sz="2800" dirty="0" err="1"/>
              <a:t>hoặc</a:t>
            </a:r>
            <a:r>
              <a:rPr lang="en-US" sz="2800" dirty="0"/>
              <a:t> </a:t>
            </a:r>
            <a:r>
              <a:rPr lang="en-US" sz="2800" dirty="0" err="1"/>
              <a:t>lỗi</a:t>
            </a:r>
            <a:r>
              <a:rPr lang="en-US" sz="2800" dirty="0"/>
              <a:t> </a:t>
            </a:r>
            <a:r>
              <a:rPr lang="en-US" sz="2800" dirty="0" err="1"/>
              <a:t>không</a:t>
            </a:r>
            <a:r>
              <a:rPr lang="en-US" sz="280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6283178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10102D-985C-CC9C-EB7E-2C67506C1F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87918"/>
            <a:ext cx="10515600" cy="1325563"/>
          </a:xfrm>
        </p:spPr>
        <p:txBody>
          <a:bodyPr/>
          <a:lstStyle/>
          <a:p>
            <a:r>
              <a:rPr lang="en-US" dirty="0"/>
              <a:t>2. </a:t>
            </a:r>
            <a:r>
              <a:rPr lang="en-US" dirty="0" err="1"/>
              <a:t>Các</a:t>
            </a:r>
            <a:r>
              <a:rPr lang="en-US" dirty="0"/>
              <a:t>  </a:t>
            </a:r>
            <a:r>
              <a:rPr lang="en-US" dirty="0" err="1"/>
              <a:t>câu</a:t>
            </a:r>
            <a:r>
              <a:rPr lang="en-US" dirty="0"/>
              <a:t> </a:t>
            </a:r>
            <a:r>
              <a:rPr lang="en-US" dirty="0" err="1"/>
              <a:t>hỏi</a:t>
            </a:r>
            <a:r>
              <a:rPr lang="en-US" dirty="0"/>
              <a:t> </a:t>
            </a:r>
            <a:r>
              <a:rPr lang="en-US" dirty="0" err="1"/>
              <a:t>nghiên</a:t>
            </a:r>
            <a:r>
              <a:rPr lang="en-US" dirty="0"/>
              <a:t> </a:t>
            </a:r>
            <a:r>
              <a:rPr lang="en-US" dirty="0" err="1"/>
              <a:t>cứu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giả</a:t>
            </a:r>
            <a:r>
              <a:rPr lang="en-US" dirty="0"/>
              <a:t> </a:t>
            </a:r>
            <a:r>
              <a:rPr lang="en-US" dirty="0" err="1"/>
              <a:t>thuyết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F9B7E2-B0E8-A8BE-4A48-445B8F4B9F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713481"/>
            <a:ext cx="10515600" cy="3272586"/>
          </a:xfrm>
        </p:spPr>
        <p:txBody>
          <a:bodyPr>
            <a:normAutofit fontScale="92500"/>
          </a:bodyPr>
          <a:lstStyle/>
          <a:p>
            <a:pPr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vi-VN" sz="2800" dirty="0"/>
              <a:t>Giả thuyết: Các vụ compromise thực tế thường xảy ra do: xử lý padding không an toàn (PKCS#1 v1.5), RNG yếu tạo primes dễ đoán, misuse của small exponent. Việc chuyển sang RSASSA-PSS</a:t>
            </a:r>
            <a:r>
              <a:rPr lang="en-US" sz="2800" dirty="0"/>
              <a:t> </a:t>
            </a:r>
            <a:r>
              <a:rPr lang="en-US" sz="2800" dirty="0" err="1"/>
              <a:t>để</a:t>
            </a:r>
            <a:r>
              <a:rPr lang="en-US" sz="2800" dirty="0"/>
              <a:t> </a:t>
            </a:r>
            <a:r>
              <a:rPr lang="en-US" sz="2800" dirty="0" err="1"/>
              <a:t>kí</a:t>
            </a:r>
            <a:r>
              <a:rPr lang="en-US" sz="2800" dirty="0"/>
              <a:t>, RSA-OAEP </a:t>
            </a:r>
            <a:r>
              <a:rPr lang="en-US" sz="2800" dirty="0" err="1"/>
              <a:t>để</a:t>
            </a:r>
            <a:r>
              <a:rPr lang="en-US" sz="2800" dirty="0"/>
              <a:t> </a:t>
            </a:r>
            <a:r>
              <a:rPr lang="en-US" sz="2800" dirty="0" err="1"/>
              <a:t>mã</a:t>
            </a:r>
            <a:r>
              <a:rPr lang="en-US" sz="2800" dirty="0"/>
              <a:t> </a:t>
            </a:r>
            <a:r>
              <a:rPr lang="en-US" sz="2800" dirty="0" err="1"/>
              <a:t>hóa</a:t>
            </a:r>
            <a:r>
              <a:rPr lang="vi-VN" sz="2800" dirty="0"/>
              <a:t>, áp dụng kích thước khóa lớn (≥ 3072bit), sử dụng HSM và library thực hiện constant-time sẽ giảm đáng kể rủi ro.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0848528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EEFE44-90AD-0224-4AF6-D3150F6674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70667"/>
            <a:ext cx="10515600" cy="1325563"/>
          </a:xfrm>
        </p:spPr>
        <p:txBody>
          <a:bodyPr/>
          <a:lstStyle/>
          <a:p>
            <a:r>
              <a:rPr lang="en-US" dirty="0"/>
              <a:t>3. </a:t>
            </a:r>
            <a:r>
              <a:rPr lang="en-US" dirty="0" err="1"/>
              <a:t>Kịch</a:t>
            </a:r>
            <a:r>
              <a:rPr lang="en-US" dirty="0"/>
              <a:t> </a:t>
            </a:r>
            <a:r>
              <a:rPr lang="en-US" dirty="0" err="1"/>
              <a:t>bản</a:t>
            </a:r>
            <a:r>
              <a:rPr lang="en-US" dirty="0"/>
              <a:t> </a:t>
            </a:r>
            <a:r>
              <a:rPr lang="en-US" dirty="0" err="1"/>
              <a:t>triển</a:t>
            </a:r>
            <a:r>
              <a:rPr lang="en-US" dirty="0"/>
              <a:t> </a:t>
            </a:r>
            <a:r>
              <a:rPr lang="en-US" dirty="0" err="1"/>
              <a:t>khai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C512C3-7096-8396-BC31-D67D41C6CF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51505"/>
            <a:ext cx="10515600" cy="2461703"/>
          </a:xfrm>
        </p:spPr>
        <p:txBody>
          <a:bodyPr>
            <a:normAutofit/>
          </a:bodyPr>
          <a:lstStyle/>
          <a:p>
            <a:pPr>
              <a:spcBef>
                <a:spcPts val="2500"/>
              </a:spcBef>
            </a:pPr>
            <a:r>
              <a:rPr lang="en-US" sz="2800" dirty="0"/>
              <a:t>1) </a:t>
            </a:r>
            <a:r>
              <a:rPr lang="en-US" sz="2800" dirty="0" err="1"/>
              <a:t>Công</a:t>
            </a:r>
            <a:r>
              <a:rPr lang="en-US" sz="2800" dirty="0"/>
              <a:t> </a:t>
            </a:r>
            <a:r>
              <a:rPr lang="en-US" sz="2800" dirty="0" err="1"/>
              <a:t>cụ</a:t>
            </a:r>
            <a:r>
              <a:rPr lang="en-US" sz="2800" dirty="0"/>
              <a:t>/</a:t>
            </a:r>
            <a:r>
              <a:rPr lang="en-US" sz="2800" dirty="0" err="1"/>
              <a:t>Thư</a:t>
            </a:r>
            <a:r>
              <a:rPr lang="en-US" sz="2800" dirty="0"/>
              <a:t> </a:t>
            </a:r>
            <a:r>
              <a:rPr lang="en-US" sz="2800" dirty="0" err="1"/>
              <a:t>viện</a:t>
            </a:r>
            <a:r>
              <a:rPr lang="en-US" sz="2800" dirty="0"/>
              <a:t>: OpenSSL, GMP, Docker, Python (</a:t>
            </a:r>
            <a:r>
              <a:rPr lang="en-US" sz="2800" dirty="0" err="1"/>
              <a:t>pycryptodome</a:t>
            </a:r>
            <a:r>
              <a:rPr lang="en-US" sz="2800" dirty="0"/>
              <a:t>)</a:t>
            </a:r>
          </a:p>
          <a:p>
            <a:pPr>
              <a:spcBef>
                <a:spcPts val="2500"/>
              </a:spcBef>
            </a:pPr>
            <a:r>
              <a:rPr lang="en-US" sz="2800" dirty="0"/>
              <a:t>2) </a:t>
            </a:r>
            <a:r>
              <a:rPr lang="en-US" sz="2800" dirty="0" err="1"/>
              <a:t>Môi</a:t>
            </a:r>
            <a:r>
              <a:rPr lang="en-US" sz="2800" dirty="0"/>
              <a:t> </a:t>
            </a:r>
            <a:r>
              <a:rPr lang="en-US" sz="2800" dirty="0" err="1"/>
              <a:t>trường</a:t>
            </a:r>
            <a:r>
              <a:rPr lang="en-US" sz="2800" dirty="0"/>
              <a:t> </a:t>
            </a:r>
            <a:r>
              <a:rPr lang="en-US" sz="2800" dirty="0" err="1"/>
              <a:t>cô</a:t>
            </a:r>
            <a:r>
              <a:rPr lang="en-US" sz="2800" dirty="0"/>
              <a:t> </a:t>
            </a:r>
            <a:r>
              <a:rPr lang="en-US" sz="2800" dirty="0" err="1"/>
              <a:t>lập</a:t>
            </a:r>
            <a:r>
              <a:rPr lang="en-US" sz="2800" dirty="0"/>
              <a:t>, </a:t>
            </a:r>
            <a:r>
              <a:rPr lang="en-US" sz="2800" dirty="0" err="1"/>
              <a:t>chỉ</a:t>
            </a:r>
            <a:r>
              <a:rPr lang="en-US" sz="2800" dirty="0"/>
              <a:t> </a:t>
            </a:r>
            <a:r>
              <a:rPr lang="en-US" sz="2800" dirty="0" err="1"/>
              <a:t>chạy</a:t>
            </a:r>
            <a:r>
              <a:rPr lang="en-US" sz="2800" dirty="0"/>
              <a:t> PoC </a:t>
            </a:r>
            <a:r>
              <a:rPr lang="en-US" sz="2800" dirty="0" err="1"/>
              <a:t>trên</a:t>
            </a:r>
            <a:r>
              <a:rPr lang="en-US" sz="2800" dirty="0"/>
              <a:t> </a:t>
            </a:r>
            <a:r>
              <a:rPr lang="en-US" sz="2800" dirty="0" err="1"/>
              <a:t>hệ</a:t>
            </a:r>
            <a:r>
              <a:rPr lang="en-US" sz="2800" dirty="0"/>
              <a:t> </a:t>
            </a:r>
            <a:r>
              <a:rPr lang="en-US" sz="2800" dirty="0" err="1"/>
              <a:t>thống</a:t>
            </a:r>
            <a:r>
              <a:rPr lang="en-US" sz="2800" dirty="0"/>
              <a:t> lab</a:t>
            </a:r>
          </a:p>
          <a:p>
            <a:pPr>
              <a:spcBef>
                <a:spcPts val="2500"/>
              </a:spcBef>
            </a:pPr>
            <a:r>
              <a:rPr lang="en-US" sz="2800" dirty="0"/>
              <a:t>3) Data collection &amp; metrics</a:t>
            </a:r>
          </a:p>
        </p:txBody>
      </p:sp>
    </p:spTree>
    <p:extLst>
      <p:ext uri="{BB962C8B-B14F-4D97-AF65-F5344CB8AC3E}">
        <p14:creationId xmlns:p14="http://schemas.microsoft.com/office/powerpoint/2010/main" val="41298971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6A99C9-7567-BF54-35C3-0C524C7A86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79292"/>
            <a:ext cx="10515600" cy="1325563"/>
          </a:xfrm>
        </p:spPr>
        <p:txBody>
          <a:bodyPr/>
          <a:lstStyle/>
          <a:p>
            <a:r>
              <a:rPr lang="en-US" dirty="0" err="1"/>
              <a:t>Các</a:t>
            </a:r>
            <a:r>
              <a:rPr lang="en-US" dirty="0"/>
              <a:t> attack </a:t>
            </a:r>
            <a:r>
              <a:rPr lang="en-US" dirty="0" err="1"/>
              <a:t>triển</a:t>
            </a:r>
            <a:r>
              <a:rPr lang="en-US" dirty="0"/>
              <a:t> </a:t>
            </a:r>
            <a:r>
              <a:rPr lang="en-US" dirty="0" err="1"/>
              <a:t>khai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775CC2-726C-1FD5-6F94-6FBD9821B3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264" y="1894636"/>
            <a:ext cx="10515600" cy="4351338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en-US" sz="2800" dirty="0"/>
              <a:t> Attack A — </a:t>
            </a:r>
            <a:r>
              <a:rPr lang="en-US" sz="2800" dirty="0" err="1"/>
              <a:t>Bleichenbacher</a:t>
            </a:r>
            <a:r>
              <a:rPr lang="en-US" sz="2800" dirty="0"/>
              <a:t> padding oracle PoC: </a:t>
            </a:r>
            <a:r>
              <a:rPr lang="en-US" sz="2800" dirty="0" err="1"/>
              <a:t>dựng</a:t>
            </a:r>
            <a:r>
              <a:rPr lang="en-US" sz="2800" dirty="0"/>
              <a:t> server TLS-like </a:t>
            </a:r>
            <a:r>
              <a:rPr lang="en-US" sz="2800" dirty="0" err="1"/>
              <a:t>dùng</a:t>
            </a:r>
            <a:r>
              <a:rPr lang="en-US" sz="2800" dirty="0"/>
              <a:t> PKCS#1 v1.5 decryption </a:t>
            </a:r>
            <a:r>
              <a:rPr lang="en-US" sz="2800" dirty="0" err="1"/>
              <a:t>cho</a:t>
            </a:r>
            <a:r>
              <a:rPr lang="en-US" sz="2800" dirty="0"/>
              <a:t> </a:t>
            </a:r>
            <a:r>
              <a:rPr lang="en-US" sz="2800" dirty="0" err="1"/>
              <a:t>PreMasterSecret</a:t>
            </a:r>
            <a:r>
              <a:rPr lang="en-US" sz="2800" dirty="0"/>
              <a:t>, </a:t>
            </a:r>
            <a:r>
              <a:rPr lang="en-US" sz="2800" dirty="0" err="1"/>
              <a:t>tạo</a:t>
            </a:r>
            <a:r>
              <a:rPr lang="en-US" sz="2800" dirty="0"/>
              <a:t> oracle, </a:t>
            </a:r>
            <a:r>
              <a:rPr lang="en-US" sz="2800" dirty="0" err="1"/>
              <a:t>phục</a:t>
            </a:r>
            <a:r>
              <a:rPr lang="en-US" sz="2800" dirty="0"/>
              <a:t> </a:t>
            </a:r>
            <a:r>
              <a:rPr lang="en-US" sz="2800" dirty="0" err="1"/>
              <a:t>hồi</a:t>
            </a:r>
            <a:r>
              <a:rPr lang="en-US" sz="2800" dirty="0"/>
              <a:t> session secret; </a:t>
            </a:r>
            <a:r>
              <a:rPr lang="en-US" sz="2800" dirty="0" err="1"/>
              <a:t>sau</a:t>
            </a:r>
            <a:r>
              <a:rPr lang="en-US" sz="2800" dirty="0"/>
              <a:t> </a:t>
            </a:r>
            <a:r>
              <a:rPr lang="en-US" sz="2800" dirty="0" err="1"/>
              <a:t>đó</a:t>
            </a:r>
            <a:r>
              <a:rPr lang="en-US" sz="2800" dirty="0"/>
              <a:t> </a:t>
            </a:r>
            <a:r>
              <a:rPr lang="en-US" sz="2800" dirty="0" err="1"/>
              <a:t>vá</a:t>
            </a:r>
            <a:r>
              <a:rPr lang="en-US" sz="2800" dirty="0"/>
              <a:t> (uniform error, PSS) </a:t>
            </a:r>
            <a:r>
              <a:rPr lang="en-US" sz="2800" dirty="0" err="1"/>
              <a:t>và</a:t>
            </a:r>
            <a:r>
              <a:rPr lang="en-US" sz="2800" dirty="0"/>
              <a:t> </a:t>
            </a:r>
            <a:r>
              <a:rPr lang="en-US" sz="2800" dirty="0" err="1"/>
              <a:t>kiểm</a:t>
            </a:r>
            <a:r>
              <a:rPr lang="en-US" sz="2800" dirty="0"/>
              <a:t> </a:t>
            </a:r>
            <a:r>
              <a:rPr lang="en-US" sz="2800" dirty="0" err="1"/>
              <a:t>chứng</a:t>
            </a:r>
            <a:r>
              <a:rPr lang="en-US" sz="2800" dirty="0"/>
              <a:t>.</a:t>
            </a:r>
          </a:p>
          <a:p>
            <a:pPr>
              <a:buFontTx/>
              <a:buChar char="-"/>
            </a:pPr>
            <a:r>
              <a:rPr lang="en-US" sz="2800" dirty="0"/>
              <a:t> Attack B — Timing attack: </a:t>
            </a:r>
            <a:r>
              <a:rPr lang="en-US" sz="2800" dirty="0" err="1"/>
              <a:t>đo</a:t>
            </a:r>
            <a:r>
              <a:rPr lang="en-US" sz="2800" dirty="0"/>
              <a:t> local </a:t>
            </a:r>
            <a:r>
              <a:rPr lang="en-US" sz="2800" dirty="0" err="1"/>
              <a:t>và</a:t>
            </a:r>
            <a:r>
              <a:rPr lang="en-US" sz="2800" dirty="0"/>
              <a:t> remote timing </a:t>
            </a:r>
            <a:r>
              <a:rPr lang="en-US" sz="2800" dirty="0" err="1"/>
              <a:t>để</a:t>
            </a:r>
            <a:r>
              <a:rPr lang="en-US" sz="2800" dirty="0"/>
              <a:t> </a:t>
            </a:r>
            <a:r>
              <a:rPr lang="en-US" sz="2800" dirty="0" err="1"/>
              <a:t>dò</a:t>
            </a:r>
            <a:r>
              <a:rPr lang="en-US" sz="2800" dirty="0"/>
              <a:t> </a:t>
            </a:r>
            <a:r>
              <a:rPr lang="en-US" sz="2800" dirty="0" err="1"/>
              <a:t>rò</a:t>
            </a:r>
            <a:r>
              <a:rPr lang="en-US" sz="2800" dirty="0"/>
              <a:t> </a:t>
            </a:r>
            <a:r>
              <a:rPr lang="en-US" sz="2800" dirty="0" err="1"/>
              <a:t>rỉ</a:t>
            </a:r>
            <a:r>
              <a:rPr lang="en-US" sz="2800" dirty="0"/>
              <a:t> </a:t>
            </a:r>
            <a:r>
              <a:rPr lang="en-US" sz="2800" dirty="0" err="1"/>
              <a:t>thông</a:t>
            </a:r>
            <a:r>
              <a:rPr lang="en-US" sz="2800" dirty="0"/>
              <a:t> tin </a:t>
            </a:r>
            <a:r>
              <a:rPr lang="en-US" sz="2800" dirty="0" err="1"/>
              <a:t>về</a:t>
            </a:r>
            <a:r>
              <a:rPr lang="en-US" sz="2800" dirty="0"/>
              <a:t> d; </a:t>
            </a:r>
            <a:r>
              <a:rPr lang="en-US" sz="2800" dirty="0" err="1"/>
              <a:t>đánh</a:t>
            </a:r>
            <a:r>
              <a:rPr lang="en-US" sz="2800" dirty="0"/>
              <a:t> </a:t>
            </a:r>
            <a:r>
              <a:rPr lang="en-US" sz="2800" dirty="0" err="1"/>
              <a:t>giá</a:t>
            </a:r>
            <a:r>
              <a:rPr lang="en-US" sz="2800" dirty="0"/>
              <a:t> countermeasures (exponent blinding, constant-time lib).</a:t>
            </a:r>
          </a:p>
          <a:p>
            <a:pPr>
              <a:buFontTx/>
              <a:buChar char="-"/>
            </a:pPr>
            <a:r>
              <a:rPr lang="en-US" sz="2800" dirty="0"/>
              <a:t> Attack C — Wiener / low-d: </a:t>
            </a:r>
            <a:r>
              <a:rPr lang="en-US" sz="2800" dirty="0" err="1"/>
              <a:t>sinh</a:t>
            </a:r>
            <a:r>
              <a:rPr lang="en-US" sz="2800" dirty="0"/>
              <a:t> </a:t>
            </a:r>
            <a:r>
              <a:rPr lang="en-US" sz="2800" dirty="0" err="1"/>
              <a:t>khóa</a:t>
            </a:r>
            <a:r>
              <a:rPr lang="en-US" sz="2800" dirty="0"/>
              <a:t> vulnerable (small d) </a:t>
            </a:r>
            <a:r>
              <a:rPr lang="en-US" sz="2800" dirty="0" err="1"/>
              <a:t>và</a:t>
            </a:r>
            <a:r>
              <a:rPr lang="en-US" sz="2800" dirty="0"/>
              <a:t> </a:t>
            </a:r>
            <a:r>
              <a:rPr lang="en-US" sz="2800" dirty="0" err="1"/>
              <a:t>dùng</a:t>
            </a:r>
            <a:r>
              <a:rPr lang="en-US" sz="2800" dirty="0"/>
              <a:t> </a:t>
            </a:r>
            <a:r>
              <a:rPr lang="en-US" sz="2800" dirty="0" err="1"/>
              <a:t>thuật</a:t>
            </a:r>
            <a:r>
              <a:rPr lang="en-US" sz="2800" dirty="0"/>
              <a:t> </a:t>
            </a:r>
            <a:r>
              <a:rPr lang="en-US" sz="2800" dirty="0" err="1"/>
              <a:t>toán</a:t>
            </a:r>
            <a:r>
              <a:rPr lang="en-US" sz="2800" dirty="0"/>
              <a:t> Wiener </a:t>
            </a:r>
            <a:r>
              <a:rPr lang="en-US" sz="2800" dirty="0" err="1"/>
              <a:t>để</a:t>
            </a:r>
            <a:r>
              <a:rPr lang="en-US" sz="2800" dirty="0"/>
              <a:t> </a:t>
            </a:r>
            <a:r>
              <a:rPr lang="en-US" sz="2800" dirty="0" err="1"/>
              <a:t>phục</a:t>
            </a:r>
            <a:r>
              <a:rPr lang="en-US" sz="2800" dirty="0"/>
              <a:t> </a:t>
            </a:r>
            <a:r>
              <a:rPr lang="en-US" sz="2800" dirty="0" err="1"/>
              <a:t>hồi</a:t>
            </a:r>
            <a:r>
              <a:rPr lang="en-US" sz="2800" dirty="0"/>
              <a:t> private key</a:t>
            </a:r>
          </a:p>
        </p:txBody>
      </p:sp>
    </p:spTree>
    <p:extLst>
      <p:ext uri="{BB962C8B-B14F-4D97-AF65-F5344CB8AC3E}">
        <p14:creationId xmlns:p14="http://schemas.microsoft.com/office/powerpoint/2010/main" val="28920763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B0150-081F-3211-A95E-E15A98B8D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63527"/>
            <a:ext cx="10058400" cy="1450757"/>
          </a:xfrm>
        </p:spPr>
        <p:txBody>
          <a:bodyPr/>
          <a:lstStyle/>
          <a:p>
            <a:r>
              <a:rPr lang="en-US" dirty="0"/>
              <a:t>Attack A - </a:t>
            </a:r>
            <a:r>
              <a:rPr lang="en-US" sz="4800" dirty="0" err="1"/>
              <a:t>Bleichenbacher</a:t>
            </a:r>
            <a:r>
              <a:rPr lang="en-US" sz="4800" dirty="0"/>
              <a:t> padding oracle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C92A57-AE48-CD21-6442-DDCBC7625A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77384"/>
            <a:ext cx="10515600" cy="4351338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en-US" sz="2800" dirty="0"/>
              <a:t> </a:t>
            </a:r>
            <a:r>
              <a:rPr lang="en-US" sz="2800" dirty="0" err="1"/>
              <a:t>Mục</a:t>
            </a:r>
            <a:r>
              <a:rPr lang="en-US" sz="2800" dirty="0"/>
              <a:t> </a:t>
            </a:r>
            <a:r>
              <a:rPr lang="en-US" sz="2800" dirty="0" err="1"/>
              <a:t>tiêu</a:t>
            </a:r>
            <a:endParaRPr lang="en-US" sz="2800" dirty="0"/>
          </a:p>
          <a:p>
            <a:pPr lvl="1">
              <a:buFontTx/>
              <a:buChar char="-"/>
            </a:pPr>
            <a:r>
              <a:rPr lang="en-US" sz="2600" dirty="0"/>
              <a:t> </a:t>
            </a:r>
            <a:r>
              <a:rPr lang="en-US" sz="2600" dirty="0" err="1"/>
              <a:t>Đánh</a:t>
            </a:r>
            <a:r>
              <a:rPr lang="en-US" sz="2600" dirty="0"/>
              <a:t> </a:t>
            </a:r>
            <a:r>
              <a:rPr lang="en-US" sz="2600" dirty="0" err="1"/>
              <a:t>vào</a:t>
            </a:r>
            <a:r>
              <a:rPr lang="en-US" sz="2600" dirty="0"/>
              <a:t> </a:t>
            </a:r>
            <a:r>
              <a:rPr lang="en-US" sz="2600" dirty="0" err="1"/>
              <a:t>điểm</a:t>
            </a:r>
            <a:r>
              <a:rPr lang="en-US" sz="2600" dirty="0"/>
              <a:t> </a:t>
            </a:r>
            <a:r>
              <a:rPr lang="en-US" sz="2600" dirty="0" err="1"/>
              <a:t>yếu</a:t>
            </a:r>
            <a:r>
              <a:rPr lang="en-US" sz="2600" dirty="0"/>
              <a:t> padding </a:t>
            </a:r>
            <a:r>
              <a:rPr lang="en-US" sz="2600" dirty="0" err="1"/>
              <a:t>của</a:t>
            </a:r>
            <a:r>
              <a:rPr lang="en-US" sz="2600" dirty="0"/>
              <a:t> </a:t>
            </a:r>
            <a:r>
              <a:rPr lang="en-US" sz="2600" dirty="0" err="1"/>
              <a:t>hệ</a:t>
            </a:r>
            <a:r>
              <a:rPr lang="en-US" sz="2600" dirty="0"/>
              <a:t> </a:t>
            </a:r>
            <a:r>
              <a:rPr lang="en-US" sz="2600" dirty="0" err="1"/>
              <a:t>thống</a:t>
            </a:r>
            <a:endParaRPr lang="en-US" sz="2600" dirty="0"/>
          </a:p>
          <a:p>
            <a:pPr lvl="1">
              <a:buFontTx/>
              <a:buChar char="-"/>
            </a:pPr>
            <a:r>
              <a:rPr lang="en-US" sz="2600" dirty="0"/>
              <a:t> </a:t>
            </a:r>
            <a:r>
              <a:rPr lang="en-US" sz="2600" dirty="0" err="1"/>
              <a:t>Không</a:t>
            </a:r>
            <a:r>
              <a:rPr lang="en-US" sz="2600" dirty="0"/>
              <a:t> </a:t>
            </a:r>
            <a:r>
              <a:rPr lang="en-US" sz="2600" dirty="0" err="1"/>
              <a:t>cần</a:t>
            </a:r>
            <a:r>
              <a:rPr lang="en-US" sz="2600" dirty="0"/>
              <a:t> private key, </a:t>
            </a:r>
            <a:r>
              <a:rPr lang="en-US" sz="2600" dirty="0" err="1"/>
              <a:t>chỉ</a:t>
            </a:r>
            <a:r>
              <a:rPr lang="en-US" sz="2600" dirty="0"/>
              <a:t> </a:t>
            </a:r>
            <a:r>
              <a:rPr lang="en-US" sz="2600" dirty="0" err="1"/>
              <a:t>cần</a:t>
            </a:r>
            <a:r>
              <a:rPr lang="en-US" sz="2600" dirty="0"/>
              <a:t> </a:t>
            </a:r>
            <a:r>
              <a:rPr lang="en-US" sz="2600" dirty="0" err="1"/>
              <a:t>tồn</a:t>
            </a:r>
            <a:r>
              <a:rPr lang="en-US" sz="2600" dirty="0"/>
              <a:t> </a:t>
            </a:r>
            <a:r>
              <a:rPr lang="en-US" sz="2600" dirty="0" err="1"/>
              <a:t>tại</a:t>
            </a:r>
            <a:r>
              <a:rPr lang="en-US" sz="2600" dirty="0"/>
              <a:t> oracle </a:t>
            </a:r>
          </a:p>
          <a:p>
            <a:pPr>
              <a:buFontTx/>
              <a:buChar char="-"/>
            </a:pPr>
            <a:r>
              <a:rPr lang="en-US" sz="2800" dirty="0"/>
              <a:t> </a:t>
            </a:r>
            <a:r>
              <a:rPr lang="en-US" sz="2800" dirty="0" err="1"/>
              <a:t>Điều</a:t>
            </a:r>
            <a:r>
              <a:rPr lang="en-US" sz="2800" dirty="0"/>
              <a:t> </a:t>
            </a:r>
            <a:r>
              <a:rPr lang="en-US" sz="2800" dirty="0" err="1"/>
              <a:t>kiện</a:t>
            </a:r>
            <a:r>
              <a:rPr lang="en-US" sz="2800" dirty="0"/>
              <a:t> </a:t>
            </a:r>
          </a:p>
          <a:p>
            <a:pPr lvl="1">
              <a:buFontTx/>
              <a:buChar char="-"/>
            </a:pPr>
            <a:r>
              <a:rPr lang="en-US" sz="2600" dirty="0"/>
              <a:t> Server </a:t>
            </a:r>
            <a:r>
              <a:rPr lang="en-US" sz="2600" dirty="0" err="1"/>
              <a:t>sử</a:t>
            </a:r>
            <a:r>
              <a:rPr lang="en-US" sz="2600" dirty="0"/>
              <a:t> </a:t>
            </a:r>
            <a:r>
              <a:rPr lang="en-US" sz="2600" dirty="0" err="1"/>
              <a:t>dụng</a:t>
            </a:r>
            <a:r>
              <a:rPr lang="en-US" sz="2600" dirty="0"/>
              <a:t> RSA key exchange + PKCS#1 v1.5</a:t>
            </a:r>
          </a:p>
          <a:p>
            <a:pPr lvl="1">
              <a:buFontTx/>
              <a:buChar char="-"/>
            </a:pPr>
            <a:r>
              <a:rPr lang="en-US" sz="2600" dirty="0"/>
              <a:t> Server </a:t>
            </a:r>
            <a:r>
              <a:rPr lang="en-US" sz="2600" dirty="0" err="1"/>
              <a:t>phản</a:t>
            </a:r>
            <a:r>
              <a:rPr lang="en-US" sz="2600" dirty="0"/>
              <a:t> </a:t>
            </a:r>
            <a:r>
              <a:rPr lang="en-US" sz="2600" dirty="0" err="1"/>
              <a:t>hồi</a:t>
            </a:r>
            <a:r>
              <a:rPr lang="en-US" sz="2600" dirty="0"/>
              <a:t> </a:t>
            </a:r>
            <a:r>
              <a:rPr lang="en-US" sz="2600" dirty="0" err="1"/>
              <a:t>khác</a:t>
            </a:r>
            <a:r>
              <a:rPr lang="en-US" sz="2600" dirty="0"/>
              <a:t> </a:t>
            </a:r>
            <a:r>
              <a:rPr lang="en-US" sz="2600" dirty="0" err="1"/>
              <a:t>nhau</a:t>
            </a:r>
            <a:r>
              <a:rPr lang="en-US" sz="2600" dirty="0"/>
              <a:t> </a:t>
            </a:r>
            <a:r>
              <a:rPr lang="en-US" sz="2600" dirty="0" err="1"/>
              <a:t>khi</a:t>
            </a:r>
            <a:r>
              <a:rPr lang="en-US" sz="2600" dirty="0"/>
              <a:t> padding </a:t>
            </a:r>
            <a:r>
              <a:rPr lang="en-US" sz="2600" dirty="0" err="1"/>
              <a:t>hợp</a:t>
            </a:r>
            <a:r>
              <a:rPr lang="en-US" sz="2600" dirty="0"/>
              <a:t> </a:t>
            </a:r>
            <a:r>
              <a:rPr lang="en-US" sz="2600" dirty="0" err="1"/>
              <a:t>và</a:t>
            </a:r>
            <a:r>
              <a:rPr lang="en-US" sz="2600" dirty="0"/>
              <a:t> </a:t>
            </a:r>
            <a:r>
              <a:rPr lang="en-US" sz="2600" dirty="0" err="1"/>
              <a:t>không</a:t>
            </a:r>
            <a:r>
              <a:rPr lang="en-US" sz="2600" dirty="0"/>
              <a:t> </a:t>
            </a:r>
            <a:r>
              <a:rPr lang="en-US" sz="2600" dirty="0" err="1"/>
              <a:t>hợp</a:t>
            </a:r>
            <a:r>
              <a:rPr lang="en-US" sz="2600" dirty="0"/>
              <a:t> </a:t>
            </a:r>
            <a:r>
              <a:rPr lang="en-US" sz="2600" dirty="0" err="1"/>
              <a:t>lệ</a:t>
            </a:r>
            <a:endParaRPr lang="en-US" sz="2600" dirty="0"/>
          </a:p>
          <a:p>
            <a:pPr>
              <a:buFontTx/>
              <a:buChar char="-"/>
            </a:pPr>
            <a:r>
              <a:rPr lang="en-US" sz="2800" dirty="0"/>
              <a:t> Attacker </a:t>
            </a:r>
            <a:r>
              <a:rPr lang="en-US" sz="2800" dirty="0" err="1"/>
              <a:t>được</a:t>
            </a:r>
            <a:r>
              <a:rPr lang="en-US" sz="2800" dirty="0"/>
              <a:t> </a:t>
            </a:r>
            <a:r>
              <a:rPr lang="en-US" sz="2800" dirty="0" err="1"/>
              <a:t>gửi</a:t>
            </a:r>
            <a:r>
              <a:rPr lang="en-US" sz="2800" dirty="0"/>
              <a:t> ciphertext </a:t>
            </a:r>
            <a:r>
              <a:rPr lang="en-US" sz="2800" dirty="0" err="1"/>
              <a:t>tùy</a:t>
            </a:r>
            <a:r>
              <a:rPr lang="en-US" sz="2800" dirty="0"/>
              <a:t> ý </a:t>
            </a:r>
            <a:r>
              <a:rPr lang="en-US" sz="2800" dirty="0" err="1"/>
              <a:t>liên</a:t>
            </a:r>
            <a:r>
              <a:rPr lang="en-US" sz="2800" dirty="0"/>
              <a:t> </a:t>
            </a:r>
            <a:r>
              <a:rPr lang="en-US" sz="2800" dirty="0" err="1"/>
              <a:t>tục</a:t>
            </a:r>
            <a:r>
              <a:rPr lang="en-US" sz="2800" dirty="0"/>
              <a:t> </a:t>
            </a:r>
            <a:r>
              <a:rPr lang="en-US" sz="2800" dirty="0" err="1"/>
              <a:t>và</a:t>
            </a:r>
            <a:r>
              <a:rPr lang="en-US" sz="2800" dirty="0"/>
              <a:t> </a:t>
            </a:r>
            <a:r>
              <a:rPr lang="en-US" sz="2800" dirty="0" err="1"/>
              <a:t>quan</a:t>
            </a:r>
            <a:r>
              <a:rPr lang="en-US" sz="2800" dirty="0"/>
              <a:t> </a:t>
            </a:r>
            <a:r>
              <a:rPr lang="en-US" sz="2800" dirty="0" err="1"/>
              <a:t>sát</a:t>
            </a:r>
            <a:r>
              <a:rPr lang="en-US" sz="2800" dirty="0"/>
              <a:t> </a:t>
            </a:r>
            <a:r>
              <a:rPr lang="en-US" sz="2800" dirty="0" err="1"/>
              <a:t>phản</a:t>
            </a:r>
            <a:r>
              <a:rPr lang="en-US" sz="2800" dirty="0"/>
              <a:t> </a:t>
            </a:r>
            <a:r>
              <a:rPr lang="en-US" sz="2800" dirty="0" err="1"/>
              <a:t>hồi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9760193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B0150-081F-3211-A95E-E15A98B8D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277442"/>
            <a:ext cx="10058400" cy="1450757"/>
          </a:xfrm>
        </p:spPr>
        <p:txBody>
          <a:bodyPr/>
          <a:lstStyle/>
          <a:p>
            <a:pPr algn="ctr"/>
            <a:r>
              <a:rPr lang="en-US" dirty="0"/>
              <a:t>PKCS#1 v1.5 Padding</a:t>
            </a:r>
          </a:p>
        </p:txBody>
      </p:sp>
      <p:pic>
        <p:nvPicPr>
          <p:cNvPr id="1026" name="Picture 2" descr="rsa - Why PS does differ between PKCS1 v1.5 padding for signature ...">
            <a:extLst>
              <a:ext uri="{FF2B5EF4-FFF2-40B4-BE49-F238E27FC236}">
                <a16:creationId xmlns:a16="http://schemas.microsoft.com/office/drawing/2014/main" id="{BDDA7800-D983-6D82-685C-503D3E5D28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65772" y="2055243"/>
            <a:ext cx="8915400" cy="3886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131513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B0150-081F-3211-A95E-E15A98B8D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7650" y="254002"/>
            <a:ext cx="10058400" cy="1450757"/>
          </a:xfrm>
        </p:spPr>
        <p:txBody>
          <a:bodyPr/>
          <a:lstStyle/>
          <a:p>
            <a:r>
              <a:rPr lang="en-US" dirty="0"/>
              <a:t>Padding Oracle </a:t>
            </a:r>
            <a:r>
              <a:rPr lang="en-US" dirty="0" err="1"/>
              <a:t>là</a:t>
            </a:r>
            <a:r>
              <a:rPr lang="en-US" dirty="0"/>
              <a:t> </a:t>
            </a:r>
            <a:r>
              <a:rPr lang="en-US" dirty="0" err="1"/>
              <a:t>gì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C92A57-AE48-CD21-6442-DDCBC7625A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" y="1972634"/>
            <a:ext cx="10515600" cy="4351338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en-US" sz="2800" dirty="0">
                <a:latin typeface="Calibri (Body)"/>
              </a:rPr>
              <a:t> </a:t>
            </a:r>
            <a:r>
              <a:rPr lang="en-US" sz="2800" dirty="0" err="1">
                <a:latin typeface="Calibri (Body)"/>
              </a:rPr>
              <a:t>Là</a:t>
            </a:r>
            <a:r>
              <a:rPr lang="en-US" sz="2800" dirty="0">
                <a:latin typeface="Calibri (Body)"/>
              </a:rPr>
              <a:t> </a:t>
            </a:r>
            <a:r>
              <a:rPr lang="vi-VN" sz="2800" dirty="0">
                <a:latin typeface="Calibri (Body)"/>
              </a:rPr>
              <a:t>một thành phần cho phép attacker biết </a:t>
            </a:r>
            <a:r>
              <a:rPr lang="vi-VN" sz="2800" b="1" dirty="0">
                <a:latin typeface="Calibri (Body)"/>
              </a:rPr>
              <a:t>ciphertext sau khi decrypt có vượt qua kiểm tra padding hay không</a:t>
            </a:r>
            <a:r>
              <a:rPr lang="vi-VN" sz="2800" dirty="0">
                <a:latin typeface="Calibri (Body)"/>
              </a:rPr>
              <a:t>, thông qua </a:t>
            </a:r>
            <a:r>
              <a:rPr lang="vi-VN" sz="2800" b="1" dirty="0">
                <a:latin typeface="Calibri (Body)"/>
              </a:rPr>
              <a:t>phản hồi hoặc timing khác nhau</a:t>
            </a:r>
            <a:r>
              <a:rPr lang="vi-VN" sz="2800" dirty="0">
                <a:latin typeface="Calibri (Body)"/>
              </a:rPr>
              <a:t>.</a:t>
            </a:r>
            <a:endParaRPr lang="en-US" sz="2800" dirty="0">
              <a:latin typeface="Calibri (Body)"/>
            </a:endParaRPr>
          </a:p>
          <a:p>
            <a:pPr>
              <a:buFontTx/>
              <a:buChar char="-"/>
            </a:pPr>
            <a:r>
              <a:rPr lang="en-US" sz="2800" dirty="0">
                <a:latin typeface="Calibri (Body)"/>
              </a:rPr>
              <a:t> Khi server </a:t>
            </a:r>
            <a:r>
              <a:rPr lang="en-US" sz="2800" dirty="0" err="1">
                <a:latin typeface="Calibri (Body)"/>
              </a:rPr>
              <a:t>thực</a:t>
            </a:r>
            <a:r>
              <a:rPr lang="en-US" sz="2800" dirty="0">
                <a:latin typeface="Calibri (Body)"/>
              </a:rPr>
              <a:t> </a:t>
            </a:r>
            <a:r>
              <a:rPr lang="en-US" sz="2800" dirty="0" err="1">
                <a:latin typeface="Calibri (Body)"/>
              </a:rPr>
              <a:t>hiện</a:t>
            </a:r>
            <a:r>
              <a:rPr lang="en-US" sz="2800" dirty="0">
                <a:latin typeface="Calibri (Body)"/>
              </a:rPr>
              <a:t> </a:t>
            </a:r>
            <a:r>
              <a:rPr lang="en-US" sz="2800" dirty="0" err="1">
                <a:latin typeface="Calibri (Body)"/>
              </a:rPr>
              <a:t>giải</a:t>
            </a:r>
            <a:r>
              <a:rPr lang="en-US" sz="2800" dirty="0">
                <a:latin typeface="Calibri (Body)"/>
              </a:rPr>
              <a:t> </a:t>
            </a:r>
            <a:r>
              <a:rPr lang="en-US" sz="2800" dirty="0" err="1">
                <a:latin typeface="Calibri (Body)"/>
              </a:rPr>
              <a:t>mã</a:t>
            </a:r>
            <a:r>
              <a:rPr lang="en-US" sz="2800" dirty="0">
                <a:latin typeface="Calibri (Body)"/>
              </a:rPr>
              <a:t> RSA </a:t>
            </a:r>
            <a:r>
              <a:rPr lang="en-US" sz="2800" dirty="0" err="1">
                <a:latin typeface="Calibri (Body)"/>
              </a:rPr>
              <a:t>hoặc</a:t>
            </a:r>
            <a:r>
              <a:rPr lang="en-US" sz="2800" dirty="0">
                <a:latin typeface="Calibri (Body)"/>
              </a:rPr>
              <a:t> </a:t>
            </a:r>
            <a:r>
              <a:rPr lang="en-US" sz="2800" dirty="0" err="1">
                <a:latin typeface="Calibri (Body)"/>
              </a:rPr>
              <a:t>kiểm</a:t>
            </a:r>
            <a:r>
              <a:rPr lang="en-US" sz="2800" dirty="0">
                <a:latin typeface="Calibri (Body)"/>
              </a:rPr>
              <a:t> </a:t>
            </a:r>
            <a:r>
              <a:rPr lang="en-US" sz="2800" dirty="0" err="1">
                <a:latin typeface="Calibri (Body)"/>
              </a:rPr>
              <a:t>tra</a:t>
            </a:r>
            <a:r>
              <a:rPr lang="en-US" sz="2800" dirty="0">
                <a:latin typeface="Calibri (Body)"/>
              </a:rPr>
              <a:t> padding PKCS#1 v1.5, server </a:t>
            </a:r>
            <a:r>
              <a:rPr lang="en-US" sz="2800" dirty="0" err="1">
                <a:latin typeface="Calibri (Body)"/>
              </a:rPr>
              <a:t>sẽ</a:t>
            </a:r>
            <a:r>
              <a:rPr lang="en-US" sz="2800" dirty="0">
                <a:latin typeface="Calibri (Body)"/>
              </a:rPr>
              <a:t> </a:t>
            </a:r>
            <a:r>
              <a:rPr lang="en-US" sz="2800" dirty="0" err="1">
                <a:latin typeface="Calibri (Body)"/>
              </a:rPr>
              <a:t>để</a:t>
            </a:r>
            <a:r>
              <a:rPr lang="en-US" sz="2800" dirty="0">
                <a:latin typeface="Calibri (Body)"/>
              </a:rPr>
              <a:t> </a:t>
            </a:r>
            <a:r>
              <a:rPr lang="en-US" sz="2800" dirty="0" err="1">
                <a:latin typeface="Calibri (Body)"/>
              </a:rPr>
              <a:t>lộ</a:t>
            </a:r>
            <a:r>
              <a:rPr lang="en-US" sz="2800" dirty="0">
                <a:latin typeface="Calibri (Body)"/>
              </a:rPr>
              <a:t> </a:t>
            </a:r>
            <a:r>
              <a:rPr lang="en-US" sz="2800" dirty="0" err="1">
                <a:latin typeface="Calibri (Body)"/>
              </a:rPr>
              <a:t>kết</a:t>
            </a:r>
            <a:r>
              <a:rPr lang="en-US" sz="2800" dirty="0">
                <a:latin typeface="Calibri (Body)"/>
              </a:rPr>
              <a:t> </a:t>
            </a:r>
            <a:r>
              <a:rPr lang="en-US" sz="2800" dirty="0" err="1">
                <a:latin typeface="Calibri (Body)"/>
              </a:rPr>
              <a:t>quả</a:t>
            </a:r>
            <a:r>
              <a:rPr lang="en-US" sz="2800" dirty="0">
                <a:latin typeface="Calibri (Body)"/>
              </a:rPr>
              <a:t> </a:t>
            </a:r>
            <a:r>
              <a:rPr lang="en-US" sz="2800" dirty="0" err="1">
                <a:latin typeface="Calibri (Body)"/>
              </a:rPr>
              <a:t>kiểm</a:t>
            </a:r>
            <a:r>
              <a:rPr lang="en-US" sz="2800" dirty="0">
                <a:latin typeface="Calibri (Body)"/>
              </a:rPr>
              <a:t> </a:t>
            </a:r>
            <a:r>
              <a:rPr lang="en-US" sz="2800" dirty="0" err="1">
                <a:latin typeface="Calibri (Body)"/>
              </a:rPr>
              <a:t>tra</a:t>
            </a:r>
            <a:r>
              <a:rPr lang="en-US" sz="2800" dirty="0">
                <a:latin typeface="Calibri (Body)"/>
              </a:rPr>
              <a:t> padding:</a:t>
            </a:r>
          </a:p>
          <a:p>
            <a:pPr lvl="1">
              <a:buFontTx/>
              <a:buChar char="-"/>
            </a:pPr>
            <a:r>
              <a:rPr lang="en-US" sz="2600" dirty="0" err="1">
                <a:latin typeface="Calibri (Body)"/>
              </a:rPr>
              <a:t>Trả</a:t>
            </a:r>
            <a:r>
              <a:rPr lang="en-US" sz="2600" dirty="0">
                <a:latin typeface="Calibri (Body)"/>
              </a:rPr>
              <a:t> </a:t>
            </a:r>
            <a:r>
              <a:rPr lang="en-US" sz="2600" dirty="0" err="1">
                <a:latin typeface="Calibri (Body)"/>
              </a:rPr>
              <a:t>về</a:t>
            </a:r>
            <a:r>
              <a:rPr lang="en-US" sz="2600" dirty="0">
                <a:latin typeface="Calibri (Body)"/>
              </a:rPr>
              <a:t> OK/FAIL</a:t>
            </a:r>
          </a:p>
          <a:p>
            <a:pPr lvl="1">
              <a:buFontTx/>
              <a:buChar char="-"/>
            </a:pPr>
            <a:r>
              <a:rPr lang="en-US" sz="2600" dirty="0">
                <a:latin typeface="Calibri (Body)"/>
              </a:rPr>
              <a:t>Timing </a:t>
            </a:r>
            <a:r>
              <a:rPr lang="en-US" sz="2600" dirty="0" err="1">
                <a:latin typeface="Calibri (Body)"/>
              </a:rPr>
              <a:t>khác</a:t>
            </a:r>
            <a:r>
              <a:rPr lang="en-US" sz="2600" dirty="0">
                <a:latin typeface="Calibri (Body)"/>
              </a:rPr>
              <a:t> </a:t>
            </a:r>
            <a:r>
              <a:rPr lang="en-US" sz="2600" dirty="0" err="1">
                <a:latin typeface="Calibri (Body)"/>
              </a:rPr>
              <a:t>nhau</a:t>
            </a:r>
            <a:endParaRPr lang="en-US" sz="2600" dirty="0">
              <a:latin typeface="Calibri (Body)"/>
            </a:endParaRPr>
          </a:p>
        </p:txBody>
      </p:sp>
    </p:spTree>
    <p:extLst>
      <p:ext uri="{BB962C8B-B14F-4D97-AF65-F5344CB8AC3E}">
        <p14:creationId xmlns:p14="http://schemas.microsoft.com/office/powerpoint/2010/main" val="26632869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B0150-081F-3211-A95E-E15A98B8D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63527"/>
            <a:ext cx="10058400" cy="1450757"/>
          </a:xfrm>
        </p:spPr>
        <p:txBody>
          <a:bodyPr/>
          <a:lstStyle/>
          <a:p>
            <a:r>
              <a:rPr lang="en-US" dirty="0"/>
              <a:t>Attack A - </a:t>
            </a:r>
            <a:r>
              <a:rPr lang="en-US" sz="4800" dirty="0" err="1"/>
              <a:t>Bleichenbacher</a:t>
            </a:r>
            <a:r>
              <a:rPr lang="en-US" sz="4800" dirty="0"/>
              <a:t> padding oracle </a:t>
            </a:r>
            <a:endParaRPr lang="en-US" dirty="0"/>
          </a:p>
        </p:txBody>
      </p:sp>
      <p:pic>
        <p:nvPicPr>
          <p:cNvPr id="31" name="Content Placeholder 30" descr="A diagram of a computer&#10;&#10;AI-generated content may be incorrect.">
            <a:extLst>
              <a:ext uri="{FF2B5EF4-FFF2-40B4-BE49-F238E27FC236}">
                <a16:creationId xmlns:a16="http://schemas.microsoft.com/office/drawing/2014/main" id="{5E5E9C88-CB8B-0BEA-A81F-FBA26CF5E62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631058"/>
            <a:ext cx="12192000" cy="2301754"/>
          </a:xfrm>
        </p:spPr>
      </p:pic>
    </p:spTree>
    <p:extLst>
      <p:ext uri="{BB962C8B-B14F-4D97-AF65-F5344CB8AC3E}">
        <p14:creationId xmlns:p14="http://schemas.microsoft.com/office/powerpoint/2010/main" val="17104723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B0150-081F-3211-A95E-E15A98B8D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63527"/>
            <a:ext cx="10058400" cy="1450757"/>
          </a:xfrm>
        </p:spPr>
        <p:txBody>
          <a:bodyPr/>
          <a:lstStyle/>
          <a:p>
            <a:r>
              <a:rPr lang="en-US" dirty="0"/>
              <a:t>Attack A - </a:t>
            </a:r>
            <a:r>
              <a:rPr lang="en-US" sz="4800" dirty="0" err="1"/>
              <a:t>Bleichenbacher</a:t>
            </a:r>
            <a:r>
              <a:rPr lang="en-US" sz="4800" dirty="0"/>
              <a:t> padding oracle 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5CC01D4-651F-4472-7EE1-4BFB0762C3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2145" y="1948383"/>
            <a:ext cx="7240846" cy="1848884"/>
          </a:xfrm>
        </p:spPr>
        <p:txBody>
          <a:bodyPr>
            <a:normAutofit/>
          </a:bodyPr>
          <a:lstStyle/>
          <a:p>
            <a:r>
              <a:rPr lang="en-US" dirty="0"/>
              <a:t>- Demo Lab:</a:t>
            </a:r>
          </a:p>
          <a:p>
            <a:pPr lvl="1"/>
            <a:r>
              <a:rPr lang="en-US" dirty="0"/>
              <a:t>Server </a:t>
            </a:r>
            <a:r>
              <a:rPr lang="en-US" dirty="0" err="1"/>
              <a:t>dùng</a:t>
            </a:r>
            <a:r>
              <a:rPr lang="en-US" dirty="0"/>
              <a:t> RSA PCKS#1 v1.5 </a:t>
            </a:r>
            <a:r>
              <a:rPr lang="en-US" dirty="0" err="1"/>
              <a:t>để</a:t>
            </a:r>
            <a:r>
              <a:rPr lang="en-US" dirty="0"/>
              <a:t> gen key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giải</a:t>
            </a:r>
            <a:r>
              <a:rPr lang="en-US" dirty="0"/>
              <a:t> </a:t>
            </a:r>
            <a:r>
              <a:rPr lang="en-US" dirty="0" err="1"/>
              <a:t>mã</a:t>
            </a:r>
            <a:endParaRPr lang="en-US" dirty="0"/>
          </a:p>
          <a:p>
            <a:pPr lvl="1"/>
            <a:r>
              <a:rPr lang="en-US" dirty="0"/>
              <a:t>Server </a:t>
            </a:r>
            <a:r>
              <a:rPr lang="en-US" dirty="0" err="1"/>
              <a:t>trả</a:t>
            </a:r>
            <a:r>
              <a:rPr lang="en-US" dirty="0"/>
              <a:t> </a:t>
            </a:r>
            <a:r>
              <a:rPr lang="en-US" dirty="0" err="1"/>
              <a:t>về</a:t>
            </a:r>
            <a:r>
              <a:rPr lang="en-US" dirty="0"/>
              <a:t> OK/FAIL</a:t>
            </a:r>
          </a:p>
          <a:p>
            <a:r>
              <a:rPr lang="en-US" dirty="0"/>
              <a:t>- </a:t>
            </a:r>
            <a:r>
              <a:rPr lang="en-US" dirty="0" err="1"/>
              <a:t>Phục</a:t>
            </a:r>
            <a:r>
              <a:rPr lang="en-US" dirty="0"/>
              <a:t> </a:t>
            </a:r>
            <a:r>
              <a:rPr lang="en-US" dirty="0" err="1"/>
              <a:t>hồi</a:t>
            </a:r>
            <a:r>
              <a:rPr lang="en-US" dirty="0"/>
              <a:t> 48 byte premaster secret (plaintext)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4D32CD3A-B210-41D0-F547-DA6B19A8E9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797268"/>
            <a:ext cx="7352990" cy="2555257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E7108EC3-6A2C-AE20-EF98-01E93F2FDC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2990" y="2059583"/>
            <a:ext cx="4839010" cy="4292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00998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B0150-081F-3211-A95E-E15A98B8D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63527"/>
            <a:ext cx="10058400" cy="1450757"/>
          </a:xfrm>
        </p:spPr>
        <p:txBody>
          <a:bodyPr/>
          <a:lstStyle/>
          <a:p>
            <a:r>
              <a:rPr lang="en-US" dirty="0" err="1"/>
              <a:t>Kết</a:t>
            </a:r>
            <a:r>
              <a:rPr lang="en-US" dirty="0"/>
              <a:t> </a:t>
            </a:r>
            <a:r>
              <a:rPr lang="en-US" dirty="0" err="1"/>
              <a:t>quả</a:t>
            </a:r>
            <a:r>
              <a:rPr lang="en-US" dirty="0"/>
              <a:t> - Attack A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F61B6EB-A329-0870-5659-F3DECF4D06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968570"/>
              </p:ext>
            </p:extLst>
          </p:nvPr>
        </p:nvGraphicFramePr>
        <p:xfrm>
          <a:off x="847592" y="1837396"/>
          <a:ext cx="10056810" cy="4023206"/>
        </p:xfrm>
        <a:graphic>
          <a:graphicData uri="http://schemas.openxmlformats.org/drawingml/2006/table">
            <a:tbl>
              <a:tblPr/>
              <a:tblGrid>
                <a:gridCol w="2011362">
                  <a:extLst>
                    <a:ext uri="{9D8B030D-6E8A-4147-A177-3AD203B41FA5}">
                      <a16:colId xmlns:a16="http://schemas.microsoft.com/office/drawing/2014/main" val="1153841641"/>
                    </a:ext>
                  </a:extLst>
                </a:gridCol>
                <a:gridCol w="2011362">
                  <a:extLst>
                    <a:ext uri="{9D8B030D-6E8A-4147-A177-3AD203B41FA5}">
                      <a16:colId xmlns:a16="http://schemas.microsoft.com/office/drawing/2014/main" val="4206797455"/>
                    </a:ext>
                  </a:extLst>
                </a:gridCol>
                <a:gridCol w="2011362">
                  <a:extLst>
                    <a:ext uri="{9D8B030D-6E8A-4147-A177-3AD203B41FA5}">
                      <a16:colId xmlns:a16="http://schemas.microsoft.com/office/drawing/2014/main" val="2453286802"/>
                    </a:ext>
                  </a:extLst>
                </a:gridCol>
                <a:gridCol w="2011362">
                  <a:extLst>
                    <a:ext uri="{9D8B030D-6E8A-4147-A177-3AD203B41FA5}">
                      <a16:colId xmlns:a16="http://schemas.microsoft.com/office/drawing/2014/main" val="1995105878"/>
                    </a:ext>
                  </a:extLst>
                </a:gridCol>
                <a:gridCol w="2011362">
                  <a:extLst>
                    <a:ext uri="{9D8B030D-6E8A-4147-A177-3AD203B41FA5}">
                      <a16:colId xmlns:a16="http://schemas.microsoft.com/office/drawing/2014/main" val="2954228350"/>
                    </a:ext>
                  </a:extLst>
                </a:gridCol>
              </a:tblGrid>
              <a:tr h="365702">
                <a:tc>
                  <a:txBody>
                    <a:bodyPr/>
                    <a:lstStyle/>
                    <a:p>
                      <a:r>
                        <a:rPr lang="en-US" sz="1800"/>
                        <a:t>Run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Queries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Time (s)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Avg / query (s)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QPS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9889057"/>
                  </a:ext>
                </a:extLst>
              </a:tr>
              <a:tr h="365702">
                <a:tc>
                  <a:txBody>
                    <a:bodyPr/>
                    <a:lstStyle/>
                    <a:p>
                      <a:r>
                        <a:rPr lang="en-US" sz="1800" dirty="0"/>
                        <a:t>1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183,346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360.38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0.001966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508.76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4757432"/>
                  </a:ext>
                </a:extLst>
              </a:tr>
              <a:tr h="365702">
                <a:tc>
                  <a:txBody>
                    <a:bodyPr/>
                    <a:lstStyle/>
                    <a:p>
                      <a:r>
                        <a:rPr lang="en-US" sz="1800"/>
                        <a:t>2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194,874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381.57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0.001958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510.72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30206877"/>
                  </a:ext>
                </a:extLst>
              </a:tr>
              <a:tr h="365702">
                <a:tc>
                  <a:txBody>
                    <a:bodyPr/>
                    <a:lstStyle/>
                    <a:p>
                      <a:r>
                        <a:rPr lang="en-US" sz="1800"/>
                        <a:t>3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298,513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576.78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0.001932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517.55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4270124"/>
                  </a:ext>
                </a:extLst>
              </a:tr>
              <a:tr h="365702">
                <a:tc>
                  <a:txBody>
                    <a:bodyPr/>
                    <a:lstStyle/>
                    <a:p>
                      <a:r>
                        <a:rPr lang="en-US" sz="1800" dirty="0"/>
                        <a:t>4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53,511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107.14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0.002002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499.44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1528959"/>
                  </a:ext>
                </a:extLst>
              </a:tr>
              <a:tr h="365702">
                <a:tc>
                  <a:txBody>
                    <a:bodyPr/>
                    <a:lstStyle/>
                    <a:p>
                      <a:r>
                        <a:rPr lang="en-US" sz="1800"/>
                        <a:t>5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46,068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101.14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0.002195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455.51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3268828"/>
                  </a:ext>
                </a:extLst>
              </a:tr>
              <a:tr h="365702">
                <a:tc>
                  <a:txBody>
                    <a:bodyPr/>
                    <a:lstStyle/>
                    <a:p>
                      <a:r>
                        <a:rPr lang="en-US" sz="1800"/>
                        <a:t>6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366,681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709.11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0.001934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517.10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1476309"/>
                  </a:ext>
                </a:extLst>
              </a:tr>
              <a:tr h="365702">
                <a:tc>
                  <a:txBody>
                    <a:bodyPr/>
                    <a:lstStyle/>
                    <a:p>
                      <a:r>
                        <a:rPr lang="en-US" sz="1800"/>
                        <a:t>7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582,094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1152.26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0.001980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505.18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9069557"/>
                  </a:ext>
                </a:extLst>
              </a:tr>
              <a:tr h="365702">
                <a:tc>
                  <a:txBody>
                    <a:bodyPr/>
                    <a:lstStyle/>
                    <a:p>
                      <a:r>
                        <a:rPr lang="en-US" sz="1800"/>
                        <a:t>8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405,583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851.15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0.002099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476.51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4440649"/>
                  </a:ext>
                </a:extLst>
              </a:tr>
              <a:tr h="365702">
                <a:tc>
                  <a:txBody>
                    <a:bodyPr/>
                    <a:lstStyle/>
                    <a:p>
                      <a:r>
                        <a:rPr lang="en-US" sz="1800"/>
                        <a:t>9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779,375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1722.48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0.002210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452.47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01192908"/>
                  </a:ext>
                </a:extLst>
              </a:tr>
              <a:tr h="365702">
                <a:tc>
                  <a:txBody>
                    <a:bodyPr/>
                    <a:lstStyle/>
                    <a:p>
                      <a:r>
                        <a:rPr lang="en-US" sz="1800"/>
                        <a:t>10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372,417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821.20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0.002205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453.50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546717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30579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B0150-081F-3211-A95E-E15A98B8D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63527"/>
            <a:ext cx="10058400" cy="1450757"/>
          </a:xfrm>
        </p:spPr>
        <p:txBody>
          <a:bodyPr/>
          <a:lstStyle/>
          <a:p>
            <a:r>
              <a:rPr lang="en-US" dirty="0" err="1"/>
              <a:t>Kết</a:t>
            </a:r>
            <a:r>
              <a:rPr lang="en-US" dirty="0"/>
              <a:t> </a:t>
            </a:r>
            <a:r>
              <a:rPr lang="en-US" dirty="0" err="1"/>
              <a:t>quả</a:t>
            </a:r>
            <a:r>
              <a:rPr lang="en-US" dirty="0"/>
              <a:t> - Attack 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050B79-4971-0890-4933-4B8D772F68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940625"/>
            <a:ext cx="10058400" cy="4023360"/>
          </a:xfrm>
        </p:spPr>
        <p:txBody>
          <a:bodyPr/>
          <a:lstStyle/>
          <a:p>
            <a:pPr lvl="1">
              <a:buFontTx/>
              <a:buChar char="-"/>
            </a:pPr>
            <a:r>
              <a:rPr lang="en-US" dirty="0" err="1">
                <a:latin typeface="Calibri (Body)"/>
              </a:rPr>
              <a:t>Số</a:t>
            </a:r>
            <a:r>
              <a:rPr lang="en-US" dirty="0">
                <a:latin typeface="Calibri (Body)"/>
              </a:rPr>
              <a:t> oracle queries </a:t>
            </a:r>
            <a:r>
              <a:rPr lang="en-US" dirty="0" err="1">
                <a:latin typeface="Calibri (Body)"/>
              </a:rPr>
              <a:t>trung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bình</a:t>
            </a:r>
            <a:r>
              <a:rPr lang="en-US" dirty="0">
                <a:latin typeface="Calibri (Body)"/>
              </a:rPr>
              <a:t>≈ 327,846 queries / run</a:t>
            </a:r>
          </a:p>
          <a:p>
            <a:pPr lvl="1">
              <a:buFontTx/>
              <a:buChar char="-"/>
            </a:pPr>
            <a:r>
              <a:rPr lang="en-US" dirty="0" err="1">
                <a:latin typeface="Calibri (Body)"/>
              </a:rPr>
              <a:t>Thời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gian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tấn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công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trung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bình</a:t>
            </a:r>
            <a:r>
              <a:rPr lang="en-US" dirty="0">
                <a:latin typeface="Calibri (Body)"/>
              </a:rPr>
              <a:t>≈ 678.72 </a:t>
            </a:r>
            <a:r>
              <a:rPr lang="en-US" dirty="0" err="1">
                <a:latin typeface="Calibri (Body)"/>
              </a:rPr>
              <a:t>giây</a:t>
            </a:r>
            <a:r>
              <a:rPr lang="en-US" dirty="0">
                <a:latin typeface="Calibri (Body)"/>
              </a:rPr>
              <a:t> ≈ 11.31 </a:t>
            </a:r>
            <a:r>
              <a:rPr lang="en-US" dirty="0" err="1">
                <a:latin typeface="Calibri (Body)"/>
              </a:rPr>
              <a:t>phút</a:t>
            </a:r>
            <a:endParaRPr lang="en-US" dirty="0">
              <a:latin typeface="Calibri (Body)"/>
            </a:endParaRPr>
          </a:p>
          <a:p>
            <a:pPr lvl="1">
              <a:buFontTx/>
              <a:buChar char="-"/>
            </a:pPr>
            <a:r>
              <a:rPr lang="en-US" dirty="0" err="1">
                <a:latin typeface="Calibri (Body)"/>
              </a:rPr>
              <a:t>Thời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gian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trung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bình</a:t>
            </a:r>
            <a:r>
              <a:rPr lang="en-US" dirty="0">
                <a:latin typeface="Calibri (Body)"/>
              </a:rPr>
              <a:t> / query≈ 0.002048 </a:t>
            </a:r>
            <a:r>
              <a:rPr lang="en-US" dirty="0" err="1">
                <a:latin typeface="Calibri (Body)"/>
              </a:rPr>
              <a:t>giây</a:t>
            </a:r>
            <a:r>
              <a:rPr lang="en-US" dirty="0">
                <a:latin typeface="Calibri (Body)"/>
              </a:rPr>
              <a:t> ≈ 2.05 </a:t>
            </a:r>
            <a:r>
              <a:rPr lang="en-US" dirty="0" err="1">
                <a:latin typeface="Calibri (Body)"/>
              </a:rPr>
              <a:t>ms</a:t>
            </a:r>
            <a:endParaRPr lang="en-US" dirty="0">
              <a:latin typeface="Calibri (Body)"/>
            </a:endParaRPr>
          </a:p>
          <a:p>
            <a:pPr lvl="1">
              <a:buFontTx/>
              <a:buChar char="-"/>
            </a:pPr>
            <a:r>
              <a:rPr lang="en-US" dirty="0">
                <a:latin typeface="Calibri (Body)"/>
              </a:rPr>
              <a:t>Throughput (QPS) </a:t>
            </a:r>
            <a:r>
              <a:rPr lang="en-US" dirty="0" err="1">
                <a:latin typeface="Calibri (Body)"/>
              </a:rPr>
              <a:t>trung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bình</a:t>
            </a:r>
            <a:r>
              <a:rPr lang="en-US" dirty="0">
                <a:latin typeface="Calibri (Body)"/>
              </a:rPr>
              <a:t>≈ 489.82 queries / second</a:t>
            </a:r>
          </a:p>
          <a:p>
            <a:pPr lvl="1">
              <a:buFontTx/>
              <a:buChar char="-"/>
            </a:pPr>
            <a:r>
              <a:rPr lang="vi-VN" dirty="0">
                <a:latin typeface="Calibri (Body)"/>
              </a:rPr>
              <a:t>Avg time / query:Rất ổn định: ~1.93–2.21 ms</a:t>
            </a:r>
            <a:r>
              <a:rPr lang="en-US" dirty="0">
                <a:latin typeface="Calibri (Body)"/>
              </a:rPr>
              <a:t> -&gt;</a:t>
            </a:r>
            <a:r>
              <a:rPr lang="vi-VN" dirty="0">
                <a:latin typeface="Calibri (Body)"/>
              </a:rPr>
              <a:t> chứng minh uniform timing path</a:t>
            </a:r>
            <a:endParaRPr lang="en-US" dirty="0">
              <a:latin typeface="Calibri (Body)"/>
            </a:endParaRPr>
          </a:p>
          <a:p>
            <a:pPr lvl="1">
              <a:buFontTx/>
              <a:buChar char="-"/>
            </a:pPr>
            <a:r>
              <a:rPr lang="en-US" dirty="0">
                <a:latin typeface="Calibri (Body)"/>
              </a:rPr>
              <a:t>QPS: ~450–520 QPS</a:t>
            </a:r>
          </a:p>
          <a:p>
            <a:pPr lvl="1">
              <a:buFontTx/>
              <a:buChar char="-"/>
            </a:pPr>
            <a:r>
              <a:rPr lang="vi-VN" dirty="0">
                <a:latin typeface="Calibri (Body)"/>
              </a:rPr>
              <a:t>Queries:</a:t>
            </a:r>
            <a:endParaRPr lang="en-US" dirty="0">
              <a:latin typeface="Calibri (Body)"/>
            </a:endParaRPr>
          </a:p>
          <a:p>
            <a:pPr lvl="2">
              <a:buFontTx/>
              <a:buChar char="-"/>
            </a:pPr>
            <a:r>
              <a:rPr lang="vi-VN" dirty="0">
                <a:latin typeface="Calibri (Body)"/>
              </a:rPr>
              <a:t>Min: 46k</a:t>
            </a:r>
            <a:endParaRPr lang="en-US" dirty="0">
              <a:latin typeface="Calibri (Body)"/>
            </a:endParaRPr>
          </a:p>
          <a:p>
            <a:pPr lvl="2">
              <a:buFontTx/>
              <a:buChar char="-"/>
            </a:pPr>
            <a:r>
              <a:rPr lang="vi-VN" dirty="0">
                <a:latin typeface="Calibri (Body)"/>
              </a:rPr>
              <a:t>Max: 779k</a:t>
            </a:r>
            <a:r>
              <a:rPr lang="en-US" dirty="0">
                <a:latin typeface="Calibri (Body)"/>
              </a:rPr>
              <a:t> -&gt; </a:t>
            </a:r>
            <a:r>
              <a:rPr lang="vi-VN" dirty="0">
                <a:latin typeface="Calibri (Body)"/>
              </a:rPr>
              <a:t>dao động lớn (</a:t>
            </a:r>
            <a:r>
              <a:rPr lang="en-US" dirty="0" err="1">
                <a:latin typeface="Calibri (Body)"/>
              </a:rPr>
              <a:t>phụ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thuộc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vào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việc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đoán</a:t>
            </a:r>
            <a:r>
              <a:rPr lang="en-US" dirty="0">
                <a:latin typeface="Calibri (Body)"/>
              </a:rPr>
              <a:t> s0 </a:t>
            </a:r>
            <a:r>
              <a:rPr lang="en-US" dirty="0" err="1">
                <a:latin typeface="Calibri (Body)"/>
              </a:rPr>
              <a:t>và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độ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hẹp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khoảng</a:t>
            </a:r>
            <a:r>
              <a:rPr lang="en-US" dirty="0">
                <a:latin typeface="Calibri (Body)"/>
              </a:rPr>
              <a:t> M</a:t>
            </a:r>
            <a:r>
              <a:rPr lang="vi-VN" dirty="0">
                <a:latin typeface="Calibri (Body)"/>
              </a:rPr>
              <a:t>)</a:t>
            </a:r>
            <a:endParaRPr lang="en-US" dirty="0">
              <a:latin typeface="Calibri (Body)"/>
            </a:endParaRPr>
          </a:p>
        </p:txBody>
      </p:sp>
    </p:spTree>
    <p:extLst>
      <p:ext uri="{BB962C8B-B14F-4D97-AF65-F5344CB8AC3E}">
        <p14:creationId xmlns:p14="http://schemas.microsoft.com/office/powerpoint/2010/main" val="36094785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B0150-081F-3211-A95E-E15A98B8D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63527"/>
            <a:ext cx="10058400" cy="1450757"/>
          </a:xfrm>
        </p:spPr>
        <p:txBody>
          <a:bodyPr/>
          <a:lstStyle/>
          <a:p>
            <a:r>
              <a:rPr lang="en-US" dirty="0" err="1"/>
              <a:t>Kết</a:t>
            </a:r>
            <a:r>
              <a:rPr lang="en-US" dirty="0"/>
              <a:t> </a:t>
            </a:r>
            <a:r>
              <a:rPr lang="en-US" dirty="0" err="1"/>
              <a:t>quả</a:t>
            </a:r>
            <a:r>
              <a:rPr lang="en-US" dirty="0"/>
              <a:t> - Attack 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050B79-4971-0890-4933-4B8D772F68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264475"/>
            <a:ext cx="5727940" cy="4023360"/>
          </a:xfrm>
        </p:spPr>
        <p:txBody>
          <a:bodyPr>
            <a:normAutofit/>
          </a:bodyPr>
          <a:lstStyle/>
          <a:p>
            <a:pPr lvl="1">
              <a:buFontTx/>
              <a:buChar char="-"/>
            </a:pPr>
            <a:r>
              <a:rPr lang="en-US" sz="2400" dirty="0">
                <a:latin typeface="Calibri (Body)"/>
              </a:rPr>
              <a:t>Sau </a:t>
            </a:r>
            <a:r>
              <a:rPr lang="en-US" sz="2400" dirty="0" err="1">
                <a:latin typeface="Calibri (Body)"/>
              </a:rPr>
              <a:t>khi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vá</a:t>
            </a:r>
            <a:r>
              <a:rPr lang="en-US" sz="2400" dirty="0">
                <a:latin typeface="Calibri (Body)"/>
              </a:rPr>
              <a:t>, ta </a:t>
            </a:r>
            <a:r>
              <a:rPr lang="en-US" sz="2400" dirty="0" err="1">
                <a:latin typeface="Calibri (Body)"/>
              </a:rPr>
              <a:t>gửi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các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gói</a:t>
            </a:r>
            <a:r>
              <a:rPr lang="en-US" sz="2400" dirty="0">
                <a:latin typeface="Calibri (Body)"/>
              </a:rPr>
              <a:t> tin </a:t>
            </a:r>
            <a:r>
              <a:rPr lang="en-US" sz="2400" dirty="0" err="1">
                <a:latin typeface="Calibri (Body)"/>
              </a:rPr>
              <a:t>để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kiểm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thử</a:t>
            </a:r>
            <a:endParaRPr lang="en-US" sz="2400" dirty="0">
              <a:latin typeface="Calibri (Body)"/>
            </a:endParaRPr>
          </a:p>
          <a:p>
            <a:pPr marL="201168" lvl="1" indent="0">
              <a:buNone/>
            </a:pPr>
            <a:r>
              <a:rPr lang="en-US" sz="2400" dirty="0">
                <a:latin typeface="Calibri (Body)"/>
              </a:rPr>
              <a:t>=&gt; </a:t>
            </a:r>
            <a:r>
              <a:rPr lang="en-US" sz="2400" dirty="0" err="1">
                <a:latin typeface="Calibri (Body)"/>
              </a:rPr>
              <a:t>Các</a:t>
            </a:r>
            <a:r>
              <a:rPr lang="en-US" sz="2400" dirty="0">
                <a:latin typeface="Calibri (Body)"/>
              </a:rPr>
              <a:t> response </a:t>
            </a:r>
            <a:r>
              <a:rPr lang="en-US" sz="2400" dirty="0" err="1">
                <a:latin typeface="Calibri (Body)"/>
              </a:rPr>
              <a:t>từ</a:t>
            </a:r>
            <a:r>
              <a:rPr lang="en-US" sz="2400" dirty="0">
                <a:latin typeface="Calibri (Body)"/>
              </a:rPr>
              <a:t> server </a:t>
            </a:r>
            <a:r>
              <a:rPr lang="en-US" sz="2400" dirty="0" err="1">
                <a:latin typeface="Calibri (Body)"/>
              </a:rPr>
              <a:t>đều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là</a:t>
            </a:r>
            <a:r>
              <a:rPr lang="en-US" sz="2400" dirty="0">
                <a:latin typeface="Calibri (Body)"/>
              </a:rPr>
              <a:t> OK </a:t>
            </a:r>
            <a:r>
              <a:rPr lang="en-US" sz="2400" dirty="0" err="1">
                <a:latin typeface="Calibri (Body)"/>
              </a:rPr>
              <a:t>và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có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thời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gian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trả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lời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gần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nhau</a:t>
            </a:r>
            <a:endParaRPr lang="en-US" sz="2400" dirty="0">
              <a:latin typeface="Calibri (Body)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CA4CBC2-8ECE-729F-847D-534F99875A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0414" y="2264475"/>
            <a:ext cx="5915851" cy="2419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52553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B0150-081F-3211-A95E-E15A98B8D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63527"/>
            <a:ext cx="10058400" cy="1450757"/>
          </a:xfrm>
        </p:spPr>
        <p:txBody>
          <a:bodyPr/>
          <a:lstStyle/>
          <a:p>
            <a:r>
              <a:rPr lang="en-US" dirty="0" err="1"/>
              <a:t>Trả</a:t>
            </a:r>
            <a:r>
              <a:rPr lang="en-US" dirty="0"/>
              <a:t> </a:t>
            </a:r>
            <a:r>
              <a:rPr lang="en-US" dirty="0" err="1"/>
              <a:t>lời</a:t>
            </a:r>
            <a:r>
              <a:rPr lang="en-US" dirty="0"/>
              <a:t> </a:t>
            </a:r>
            <a:r>
              <a:rPr lang="en-US" dirty="0" err="1"/>
              <a:t>câu</a:t>
            </a:r>
            <a:r>
              <a:rPr lang="en-US" dirty="0"/>
              <a:t> </a:t>
            </a:r>
            <a:r>
              <a:rPr lang="en-US" dirty="0" err="1"/>
              <a:t>hỏi</a:t>
            </a:r>
            <a:r>
              <a:rPr lang="en-US" dirty="0"/>
              <a:t> RQ2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050B79-4971-0890-4933-4B8D772F68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940625"/>
            <a:ext cx="5727940" cy="4023360"/>
          </a:xfrm>
        </p:spPr>
        <p:txBody>
          <a:bodyPr>
            <a:normAutofit/>
          </a:bodyPr>
          <a:lstStyle/>
          <a:p>
            <a:pPr lvl="1">
              <a:buFontTx/>
              <a:buChar char="-"/>
            </a:pPr>
            <a:endParaRPr lang="en-US" sz="2400" dirty="0">
              <a:latin typeface="Calibri (Body)"/>
            </a:endParaRPr>
          </a:p>
        </p:txBody>
      </p:sp>
    </p:spTree>
    <p:extLst>
      <p:ext uri="{BB962C8B-B14F-4D97-AF65-F5344CB8AC3E}">
        <p14:creationId xmlns:p14="http://schemas.microsoft.com/office/powerpoint/2010/main" val="37842873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40763E-AC7F-EB28-BD09-03DC5045D1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2405" y="286603"/>
            <a:ext cx="10058400" cy="1450757"/>
          </a:xfrm>
        </p:spPr>
        <p:txBody>
          <a:bodyPr/>
          <a:lstStyle/>
          <a:p>
            <a:r>
              <a:rPr lang="en-US" dirty="0"/>
              <a:t>Attack B – Timing Attack on RSA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D77B03A-88B7-2B6F-52C8-CD9332AEBB1F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92405" y="1875094"/>
            <a:ext cx="7481022" cy="252376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Loại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tấn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công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: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Side-channel attack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 (Body)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Không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phá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vỡ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giả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định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toán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học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của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 RSA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Khai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thác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 </a:t>
            </a:r>
            <a:r>
              <a:rPr kumimoji="0" lang="en-US" altLang="en-US" sz="2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rò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 </a:t>
            </a:r>
            <a:r>
              <a:rPr kumimoji="0" lang="en-US" altLang="en-US" sz="2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rỉ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 </a:t>
            </a:r>
            <a:r>
              <a:rPr kumimoji="0" lang="en-US" altLang="en-US" sz="2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thời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 </a:t>
            </a:r>
            <a:r>
              <a:rPr kumimoji="0" lang="en-US" altLang="en-US" sz="2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gian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 </a:t>
            </a:r>
            <a:r>
              <a:rPr kumimoji="0" lang="en-US" altLang="en-US" sz="2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thực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 </a:t>
            </a:r>
            <a:r>
              <a:rPr kumimoji="0" lang="en-US" altLang="en-US" sz="2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thi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trong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quá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trình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RSA signing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RSA decryption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8705497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40763E-AC7F-EB28-BD09-03DC5045D1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2405" y="286603"/>
            <a:ext cx="10058400" cy="1450757"/>
          </a:xfrm>
        </p:spPr>
        <p:txBody>
          <a:bodyPr/>
          <a:lstStyle/>
          <a:p>
            <a:r>
              <a:rPr lang="en-US" dirty="0"/>
              <a:t>Attack B – Timing Attack on RSA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7A103C-824D-63E5-19B2-5C4B19B5AC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969343"/>
            <a:ext cx="12191999" cy="3783757"/>
          </a:xfrm>
        </p:spPr>
        <p:txBody>
          <a:bodyPr>
            <a:normAutofit/>
          </a:bodyPr>
          <a:lstStyle/>
          <a:p>
            <a:r>
              <a:rPr lang="en-US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</a:t>
            </a:r>
            <a:r>
              <a:rPr lang="vi-VN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Biết public key (𝑁,𝑒)</a:t>
            </a:r>
            <a:endParaRPr lang="en-US" sz="2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</a:t>
            </a:r>
            <a:r>
              <a:rPr lang="vi-VN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Có quyền gửi nhiều message / ciphertext tuỳ ý</a:t>
            </a:r>
            <a:endParaRPr lang="en-US" sz="2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</a:t>
            </a:r>
            <a:r>
              <a:rPr lang="vi-VN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Đo được thời gian xử lý 𝑇</a:t>
            </a:r>
            <a:r>
              <a:rPr lang="vi-VN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𝑖</a:t>
            </a:r>
            <a:r>
              <a:rPr lang="en-US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vi-VN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của mỗi lần ký / giải mã</a:t>
            </a:r>
            <a:endParaRPr lang="en-US" sz="2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</a:t>
            </a:r>
            <a:r>
              <a:rPr lang="en-US" sz="2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Mục</a:t>
            </a:r>
            <a:r>
              <a:rPr lang="en-US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tiêu</a:t>
            </a:r>
            <a:r>
              <a:rPr lang="en-US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</a:p>
          <a:p>
            <a:pPr lvl="1"/>
            <a:r>
              <a:rPr lang="en-US" sz="2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Khôi</a:t>
            </a:r>
            <a:r>
              <a:rPr lang="en-US" sz="2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phục</a:t>
            </a:r>
            <a:r>
              <a:rPr lang="en-US" sz="2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private </a:t>
            </a:r>
            <a:r>
              <a:rPr lang="en-US" sz="26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exponent 𝑑 </a:t>
            </a:r>
            <a:r>
              <a:rPr lang="en-US" sz="2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từng</a:t>
            </a:r>
            <a:r>
              <a:rPr lang="en-US" sz="2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bit</a:t>
            </a:r>
          </a:p>
        </p:txBody>
      </p:sp>
    </p:spTree>
    <p:extLst>
      <p:ext uri="{BB962C8B-B14F-4D97-AF65-F5344CB8AC3E}">
        <p14:creationId xmlns:p14="http://schemas.microsoft.com/office/powerpoint/2010/main" val="341748028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40763E-AC7F-EB28-BD09-03DC5045D1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2405" y="286603"/>
            <a:ext cx="10058400" cy="1450757"/>
          </a:xfrm>
        </p:spPr>
        <p:txBody>
          <a:bodyPr/>
          <a:lstStyle/>
          <a:p>
            <a:r>
              <a:rPr lang="en-US" dirty="0" err="1"/>
              <a:t>Nguyên</a:t>
            </a:r>
            <a:r>
              <a:rPr lang="en-US" dirty="0"/>
              <a:t> </a:t>
            </a:r>
            <a:r>
              <a:rPr lang="en-US" dirty="0" err="1"/>
              <a:t>nhân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7A103C-824D-63E5-19B2-5C4B19B5AC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969343"/>
            <a:ext cx="12191999" cy="3783757"/>
          </a:xfrm>
        </p:spPr>
        <p:txBody>
          <a:bodyPr>
            <a:normAutofit/>
          </a:bodyPr>
          <a:lstStyle/>
          <a:p>
            <a:r>
              <a:rPr lang="en-US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</a:t>
            </a:r>
            <a:r>
              <a:rPr lang="vi-VN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Biết public key (𝑁,𝑒)</a:t>
            </a:r>
            <a:endParaRPr lang="en-US" sz="2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</a:t>
            </a:r>
            <a:r>
              <a:rPr lang="vi-VN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Có quyền gửi nhiều message / ciphertext tuỳ ý</a:t>
            </a:r>
            <a:endParaRPr lang="en-US" sz="2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</a:t>
            </a:r>
            <a:r>
              <a:rPr lang="vi-VN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Đo được thời gian xử lý 𝑇</a:t>
            </a:r>
            <a:r>
              <a:rPr lang="vi-VN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𝑖</a:t>
            </a:r>
            <a:r>
              <a:rPr lang="en-US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vi-VN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của mỗi lần ký / giải mã</a:t>
            </a:r>
            <a:endParaRPr lang="en-US" sz="2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</a:t>
            </a:r>
            <a:r>
              <a:rPr lang="en-US" sz="2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Mục</a:t>
            </a:r>
            <a:r>
              <a:rPr lang="en-US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tiêu</a:t>
            </a:r>
            <a:r>
              <a:rPr lang="en-US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</a:p>
          <a:p>
            <a:pPr lvl="1"/>
            <a:r>
              <a:rPr lang="en-US" sz="2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Khôi</a:t>
            </a:r>
            <a:r>
              <a:rPr lang="en-US" sz="2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phục</a:t>
            </a:r>
            <a:r>
              <a:rPr lang="en-US" sz="2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private exponent 𝑑 </a:t>
            </a:r>
            <a:r>
              <a:rPr lang="en-US" sz="2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từng</a:t>
            </a:r>
            <a:r>
              <a:rPr lang="en-US" sz="2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bit</a:t>
            </a:r>
          </a:p>
        </p:txBody>
      </p:sp>
    </p:spTree>
    <p:extLst>
      <p:ext uri="{BB962C8B-B14F-4D97-AF65-F5344CB8AC3E}">
        <p14:creationId xmlns:p14="http://schemas.microsoft.com/office/powerpoint/2010/main" val="130903677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40763E-AC7F-EB28-BD09-03DC5045D1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2405" y="286603"/>
            <a:ext cx="10058400" cy="1450757"/>
          </a:xfrm>
        </p:spPr>
        <p:txBody>
          <a:bodyPr/>
          <a:lstStyle/>
          <a:p>
            <a:r>
              <a:rPr lang="en-US" dirty="0"/>
              <a:t>Attack C – Wiener’s Attack / low 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7A103C-824D-63E5-19B2-5C4B19B5AC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969343"/>
            <a:ext cx="12191999" cy="3783757"/>
          </a:xfrm>
        </p:spPr>
        <p:txBody>
          <a:bodyPr>
            <a:normAutofit/>
          </a:bodyPr>
          <a:lstStyle/>
          <a:p>
            <a:r>
              <a:rPr lang="en-US" sz="2800" dirty="0"/>
              <a:t>- </a:t>
            </a:r>
            <a:r>
              <a:rPr lang="en-US" sz="2800" dirty="0" err="1"/>
              <a:t>Khai</a:t>
            </a:r>
            <a:r>
              <a:rPr lang="en-US" sz="2800" dirty="0"/>
              <a:t> </a:t>
            </a:r>
            <a:r>
              <a:rPr lang="en-US" sz="2800" dirty="0" err="1"/>
              <a:t>thác</a:t>
            </a:r>
            <a:r>
              <a:rPr lang="en-US" sz="2800" dirty="0"/>
              <a:t> </a:t>
            </a:r>
            <a:r>
              <a:rPr lang="en-US" sz="2800" dirty="0" err="1"/>
              <a:t>cấu</a:t>
            </a:r>
            <a:r>
              <a:rPr lang="en-US" sz="2800" dirty="0"/>
              <a:t> </a:t>
            </a:r>
            <a:r>
              <a:rPr lang="en-US" sz="2800" dirty="0" err="1"/>
              <a:t>hình</a:t>
            </a:r>
            <a:r>
              <a:rPr lang="en-US" sz="2800" dirty="0"/>
              <a:t> RSA </a:t>
            </a:r>
            <a:r>
              <a:rPr lang="en-US" sz="2800" b="1" dirty="0" err="1"/>
              <a:t>không</a:t>
            </a:r>
            <a:r>
              <a:rPr lang="en-US" sz="2800" b="1" dirty="0"/>
              <a:t> an </a:t>
            </a:r>
            <a:r>
              <a:rPr lang="en-US" sz="2800" b="1" dirty="0" err="1"/>
              <a:t>toàn</a:t>
            </a:r>
            <a:r>
              <a:rPr lang="en-US" sz="2800" b="1" dirty="0"/>
              <a:t> </a:t>
            </a:r>
            <a:r>
              <a:rPr lang="en-US" sz="2800" dirty="0" err="1"/>
              <a:t>khi</a:t>
            </a:r>
            <a:r>
              <a:rPr lang="en-US" sz="2800" dirty="0"/>
              <a:t> </a:t>
            </a:r>
            <a:r>
              <a:rPr lang="en-US" sz="2800" b="1" dirty="0"/>
              <a:t>private exponent 𝑑 </a:t>
            </a:r>
            <a:r>
              <a:rPr lang="en-US" sz="2800" b="1" dirty="0" err="1"/>
              <a:t>quá</a:t>
            </a:r>
            <a:r>
              <a:rPr lang="en-US" sz="2800" b="1" dirty="0"/>
              <a:t> </a:t>
            </a:r>
            <a:r>
              <a:rPr lang="en-US" sz="2800" b="1" dirty="0" err="1"/>
              <a:t>nhỏ</a:t>
            </a:r>
            <a:r>
              <a:rPr lang="en-US" sz="2800" dirty="0"/>
              <a:t>, </a:t>
            </a:r>
            <a:r>
              <a:rPr lang="en-US" sz="2800" dirty="0" err="1"/>
              <a:t>cho</a:t>
            </a:r>
            <a:r>
              <a:rPr lang="en-US" sz="2800" dirty="0"/>
              <a:t> </a:t>
            </a:r>
            <a:r>
              <a:rPr lang="en-US" sz="2800" dirty="0" err="1"/>
              <a:t>phép</a:t>
            </a:r>
            <a:r>
              <a:rPr lang="en-US" sz="2800" dirty="0"/>
              <a:t>:</a:t>
            </a:r>
          </a:p>
          <a:p>
            <a:pPr lvl="1"/>
            <a:r>
              <a:rPr lang="en-US" sz="2800" dirty="0" err="1"/>
              <a:t>Khôi</a:t>
            </a:r>
            <a:r>
              <a:rPr lang="en-US" sz="2800" dirty="0"/>
              <a:t> </a:t>
            </a:r>
            <a:r>
              <a:rPr lang="en-US" sz="2800" dirty="0" err="1"/>
              <a:t>phục</a:t>
            </a:r>
            <a:r>
              <a:rPr lang="en-US" sz="2800" dirty="0"/>
              <a:t> private key</a:t>
            </a:r>
          </a:p>
          <a:p>
            <a:pPr lvl="1"/>
            <a:r>
              <a:rPr lang="en-US" sz="2800" dirty="0" err="1"/>
              <a:t>Chỉ</a:t>
            </a:r>
            <a:r>
              <a:rPr lang="en-US" sz="2800" dirty="0"/>
              <a:t> </a:t>
            </a:r>
            <a:r>
              <a:rPr lang="en-US" sz="2800" dirty="0" err="1"/>
              <a:t>cần</a:t>
            </a:r>
            <a:r>
              <a:rPr lang="en-US" sz="2800" dirty="0"/>
              <a:t> </a:t>
            </a:r>
            <a:r>
              <a:rPr lang="en-US" sz="2800" dirty="0" err="1"/>
              <a:t>khóa</a:t>
            </a:r>
            <a:r>
              <a:rPr lang="en-US" sz="2800" dirty="0"/>
              <a:t> </a:t>
            </a:r>
            <a:r>
              <a:rPr lang="en-US" sz="2800" dirty="0" err="1"/>
              <a:t>công</a:t>
            </a:r>
            <a:r>
              <a:rPr lang="en-US" sz="2800" dirty="0"/>
              <a:t> </a:t>
            </a:r>
            <a:r>
              <a:rPr lang="en-US" sz="2800" dirty="0" err="1"/>
              <a:t>khai</a:t>
            </a:r>
            <a:r>
              <a:rPr lang="en-US" sz="2800" dirty="0"/>
              <a:t> (</a:t>
            </a:r>
            <a:r>
              <a:rPr lang="en-US" sz="2800" dirty="0" err="1"/>
              <a:t>N,e</a:t>
            </a:r>
            <a:r>
              <a:rPr lang="en-US" sz="2800" dirty="0"/>
              <a:t>)</a:t>
            </a:r>
          </a:p>
          <a:p>
            <a:pPr marL="201168" lvl="1" indent="0">
              <a:buNone/>
            </a:pPr>
            <a:r>
              <a:rPr lang="en-US" sz="2800" dirty="0"/>
              <a:t>=&gt; </a:t>
            </a:r>
            <a:r>
              <a:rPr lang="en-US" sz="2800" dirty="0" err="1"/>
              <a:t>Dẫn</a:t>
            </a:r>
            <a:r>
              <a:rPr lang="en-US" sz="2800" dirty="0"/>
              <a:t> </a:t>
            </a:r>
            <a:r>
              <a:rPr lang="en-US" sz="2800" dirty="0" err="1"/>
              <a:t>tới</a:t>
            </a:r>
            <a:r>
              <a:rPr lang="en-US" sz="2800" dirty="0"/>
              <a:t> forgery </a:t>
            </a:r>
            <a:r>
              <a:rPr lang="en-US" sz="2800" dirty="0" err="1"/>
              <a:t>chữ</a:t>
            </a:r>
            <a:r>
              <a:rPr lang="en-US" sz="2800" dirty="0"/>
              <a:t> </a:t>
            </a:r>
            <a:r>
              <a:rPr lang="en-US" sz="2800" dirty="0" err="1"/>
              <a:t>kí</a:t>
            </a:r>
            <a:r>
              <a:rPr lang="en-US" sz="2800" dirty="0"/>
              <a:t> </a:t>
            </a:r>
            <a:r>
              <a:rPr lang="en-US" sz="2800" dirty="0" err="1"/>
              <a:t>số</a:t>
            </a:r>
            <a:r>
              <a:rPr lang="en-US" sz="2800" dirty="0"/>
              <a:t> </a:t>
            </a:r>
            <a:r>
              <a:rPr lang="en-US" sz="2800" dirty="0" err="1"/>
              <a:t>và</a:t>
            </a:r>
            <a:r>
              <a:rPr lang="en-US" sz="2800" dirty="0"/>
              <a:t> Broken Access Control</a:t>
            </a:r>
          </a:p>
        </p:txBody>
      </p:sp>
    </p:spTree>
    <p:extLst>
      <p:ext uri="{BB962C8B-B14F-4D97-AF65-F5344CB8AC3E}">
        <p14:creationId xmlns:p14="http://schemas.microsoft.com/office/powerpoint/2010/main" val="294150928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40763E-AC7F-EB28-BD09-03DC5045D1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2405" y="286603"/>
            <a:ext cx="10058400" cy="1450757"/>
          </a:xfrm>
        </p:spPr>
        <p:txBody>
          <a:bodyPr/>
          <a:lstStyle/>
          <a:p>
            <a:r>
              <a:rPr lang="en-US" dirty="0" err="1"/>
              <a:t>Điều</a:t>
            </a:r>
            <a:r>
              <a:rPr lang="en-US" dirty="0"/>
              <a:t> </a:t>
            </a:r>
            <a:r>
              <a:rPr lang="en-US" dirty="0" err="1"/>
              <a:t>kiện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E7A103C-824D-63E5-19B2-5C4B19B5AC1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0" y="1969343"/>
                <a:ext cx="12191999" cy="3783757"/>
              </a:xfrm>
            </p:spPr>
            <p:txBody>
              <a:bodyPr>
                <a:normAutofit/>
              </a:bodyPr>
              <a:lstStyle/>
              <a:p>
                <a:r>
                  <a:rPr lang="en-US" sz="3200" dirty="0"/>
                  <a:t>Wiener </a:t>
                </a:r>
                <a:r>
                  <a:rPr lang="en-US" sz="3200" dirty="0" err="1"/>
                  <a:t>chứng</a:t>
                </a:r>
                <a:r>
                  <a:rPr lang="en-US" sz="3200" dirty="0"/>
                  <a:t> </a:t>
                </a:r>
                <a:r>
                  <a:rPr lang="en-US" sz="3200" dirty="0" err="1"/>
                  <a:t>minh</a:t>
                </a:r>
                <a:r>
                  <a:rPr lang="en-US" sz="3200" dirty="0"/>
                  <a:t> </a:t>
                </a:r>
                <a:r>
                  <a:rPr lang="en-US" sz="3200" dirty="0" err="1"/>
                  <a:t>tấn</a:t>
                </a:r>
                <a:r>
                  <a:rPr lang="en-US" sz="3200" dirty="0"/>
                  <a:t> </a:t>
                </a:r>
                <a:r>
                  <a:rPr lang="en-US" sz="3200" dirty="0" err="1"/>
                  <a:t>công</a:t>
                </a:r>
                <a:r>
                  <a:rPr lang="en-US" sz="3200" dirty="0"/>
                  <a:t> </a:t>
                </a:r>
                <a:r>
                  <a:rPr lang="en-US" sz="3200" dirty="0" err="1"/>
                  <a:t>thành</a:t>
                </a:r>
                <a:r>
                  <a:rPr lang="en-US" sz="3200" dirty="0"/>
                  <a:t> </a:t>
                </a:r>
                <a:r>
                  <a:rPr lang="en-US" sz="3200" dirty="0" err="1"/>
                  <a:t>công</a:t>
                </a:r>
                <a:r>
                  <a:rPr lang="en-US" sz="3200" dirty="0"/>
                  <a:t> </a:t>
                </a:r>
                <a:r>
                  <a:rPr lang="en-US" sz="3200" dirty="0" err="1"/>
                  <a:t>nếu</a:t>
                </a:r>
                <a:r>
                  <a:rPr lang="en-US" sz="3200" dirty="0"/>
                  <a:t>: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&lt; </m:t>
                    </m:r>
                    <m:f>
                      <m:f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sSup>
                      <m:sSup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f>
                          <m:fPr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den>
                        </m:f>
                      </m:sup>
                    </m:sSup>
                  </m:oMath>
                </a14:m>
                <a:endParaRPr lang="en-US" sz="3200" dirty="0"/>
              </a:p>
              <a:p>
                <a:r>
                  <a:rPr lang="vi-VN" sz="3200" dirty="0">
                    <a:latin typeface="Calibri (Body)"/>
                  </a:rPr>
                  <a:t>với giả thiết RSA chuẩn: p, q có kích thước gần nhau.</a:t>
                </a:r>
              </a:p>
              <a:p>
                <a:r>
                  <a:rPr lang="en-US" sz="2800" dirty="0"/>
                  <a:t>- </a:t>
                </a:r>
                <a:r>
                  <a:rPr lang="en-US" sz="2800" dirty="0" err="1"/>
                  <a:t>Thường</a:t>
                </a:r>
                <a:r>
                  <a:rPr lang="en-US" sz="2800" dirty="0"/>
                  <a:t> </a:t>
                </a:r>
                <a:r>
                  <a:rPr lang="en-US" sz="2800" dirty="0" err="1"/>
                  <a:t>thấy</a:t>
                </a:r>
                <a:r>
                  <a:rPr lang="en-US" sz="2800" dirty="0"/>
                  <a:t> </a:t>
                </a:r>
                <a:r>
                  <a:rPr lang="en-US" sz="2800" dirty="0" err="1"/>
                  <a:t>trong</a:t>
                </a:r>
                <a:r>
                  <a:rPr lang="en-US" sz="2800" dirty="0"/>
                  <a:t> </a:t>
                </a:r>
                <a:r>
                  <a:rPr lang="en-US" sz="2800" dirty="0" err="1"/>
                  <a:t>việc</a:t>
                </a:r>
                <a:r>
                  <a:rPr lang="en-US" sz="2800" dirty="0"/>
                  <a:t> </a:t>
                </a:r>
                <a:r>
                  <a:rPr lang="en-US" sz="2800" dirty="0" err="1"/>
                  <a:t>tự</a:t>
                </a:r>
                <a:r>
                  <a:rPr lang="en-US" sz="2800" dirty="0"/>
                  <a:t> </a:t>
                </a:r>
                <a:r>
                  <a:rPr lang="en-US" sz="2800" dirty="0" err="1"/>
                  <a:t>triển</a:t>
                </a:r>
                <a:r>
                  <a:rPr lang="en-US" sz="2800" dirty="0"/>
                  <a:t> </a:t>
                </a:r>
                <a:r>
                  <a:rPr lang="en-US" sz="2800" dirty="0" err="1"/>
                  <a:t>khai</a:t>
                </a:r>
                <a:r>
                  <a:rPr lang="en-US" sz="2800" dirty="0"/>
                  <a:t> RSA</a:t>
                </a:r>
              </a:p>
              <a:p>
                <a:r>
                  <a:rPr lang="en-US" sz="2800" dirty="0"/>
                  <a:t>- </a:t>
                </a:r>
                <a:r>
                  <a:rPr lang="en-US" sz="2800" dirty="0" err="1"/>
                  <a:t>Các</a:t>
                </a:r>
                <a:r>
                  <a:rPr lang="en-US" sz="2800" dirty="0"/>
                  <a:t> </a:t>
                </a:r>
                <a:r>
                  <a:rPr lang="en-US" sz="2800" dirty="0" err="1"/>
                  <a:t>phần</a:t>
                </a:r>
                <a:r>
                  <a:rPr lang="en-US" sz="2800" dirty="0"/>
                  <a:t> </a:t>
                </a:r>
                <a:r>
                  <a:rPr lang="en-US" sz="2800" dirty="0" err="1"/>
                  <a:t>cứng</a:t>
                </a:r>
                <a:r>
                  <a:rPr lang="en-US" sz="2800" dirty="0"/>
                  <a:t> </a:t>
                </a:r>
                <a:r>
                  <a:rPr lang="en-US" sz="2800" dirty="0" err="1"/>
                  <a:t>bị</a:t>
                </a:r>
                <a:r>
                  <a:rPr lang="en-US" sz="2800" dirty="0"/>
                  <a:t> </a:t>
                </a:r>
                <a:r>
                  <a:rPr lang="en-US" sz="2800" dirty="0" err="1"/>
                  <a:t>hạn</a:t>
                </a:r>
                <a:r>
                  <a:rPr lang="en-US" sz="2800" dirty="0"/>
                  <a:t> </a:t>
                </a:r>
                <a:r>
                  <a:rPr lang="en-US" sz="2800" dirty="0" err="1"/>
                  <a:t>chế</a:t>
                </a:r>
                <a:r>
                  <a:rPr lang="en-US" sz="2800" dirty="0"/>
                  <a:t>, </a:t>
                </a:r>
                <a:r>
                  <a:rPr lang="en-US" sz="2800" dirty="0" err="1"/>
                  <a:t>phải</a:t>
                </a:r>
                <a:r>
                  <a:rPr lang="en-US" sz="2800" dirty="0"/>
                  <a:t> </a:t>
                </a:r>
                <a:r>
                  <a:rPr lang="en-US" sz="2800" dirty="0" err="1"/>
                  <a:t>tối</a:t>
                </a:r>
                <a:r>
                  <a:rPr lang="en-US" sz="2800" dirty="0"/>
                  <a:t> </a:t>
                </a:r>
                <a:r>
                  <a:rPr lang="en-US" sz="2800" dirty="0" err="1"/>
                  <a:t>ưu</a:t>
                </a:r>
                <a:endParaRPr lang="en-US" sz="2800" dirty="0"/>
              </a:p>
              <a:p>
                <a:pPr marL="0" indent="0">
                  <a:buNone/>
                </a:pPr>
                <a:endParaRPr lang="en-US" sz="28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E7A103C-824D-63E5-19B2-5C4B19B5AC1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0" y="1969343"/>
                <a:ext cx="12191999" cy="3783757"/>
              </a:xfrm>
              <a:blipFill>
                <a:blip r:embed="rId2"/>
                <a:stretch>
                  <a:fillRect l="-1250" t="-33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2636504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AE38B6-F7AA-F477-A900-EC70CD091C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9680" y="301627"/>
            <a:ext cx="10058400" cy="1450757"/>
          </a:xfrm>
        </p:spPr>
        <p:txBody>
          <a:bodyPr/>
          <a:lstStyle/>
          <a:p>
            <a:r>
              <a:rPr lang="en-US" dirty="0"/>
              <a:t>Ý </a:t>
            </a:r>
            <a:r>
              <a:rPr lang="en-US" dirty="0" err="1"/>
              <a:t>tưởng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8148CA2-C224-7EF2-54DA-633C3196CDD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325880" y="1883834"/>
                <a:ext cx="7237095" cy="4364566"/>
              </a:xfrm>
            </p:spPr>
            <p:txBody>
              <a:bodyPr>
                <a:normAutofit fontScale="85000" lnSpcReduction="20000"/>
              </a:bodyPr>
              <a:lstStyle/>
              <a:p>
                <a:r>
                  <a:rPr lang="en-US" b="1" dirty="0"/>
                  <a:t>Quan </a:t>
                </a:r>
                <a:r>
                  <a:rPr lang="en-US" b="1" dirty="0" err="1"/>
                  <a:t>sát</a:t>
                </a:r>
                <a:r>
                  <a:rPr lang="en-US" b="1" dirty="0"/>
                  <a:t> </a:t>
                </a:r>
                <a:r>
                  <a:rPr lang="en-US" b="1" dirty="0" err="1"/>
                  <a:t>chính</a:t>
                </a:r>
                <a:endParaRPr lang="en-US" b="1" dirty="0"/>
              </a:p>
              <a:p>
                <a:r>
                  <a:rPr lang="en-US" dirty="0"/>
                  <a:t>Trong RSA, ta </a:t>
                </a:r>
                <a:r>
                  <a:rPr lang="en-US" dirty="0" err="1"/>
                  <a:t>có</a:t>
                </a:r>
                <a:r>
                  <a:rPr lang="en-US" dirty="0"/>
                  <a:t>: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𝑒𝑑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≡1 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𝑚𝑜𝑑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𝜑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𝑁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𝑒𝑑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𝜑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</m:t>
                    </m:r>
                  </m:oMath>
                </a14:m>
                <a:endParaRPr lang="en-US" dirty="0"/>
              </a:p>
              <a:p>
                <a:r>
                  <a:rPr lang="en-US" dirty="0"/>
                  <a:t>Chia </a:t>
                </a:r>
                <a:r>
                  <a:rPr lang="en-US" dirty="0" err="1"/>
                  <a:t>hai</a:t>
                </a:r>
                <a:r>
                  <a:rPr lang="en-US" dirty="0"/>
                  <a:t> </a:t>
                </a:r>
                <a:r>
                  <a:rPr lang="en-US" dirty="0" err="1"/>
                  <a:t>vế</a:t>
                </a:r>
                <a:r>
                  <a:rPr lang="en-US" dirty="0"/>
                  <a:t> </a:t>
                </a:r>
                <a:r>
                  <a:rPr lang="en-US" dirty="0" err="1"/>
                  <a:t>cho</a:t>
                </a:r>
                <a:r>
                  <a:rPr lang="en-US" b="0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𝜑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:</a:t>
                </a:r>
              </a:p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num>
                      <m:den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𝜑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𝜑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endParaRPr lang="en-US" dirty="0"/>
              </a:p>
              <a:p>
                <a:r>
                  <a:rPr lang="en-US" dirty="0"/>
                  <a:t>VÌ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𝜑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/>
                  <a:t> (</a:t>
                </a:r>
                <a:r>
                  <a:rPr lang="en-US" dirty="0" err="1"/>
                  <a:t>khi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), </a:t>
                </a:r>
                <a:r>
                  <a:rPr lang="en-US" dirty="0" err="1"/>
                  <a:t>nên</a:t>
                </a:r>
                <a:r>
                  <a:rPr lang="en-US" dirty="0"/>
                  <a:t>:</a:t>
                </a:r>
              </a:p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</m:den>
                    </m:f>
                  </m:oMath>
                </a14:m>
                <a:endParaRPr lang="en-US" dirty="0"/>
              </a:p>
              <a:p>
                <a:r>
                  <a:rPr lang="en-US" dirty="0" err="1"/>
                  <a:t>Điểm</a:t>
                </a:r>
                <a:r>
                  <a:rPr lang="en-US" dirty="0"/>
                  <a:t> </a:t>
                </a:r>
                <a:r>
                  <a:rPr lang="en-US" dirty="0" err="1"/>
                  <a:t>mấu</a:t>
                </a:r>
                <a:r>
                  <a:rPr lang="en-US" dirty="0"/>
                  <a:t> </a:t>
                </a:r>
                <a:r>
                  <a:rPr lang="en-US" dirty="0" err="1"/>
                  <a:t>chốt</a:t>
                </a:r>
                <a:r>
                  <a:rPr lang="en-US" dirty="0"/>
                  <a:t> </a:t>
                </a:r>
                <a:r>
                  <a:rPr lang="en-US" dirty="0" err="1"/>
                  <a:t>của</a:t>
                </a:r>
                <a:r>
                  <a:rPr lang="en-US" dirty="0"/>
                  <a:t> Wiener, </a:t>
                </a:r>
                <a:r>
                  <a:rPr lang="en-US" dirty="0" err="1"/>
                  <a:t>nếu</a:t>
                </a:r>
                <a:r>
                  <a:rPr lang="en-US" dirty="0"/>
                  <a:t> d </a:t>
                </a:r>
                <a:r>
                  <a:rPr lang="en-US" dirty="0" err="1"/>
                  <a:t>rất</a:t>
                </a:r>
                <a:r>
                  <a:rPr lang="en-US" dirty="0"/>
                  <a:t> </a:t>
                </a:r>
                <a:r>
                  <a:rPr lang="en-US" dirty="0" err="1"/>
                  <a:t>nhỏ</a:t>
                </a:r>
                <a:r>
                  <a:rPr lang="en-US" dirty="0"/>
                  <a:t>: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&lt; </m:t>
                    </m:r>
                    <m:f>
                      <m:f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f>
                          <m:f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den>
                        </m:f>
                      </m:sup>
                    </m:sSup>
                  </m:oMath>
                </a14:m>
                <a:endParaRPr lang="en-US" dirty="0"/>
              </a:p>
              <a:p>
                <a:r>
                  <a:rPr lang="en-US" dirty="0" err="1"/>
                  <a:t>Thì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sẽ</a:t>
                </a:r>
                <a:r>
                  <a:rPr lang="en-US" dirty="0"/>
                  <a:t> </a:t>
                </a:r>
                <a:r>
                  <a:rPr lang="en-US" dirty="0" err="1"/>
                  <a:t>xuất</a:t>
                </a:r>
                <a:r>
                  <a:rPr lang="en-US" dirty="0"/>
                  <a:t> </a:t>
                </a:r>
                <a:r>
                  <a:rPr lang="en-US" dirty="0" err="1"/>
                  <a:t>hiện</a:t>
                </a:r>
                <a:r>
                  <a:rPr lang="en-US" dirty="0"/>
                  <a:t> </a:t>
                </a:r>
                <a:r>
                  <a:rPr lang="en-US" dirty="0" err="1"/>
                  <a:t>như</a:t>
                </a:r>
                <a:r>
                  <a:rPr lang="en-US" dirty="0"/>
                  <a:t> </a:t>
                </a:r>
                <a:r>
                  <a:rPr lang="en-US" dirty="0" err="1"/>
                  <a:t>một</a:t>
                </a:r>
                <a:r>
                  <a:rPr lang="en-US" dirty="0"/>
                  <a:t> convergent </a:t>
                </a:r>
                <a:r>
                  <a:rPr lang="en-US" dirty="0" err="1"/>
                  <a:t>trong</a:t>
                </a:r>
                <a:r>
                  <a:rPr lang="en-US" dirty="0"/>
                  <a:t> continued fraction </a:t>
                </a:r>
                <a:r>
                  <a:rPr lang="en-US" dirty="0" err="1"/>
                  <a:t>của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𝑒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8148CA2-C224-7EF2-54DA-633C3196CDD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325880" y="1883834"/>
                <a:ext cx="7237095" cy="4364566"/>
              </a:xfrm>
              <a:blipFill>
                <a:blip r:embed="rId2"/>
                <a:stretch>
                  <a:fillRect l="-590" t="-19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5830719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AE38B6-F7AA-F477-A900-EC70CD091C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880" y="301627"/>
            <a:ext cx="10058400" cy="1450757"/>
          </a:xfrm>
        </p:spPr>
        <p:txBody>
          <a:bodyPr/>
          <a:lstStyle/>
          <a:p>
            <a:r>
              <a:rPr lang="en-US" dirty="0"/>
              <a:t>Ý </a:t>
            </a:r>
            <a:r>
              <a:rPr lang="en-US" dirty="0" err="1"/>
              <a:t>tưởng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765A788E-B8B4-1A01-542F-D63F2E60F66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63880" y="1752384"/>
                <a:ext cx="6589395" cy="4364566"/>
              </a:xfrm>
              <a:prstGeom prst="rect">
                <a:avLst/>
              </a:prstGeom>
            </p:spPr>
            <p:txBody>
              <a:bodyPr vert="horz" lIns="0" tIns="45720" rIns="0" bIns="45720" rtlCol="0">
                <a:normAutofit/>
              </a:bodyPr>
              <a:lstStyle>
                <a:lvl1pPr marL="91440" indent="-91440" algn="l" defTabSz="914400" rtl="0" eaLnBrk="1" latinLnBrk="0" hangingPunct="1">
                  <a:lnSpc>
                    <a:spcPct val="90000"/>
                  </a:lnSpc>
                  <a:spcBef>
                    <a:spcPts val="1200"/>
                  </a:spcBef>
                  <a:spcAft>
                    <a:spcPts val="200"/>
                  </a:spcAft>
                  <a:buClr>
                    <a:schemeClr val="accent1"/>
                  </a:buClr>
                  <a:buSzPct val="100000"/>
                  <a:buFont typeface="Calibri" panose="020F0502020204030204" pitchFamily="34" charset="0"/>
                  <a:buChar char=" "/>
                  <a:defRPr sz="20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38404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56692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74980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93268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11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6pPr>
                <a:lvl7pPr marL="13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7pPr>
                <a:lvl8pPr marL="15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8pPr>
                <a:lvl9pPr marL="17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b="1" dirty="0"/>
                  <a:t>Cách </a:t>
                </a:r>
                <a:r>
                  <a:rPr lang="en-US" b="1" dirty="0" err="1"/>
                  <a:t>tấn</a:t>
                </a:r>
                <a:r>
                  <a:rPr lang="en-US" b="1" dirty="0"/>
                  <a:t> </a:t>
                </a:r>
                <a:r>
                  <a:rPr lang="en-US" b="1" dirty="0" err="1"/>
                  <a:t>công</a:t>
                </a:r>
                <a:endParaRPr lang="en-US" b="1" dirty="0"/>
              </a:p>
              <a:p>
                <a:r>
                  <a:rPr lang="en-US" dirty="0"/>
                  <a:t>1. </a:t>
                </a:r>
                <a:r>
                  <a:rPr lang="en-US" dirty="0" err="1"/>
                  <a:t>Tính</a:t>
                </a:r>
                <a:r>
                  <a:rPr lang="en-US" dirty="0"/>
                  <a:t> </a:t>
                </a:r>
                <a:r>
                  <a:rPr lang="en-US" dirty="0" err="1"/>
                  <a:t>từng</a:t>
                </a:r>
                <a:r>
                  <a:rPr lang="en-US" dirty="0"/>
                  <a:t> continued fraction </a:t>
                </a:r>
                <a:r>
                  <a:rPr lang="en-US" dirty="0" err="1"/>
                  <a:t>của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𝑒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2. </a:t>
                </a:r>
                <a:r>
                  <a:rPr lang="en-US" dirty="0" err="1"/>
                  <a:t>Duyệt</a:t>
                </a:r>
                <a:r>
                  <a:rPr lang="en-US" dirty="0"/>
                  <a:t> </a:t>
                </a:r>
                <a:r>
                  <a:rPr lang="en-US" dirty="0" err="1"/>
                  <a:t>từng</a:t>
                </a:r>
                <a:r>
                  <a:rPr lang="en-US" dirty="0"/>
                  <a:t> convergent </a:t>
                </a:r>
                <a:r>
                  <a:rPr lang="en-US" dirty="0" err="1"/>
                  <a:t>của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den>
                    </m:f>
                  </m:oMath>
                </a14:m>
                <a:endParaRPr lang="en-US" dirty="0"/>
              </a:p>
              <a:p>
                <a:r>
                  <a:rPr lang="en-US" dirty="0"/>
                  <a:t>3. </a:t>
                </a:r>
                <a:r>
                  <a:rPr lang="en-US" dirty="0" err="1"/>
                  <a:t>Với</a:t>
                </a:r>
                <a:r>
                  <a:rPr lang="en-US" dirty="0"/>
                  <a:t> </a:t>
                </a:r>
                <a:r>
                  <a:rPr lang="en-US" dirty="0" err="1"/>
                  <a:t>mỗi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, </a:t>
                </a:r>
                <a:r>
                  <a:rPr lang="en-US" dirty="0" err="1"/>
                  <a:t>suy</a:t>
                </a:r>
                <a:r>
                  <a:rPr lang="en-US" dirty="0"/>
                  <a:t> </a:t>
                </a:r>
                <a:r>
                  <a:rPr lang="en-US" dirty="0" err="1"/>
                  <a:t>ra</a:t>
                </a:r>
                <a:r>
                  <a:rPr lang="en-US" dirty="0"/>
                  <a:t>: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𝜑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num>
                      <m:den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den>
                    </m:f>
                  </m:oMath>
                </a14:m>
                <a:endParaRPr lang="en-US" dirty="0"/>
              </a:p>
              <a:p>
                <a:r>
                  <a:rPr lang="en-US" dirty="0"/>
                  <a:t>4. </a:t>
                </a:r>
                <a:r>
                  <a:rPr lang="en-US" dirty="0" err="1"/>
                  <a:t>Từ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𝜑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e>
                    </m:d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giải</a:t>
                </a:r>
                <a:r>
                  <a:rPr lang="en-US" dirty="0"/>
                  <a:t> </a:t>
                </a:r>
                <a:r>
                  <a:rPr lang="en-US" dirty="0" err="1"/>
                  <a:t>ra</a:t>
                </a:r>
                <a:r>
                  <a:rPr lang="en-US" dirty="0"/>
                  <a:t> </a:t>
                </a:r>
                <a:r>
                  <a:rPr lang="en-US" dirty="0" err="1"/>
                  <a:t>p,q</a:t>
                </a:r>
                <a:r>
                  <a:rPr lang="en-US" dirty="0"/>
                  <a:t> =&gt; </a:t>
                </a:r>
                <a:r>
                  <a:rPr lang="en-US" dirty="0" err="1"/>
                  <a:t>dựng</a:t>
                </a:r>
                <a:r>
                  <a:rPr lang="en-US" dirty="0"/>
                  <a:t> </a:t>
                </a:r>
                <a:r>
                  <a:rPr lang="en-US" dirty="0" err="1"/>
                  <a:t>lại</a:t>
                </a:r>
                <a:r>
                  <a:rPr lang="en-US" dirty="0"/>
                  <a:t> private key</a:t>
                </a: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765A788E-B8B4-1A01-542F-D63F2E60F6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880" y="1752384"/>
                <a:ext cx="6589395" cy="4364566"/>
              </a:xfrm>
              <a:prstGeom prst="rect">
                <a:avLst/>
              </a:prstGeom>
              <a:blipFill>
                <a:blip r:embed="rId2"/>
                <a:stretch>
                  <a:fillRect l="-1019" t="-13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Content Placeholder 4">
            <a:extLst>
              <a:ext uri="{FF2B5EF4-FFF2-40B4-BE49-F238E27FC236}">
                <a16:creationId xmlns:a16="http://schemas.microsoft.com/office/drawing/2014/main" id="{57AEDB6B-24DF-EDCC-2B35-516C7CC957C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908311"/>
            <a:ext cx="12192000" cy="1499078"/>
          </a:xfrm>
        </p:spPr>
      </p:pic>
    </p:spTree>
    <p:extLst>
      <p:ext uri="{BB962C8B-B14F-4D97-AF65-F5344CB8AC3E}">
        <p14:creationId xmlns:p14="http://schemas.microsoft.com/office/powerpoint/2010/main" val="123510855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B0150-081F-3211-A95E-E15A98B8D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63527"/>
            <a:ext cx="10058400" cy="1450757"/>
          </a:xfrm>
        </p:spPr>
        <p:txBody>
          <a:bodyPr/>
          <a:lstStyle/>
          <a:p>
            <a:r>
              <a:rPr lang="en-US" dirty="0" err="1"/>
              <a:t>Kết</a:t>
            </a:r>
            <a:r>
              <a:rPr lang="en-US" dirty="0"/>
              <a:t> </a:t>
            </a:r>
            <a:r>
              <a:rPr lang="en-US" dirty="0" err="1"/>
              <a:t>quả</a:t>
            </a:r>
            <a:r>
              <a:rPr lang="en-US" dirty="0"/>
              <a:t> - Attack C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65CED2E-5034-A152-2EF1-5CE331C2DB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804777" y="1855703"/>
            <a:ext cx="8387223" cy="4024313"/>
          </a:xfr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BA28423-2208-1782-0F63-59F4812F628A}"/>
              </a:ext>
            </a:extLst>
          </p:cNvPr>
          <p:cNvSpPr txBox="1">
            <a:spLocks/>
          </p:cNvSpPr>
          <p:nvPr/>
        </p:nvSpPr>
        <p:spPr>
          <a:xfrm>
            <a:off x="0" y="1940625"/>
            <a:ext cx="3663616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buFont typeface="Symbol" panose="05050102010706020507" pitchFamily="18" charset="2"/>
              <a:buChar char="Þ"/>
            </a:pPr>
            <a:r>
              <a:rPr lang="en-US" sz="2400" dirty="0" err="1">
                <a:latin typeface="Calibri (Body)"/>
              </a:rPr>
              <a:t>Tốn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khoảng</a:t>
            </a:r>
            <a:r>
              <a:rPr lang="en-US" sz="2400" dirty="0">
                <a:latin typeface="Calibri (Body)"/>
              </a:rPr>
              <a:t> 0.02s </a:t>
            </a:r>
            <a:r>
              <a:rPr lang="en-US" sz="2400" dirty="0" err="1">
                <a:latin typeface="Calibri (Body)"/>
              </a:rPr>
              <a:t>để</a:t>
            </a:r>
            <a:r>
              <a:rPr lang="en-US" sz="2400" dirty="0">
                <a:latin typeface="Calibri (Body)"/>
              </a:rPr>
              <a:t> attack </a:t>
            </a:r>
            <a:r>
              <a:rPr lang="en-US" sz="2400" dirty="0" err="1">
                <a:latin typeface="Calibri (Body)"/>
              </a:rPr>
              <a:t>thành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công</a:t>
            </a:r>
            <a:endParaRPr lang="en-US" sz="2400" dirty="0">
              <a:latin typeface="Calibri (Body)"/>
            </a:endParaRPr>
          </a:p>
          <a:p>
            <a:pPr marL="201168" lvl="1" indent="0">
              <a:buNone/>
            </a:pPr>
            <a:r>
              <a:rPr lang="en-US" dirty="0">
                <a:latin typeface="Calibri (Body)"/>
              </a:rPr>
              <a:t>- Qua </a:t>
            </a:r>
            <a:r>
              <a:rPr lang="en-US" dirty="0" err="1">
                <a:latin typeface="Calibri (Body)"/>
              </a:rPr>
              <a:t>đó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chứng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minh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rằng</a:t>
            </a:r>
            <a:r>
              <a:rPr lang="en-US" dirty="0">
                <a:latin typeface="Calibri (Body)"/>
              </a:rPr>
              <a:t>, </a:t>
            </a:r>
            <a:r>
              <a:rPr lang="en-US" dirty="0" err="1">
                <a:latin typeface="Calibri (Body)"/>
              </a:rPr>
              <a:t>giả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thuyết</a:t>
            </a:r>
            <a:r>
              <a:rPr lang="en-US" dirty="0">
                <a:latin typeface="Calibri (Body)"/>
              </a:rPr>
              <a:t> small exponent </a:t>
            </a:r>
            <a:r>
              <a:rPr lang="en-US" dirty="0" err="1">
                <a:latin typeface="Calibri (Body)"/>
              </a:rPr>
              <a:t>misue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là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nguyên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nhân</a:t>
            </a:r>
            <a:r>
              <a:rPr lang="en-US" dirty="0">
                <a:latin typeface="Calibri (Body)"/>
              </a:rPr>
              <a:t> compromise </a:t>
            </a:r>
            <a:r>
              <a:rPr lang="en-US" dirty="0" err="1">
                <a:latin typeface="Calibri (Body)"/>
              </a:rPr>
              <a:t>thực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tế</a:t>
            </a:r>
            <a:r>
              <a:rPr lang="en-US" dirty="0">
                <a:latin typeface="Calibri (Body)"/>
              </a:rPr>
              <a:t>, </a:t>
            </a:r>
            <a:r>
              <a:rPr lang="en-US" dirty="0" err="1">
                <a:latin typeface="Calibri (Body)"/>
              </a:rPr>
              <a:t>có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thể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dẫn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đến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cơ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chế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xác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thực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không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còn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đáng</a:t>
            </a:r>
            <a:r>
              <a:rPr lang="en-US" dirty="0">
                <a:latin typeface="Calibri (Body)"/>
              </a:rPr>
              <a:t> tin</a:t>
            </a:r>
          </a:p>
        </p:txBody>
      </p:sp>
    </p:spTree>
    <p:extLst>
      <p:ext uri="{BB962C8B-B14F-4D97-AF65-F5344CB8AC3E}">
        <p14:creationId xmlns:p14="http://schemas.microsoft.com/office/powerpoint/2010/main" val="155281697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B0150-081F-3211-A95E-E15A98B8D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63527"/>
            <a:ext cx="10058400" cy="1450757"/>
          </a:xfrm>
        </p:spPr>
        <p:txBody>
          <a:bodyPr/>
          <a:lstStyle/>
          <a:p>
            <a:r>
              <a:rPr lang="en-US" dirty="0" err="1"/>
              <a:t>Kết</a:t>
            </a:r>
            <a:r>
              <a:rPr lang="en-US" dirty="0"/>
              <a:t> </a:t>
            </a:r>
            <a:r>
              <a:rPr lang="en-US" dirty="0" err="1"/>
              <a:t>quả</a:t>
            </a:r>
            <a:r>
              <a:rPr lang="en-US" dirty="0"/>
              <a:t> - Attack C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65CED2E-5034-A152-2EF1-5CE331C2DB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804777" y="1855703"/>
            <a:ext cx="8387223" cy="4024313"/>
          </a:xfr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BA28423-2208-1782-0F63-59F4812F628A}"/>
              </a:ext>
            </a:extLst>
          </p:cNvPr>
          <p:cNvSpPr txBox="1">
            <a:spLocks/>
          </p:cNvSpPr>
          <p:nvPr/>
        </p:nvSpPr>
        <p:spPr>
          <a:xfrm>
            <a:off x="0" y="1940625"/>
            <a:ext cx="3663616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buFont typeface="Symbol" panose="05050102010706020507" pitchFamily="18" charset="2"/>
              <a:buChar char="Þ"/>
            </a:pPr>
            <a:r>
              <a:rPr lang="en-US" sz="2400" dirty="0" err="1">
                <a:latin typeface="Calibri (Body)"/>
              </a:rPr>
              <a:t>Tốn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khoảng</a:t>
            </a:r>
            <a:r>
              <a:rPr lang="en-US" sz="2400" dirty="0">
                <a:latin typeface="Calibri (Body)"/>
              </a:rPr>
              <a:t> 0.02s </a:t>
            </a:r>
            <a:r>
              <a:rPr lang="en-US" sz="2400" dirty="0" err="1">
                <a:latin typeface="Calibri (Body)"/>
              </a:rPr>
              <a:t>để</a:t>
            </a:r>
            <a:r>
              <a:rPr lang="en-US" sz="2400" dirty="0">
                <a:latin typeface="Calibri (Body)"/>
              </a:rPr>
              <a:t> attack </a:t>
            </a:r>
            <a:r>
              <a:rPr lang="en-US" sz="2400" dirty="0" err="1">
                <a:latin typeface="Calibri (Body)"/>
              </a:rPr>
              <a:t>thành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công</a:t>
            </a:r>
            <a:endParaRPr lang="en-US" sz="2400" dirty="0">
              <a:latin typeface="Calibri (Body)"/>
            </a:endParaRPr>
          </a:p>
          <a:p>
            <a:pPr marL="201168" lvl="1" indent="0">
              <a:buNone/>
            </a:pPr>
            <a:r>
              <a:rPr lang="en-US" dirty="0">
                <a:latin typeface="Calibri (Body)"/>
              </a:rPr>
              <a:t>- Qua </a:t>
            </a:r>
            <a:r>
              <a:rPr lang="en-US" dirty="0" err="1">
                <a:latin typeface="Calibri (Body)"/>
              </a:rPr>
              <a:t>đó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chứng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minh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rằng</a:t>
            </a:r>
            <a:r>
              <a:rPr lang="en-US" dirty="0">
                <a:latin typeface="Calibri (Body)"/>
              </a:rPr>
              <a:t>, </a:t>
            </a:r>
            <a:r>
              <a:rPr lang="en-US" dirty="0" err="1">
                <a:latin typeface="Calibri (Body)"/>
              </a:rPr>
              <a:t>giả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thuyết</a:t>
            </a:r>
            <a:r>
              <a:rPr lang="en-US" dirty="0">
                <a:latin typeface="Calibri (Body)"/>
              </a:rPr>
              <a:t> small exponent </a:t>
            </a:r>
            <a:r>
              <a:rPr lang="en-US" dirty="0" err="1">
                <a:latin typeface="Calibri (Body)"/>
              </a:rPr>
              <a:t>misue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là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nguyên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nhân</a:t>
            </a:r>
            <a:r>
              <a:rPr lang="en-US" dirty="0">
                <a:latin typeface="Calibri (Body)"/>
              </a:rPr>
              <a:t> compromise </a:t>
            </a:r>
            <a:r>
              <a:rPr lang="en-US" dirty="0" err="1">
                <a:latin typeface="Calibri (Body)"/>
              </a:rPr>
              <a:t>thực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tế</a:t>
            </a:r>
            <a:r>
              <a:rPr lang="en-US" dirty="0">
                <a:latin typeface="Calibri (Body)"/>
              </a:rPr>
              <a:t>, </a:t>
            </a:r>
            <a:r>
              <a:rPr lang="en-US" dirty="0" err="1">
                <a:latin typeface="Calibri (Body)"/>
              </a:rPr>
              <a:t>có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thể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dẫn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đến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cơ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chế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xác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thực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không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còn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đáng</a:t>
            </a:r>
            <a:r>
              <a:rPr lang="en-US" dirty="0">
                <a:latin typeface="Calibri (Body)"/>
              </a:rPr>
              <a:t> tin</a:t>
            </a:r>
          </a:p>
        </p:txBody>
      </p:sp>
    </p:spTree>
    <p:extLst>
      <p:ext uri="{BB962C8B-B14F-4D97-AF65-F5344CB8AC3E}">
        <p14:creationId xmlns:p14="http://schemas.microsoft.com/office/powerpoint/2010/main" val="343325237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E10978-8FD7-9E73-86CD-1D5BED9A5E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155" y="208311"/>
            <a:ext cx="10058400" cy="1450757"/>
          </a:xfrm>
        </p:spPr>
        <p:txBody>
          <a:bodyPr/>
          <a:lstStyle/>
          <a:p>
            <a:r>
              <a:rPr lang="en-US" dirty="0" err="1"/>
              <a:t>Kết</a:t>
            </a:r>
            <a:r>
              <a:rPr lang="en-US" dirty="0"/>
              <a:t> </a:t>
            </a:r>
            <a:r>
              <a:rPr lang="en-US" dirty="0" err="1"/>
              <a:t>quả</a:t>
            </a:r>
            <a:r>
              <a:rPr lang="en-US" dirty="0"/>
              <a:t> - Attack C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9CB913E-247B-B5E5-E7F4-7C5FA68215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724584"/>
            <a:ext cx="12192000" cy="1542681"/>
          </a:xfrm>
          <a:prstGeom prst="rect">
            <a:avLst/>
          </a:prstGeom>
        </p:spPr>
      </p:pic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145FC503-25AF-2A19-1C5B-C0C441F4E8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38487"/>
            <a:ext cx="6459855" cy="658919"/>
          </a:xfrm>
        </p:spPr>
        <p:txBody>
          <a:bodyPr/>
          <a:lstStyle/>
          <a:p>
            <a:r>
              <a:rPr lang="en-US" b="1" dirty="0"/>
              <a:t>- D bits </a:t>
            </a:r>
            <a:r>
              <a:rPr lang="en-US" b="1" dirty="0" err="1"/>
              <a:t>trước</a:t>
            </a:r>
            <a:r>
              <a:rPr lang="en-US" b="1" dirty="0"/>
              <a:t> </a:t>
            </a:r>
            <a:r>
              <a:rPr lang="en-US" b="1" dirty="0" err="1"/>
              <a:t>khi</a:t>
            </a:r>
            <a:r>
              <a:rPr lang="en-US" b="1" dirty="0"/>
              <a:t> </a:t>
            </a:r>
            <a:r>
              <a:rPr lang="en-US" b="1" dirty="0" err="1"/>
              <a:t>vá</a:t>
            </a:r>
            <a:r>
              <a:rPr lang="en-US" b="1" dirty="0"/>
              <a:t>: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F6E877C-D3F9-D5BB-984E-1538F6E464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276596"/>
            <a:ext cx="8935968" cy="1651042"/>
          </a:xfrm>
          <a:prstGeom prst="rect">
            <a:avLst/>
          </a:prstGeom>
        </p:spPr>
      </p:pic>
      <p:sp>
        <p:nvSpPr>
          <p:cNvPr id="12" name="Content Placeholder 8">
            <a:extLst>
              <a:ext uri="{FF2B5EF4-FFF2-40B4-BE49-F238E27FC236}">
                <a16:creationId xmlns:a16="http://schemas.microsoft.com/office/drawing/2014/main" id="{1A90F1BE-1D35-FE8C-7192-78B83413B14A}"/>
              </a:ext>
            </a:extLst>
          </p:cNvPr>
          <p:cNvSpPr txBox="1">
            <a:spLocks/>
          </p:cNvSpPr>
          <p:nvPr/>
        </p:nvSpPr>
        <p:spPr>
          <a:xfrm>
            <a:off x="0" y="4365747"/>
            <a:ext cx="6459855" cy="658919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/>
              <a:t>- D bits </a:t>
            </a:r>
            <a:r>
              <a:rPr lang="en-US" b="1" dirty="0" err="1"/>
              <a:t>sau</a:t>
            </a:r>
            <a:r>
              <a:rPr lang="en-US" b="1" dirty="0"/>
              <a:t> </a:t>
            </a:r>
            <a:r>
              <a:rPr lang="en-US" b="1" dirty="0" err="1"/>
              <a:t>khi</a:t>
            </a:r>
            <a:r>
              <a:rPr lang="en-US" b="1" dirty="0"/>
              <a:t> </a:t>
            </a:r>
            <a:r>
              <a:rPr lang="en-US" b="1" dirty="0" err="1"/>
              <a:t>vá</a:t>
            </a:r>
            <a:r>
              <a:rPr lang="en-US" b="1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423353923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D7C28B-16E5-1A84-EF3F-88CF63A00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9947" y="534569"/>
            <a:ext cx="10515600" cy="1325563"/>
          </a:xfrm>
        </p:spPr>
        <p:txBody>
          <a:bodyPr/>
          <a:lstStyle/>
          <a:p>
            <a:r>
              <a:rPr lang="en-US" dirty="0"/>
              <a:t>4. </a:t>
            </a:r>
            <a:r>
              <a:rPr lang="en-US" dirty="0" err="1"/>
              <a:t>Kiến</a:t>
            </a:r>
            <a:r>
              <a:rPr lang="en-US" dirty="0"/>
              <a:t> </a:t>
            </a:r>
            <a:r>
              <a:rPr lang="en-US" dirty="0" err="1"/>
              <a:t>trúc</a:t>
            </a:r>
            <a:r>
              <a:rPr lang="en-US" dirty="0"/>
              <a:t> </a:t>
            </a:r>
            <a:r>
              <a:rPr lang="en-US" dirty="0" err="1"/>
              <a:t>giải</a:t>
            </a:r>
            <a:r>
              <a:rPr lang="en-US" dirty="0"/>
              <a:t> </a:t>
            </a:r>
            <a:r>
              <a:rPr lang="en-US" dirty="0" err="1"/>
              <a:t>pháp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CDDB8B-8E67-8881-EFDE-8726FE1E53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9550" y="1972093"/>
            <a:ext cx="10515600" cy="4351338"/>
          </a:xfrm>
        </p:spPr>
        <p:txBody>
          <a:bodyPr/>
          <a:lstStyle/>
          <a:p>
            <a:pPr marL="514350" indent="-514350">
              <a:spcBef>
                <a:spcPts val="2000"/>
              </a:spcBef>
              <a:buAutoNum type="arabicParenR"/>
            </a:pPr>
            <a:r>
              <a:rPr lang="en-US" dirty="0"/>
              <a:t>Key size </a:t>
            </a:r>
            <a:r>
              <a:rPr lang="en-US" dirty="0" err="1"/>
              <a:t>phải</a:t>
            </a:r>
            <a:r>
              <a:rPr lang="en-US" dirty="0"/>
              <a:t> </a:t>
            </a:r>
            <a:r>
              <a:rPr lang="en-US" dirty="0" err="1"/>
              <a:t>đạt</a:t>
            </a:r>
            <a:r>
              <a:rPr lang="en-US" dirty="0"/>
              <a:t> </a:t>
            </a:r>
            <a:r>
              <a:rPr lang="en-US" dirty="0" err="1"/>
              <a:t>chuẩn</a:t>
            </a:r>
            <a:r>
              <a:rPr lang="en-US" dirty="0"/>
              <a:t>: </a:t>
            </a:r>
            <a:r>
              <a:rPr lang="en-US" dirty="0" err="1"/>
              <a:t>ít</a:t>
            </a:r>
            <a:r>
              <a:rPr lang="en-US" dirty="0"/>
              <a:t> </a:t>
            </a:r>
            <a:r>
              <a:rPr lang="en-US" dirty="0" err="1"/>
              <a:t>nhất</a:t>
            </a:r>
            <a:r>
              <a:rPr lang="en-US" dirty="0"/>
              <a:t> 2048 bit, </a:t>
            </a:r>
            <a:r>
              <a:rPr lang="en-US" dirty="0" err="1"/>
              <a:t>khuyến</a:t>
            </a:r>
            <a:r>
              <a:rPr lang="en-US" dirty="0"/>
              <a:t> </a:t>
            </a:r>
            <a:r>
              <a:rPr lang="en-US" dirty="0" err="1"/>
              <a:t>khích</a:t>
            </a:r>
            <a:r>
              <a:rPr lang="en-US" dirty="0"/>
              <a:t> </a:t>
            </a:r>
            <a:r>
              <a:rPr lang="en-US" dirty="0" err="1"/>
              <a:t>tăng</a:t>
            </a:r>
            <a:r>
              <a:rPr lang="en-US" dirty="0"/>
              <a:t> </a:t>
            </a:r>
            <a:r>
              <a:rPr lang="en-US" dirty="0" err="1"/>
              <a:t>lên</a:t>
            </a:r>
            <a:r>
              <a:rPr lang="en-US" dirty="0"/>
              <a:t> 3072 bit </a:t>
            </a:r>
            <a:r>
              <a:rPr lang="en-US" dirty="0" err="1"/>
              <a:t>hoặc</a:t>
            </a:r>
            <a:r>
              <a:rPr lang="en-US" dirty="0"/>
              <a:t> </a:t>
            </a:r>
            <a:r>
              <a:rPr lang="en-US" dirty="0" err="1"/>
              <a:t>cao</a:t>
            </a:r>
            <a:r>
              <a:rPr lang="en-US" dirty="0"/>
              <a:t> </a:t>
            </a:r>
            <a:r>
              <a:rPr lang="en-US" dirty="0" err="1"/>
              <a:t>hơn</a:t>
            </a:r>
            <a:r>
              <a:rPr lang="en-US" dirty="0"/>
              <a:t> </a:t>
            </a:r>
            <a:r>
              <a:rPr lang="en-US" dirty="0" err="1"/>
              <a:t>nếu</a:t>
            </a:r>
            <a:r>
              <a:rPr lang="en-US" dirty="0"/>
              <a:t> </a:t>
            </a:r>
            <a:r>
              <a:rPr lang="en-US" dirty="0" err="1"/>
              <a:t>muốn</a:t>
            </a:r>
            <a:r>
              <a:rPr lang="en-US" dirty="0"/>
              <a:t> </a:t>
            </a:r>
            <a:r>
              <a:rPr lang="en-US" dirty="0" err="1"/>
              <a:t>bảo</a:t>
            </a:r>
            <a:r>
              <a:rPr lang="en-US" dirty="0"/>
              <a:t> </a:t>
            </a:r>
            <a:r>
              <a:rPr lang="en-US" dirty="0" err="1"/>
              <a:t>mật</a:t>
            </a:r>
            <a:r>
              <a:rPr lang="en-US" dirty="0"/>
              <a:t> </a:t>
            </a:r>
            <a:r>
              <a:rPr lang="en-US" dirty="0" err="1"/>
              <a:t>dài</a:t>
            </a:r>
            <a:r>
              <a:rPr lang="en-US" dirty="0"/>
              <a:t> </a:t>
            </a:r>
            <a:r>
              <a:rPr lang="en-US" dirty="0" err="1"/>
              <a:t>hạn</a:t>
            </a:r>
            <a:r>
              <a:rPr lang="en-US" dirty="0"/>
              <a:t>.</a:t>
            </a:r>
          </a:p>
          <a:p>
            <a:pPr marL="514350" indent="-514350">
              <a:spcBef>
                <a:spcPts val="2000"/>
              </a:spcBef>
              <a:buAutoNum type="arabicParenR"/>
            </a:pPr>
            <a:r>
              <a:rPr lang="en-US" dirty="0" err="1"/>
              <a:t>Đảm</a:t>
            </a:r>
            <a:r>
              <a:rPr lang="en-US" dirty="0"/>
              <a:t> </a:t>
            </a:r>
            <a:r>
              <a:rPr lang="en-US" dirty="0" err="1"/>
              <a:t>bảo</a:t>
            </a:r>
            <a:r>
              <a:rPr lang="en-US" dirty="0"/>
              <a:t> </a:t>
            </a:r>
            <a:r>
              <a:rPr lang="en-US" dirty="0" err="1"/>
              <a:t>tính</a:t>
            </a:r>
            <a:r>
              <a:rPr lang="en-US" dirty="0"/>
              <a:t> </a:t>
            </a:r>
            <a:r>
              <a:rPr lang="en-US" dirty="0" err="1"/>
              <a:t>ngẫu</a:t>
            </a:r>
            <a:r>
              <a:rPr lang="en-US" dirty="0"/>
              <a:t> </a:t>
            </a:r>
            <a:r>
              <a:rPr lang="en-US" dirty="0" err="1"/>
              <a:t>nhiên</a:t>
            </a:r>
            <a:r>
              <a:rPr lang="en-US" dirty="0"/>
              <a:t> </a:t>
            </a:r>
            <a:r>
              <a:rPr lang="en-US" dirty="0" err="1"/>
              <a:t>khi</a:t>
            </a:r>
            <a:r>
              <a:rPr lang="en-US" dirty="0"/>
              <a:t> </a:t>
            </a:r>
            <a:r>
              <a:rPr lang="en-US" dirty="0" err="1"/>
              <a:t>sinh</a:t>
            </a:r>
            <a:r>
              <a:rPr lang="en-US" dirty="0"/>
              <a:t> </a:t>
            </a:r>
            <a:r>
              <a:rPr lang="en-US" dirty="0" err="1"/>
              <a:t>khóa</a:t>
            </a:r>
            <a:r>
              <a:rPr lang="en-US" dirty="0"/>
              <a:t>.</a:t>
            </a:r>
          </a:p>
          <a:p>
            <a:pPr marL="514350" indent="-514350">
              <a:spcBef>
                <a:spcPts val="2000"/>
              </a:spcBef>
              <a:buAutoNum type="arabicParenR"/>
            </a:pPr>
            <a:r>
              <a:rPr lang="en-US" dirty="0" err="1"/>
              <a:t>Tránh</a:t>
            </a:r>
            <a:r>
              <a:rPr lang="en-US" dirty="0"/>
              <a:t> dung </a:t>
            </a:r>
            <a:r>
              <a:rPr lang="en-US" dirty="0" err="1"/>
              <a:t>chung</a:t>
            </a:r>
            <a:r>
              <a:rPr lang="en-US" dirty="0"/>
              <a:t> 1 </a:t>
            </a:r>
            <a:r>
              <a:rPr lang="en-US" dirty="0" err="1"/>
              <a:t>khóa</a:t>
            </a:r>
            <a:r>
              <a:rPr lang="en-US" dirty="0"/>
              <a:t> </a:t>
            </a:r>
            <a:r>
              <a:rPr lang="en-US" dirty="0" err="1"/>
              <a:t>cho</a:t>
            </a:r>
            <a:r>
              <a:rPr lang="en-US" dirty="0"/>
              <a:t> </a:t>
            </a:r>
            <a:r>
              <a:rPr lang="en-US" dirty="0" err="1"/>
              <a:t>nhiều</a:t>
            </a:r>
            <a:r>
              <a:rPr lang="en-US" dirty="0"/>
              <a:t> </a:t>
            </a:r>
            <a:r>
              <a:rPr lang="en-US" dirty="0" err="1"/>
              <a:t>dịch</a:t>
            </a:r>
            <a:r>
              <a:rPr lang="en-US" dirty="0"/>
              <a:t> </a:t>
            </a:r>
            <a:r>
              <a:rPr lang="en-US" dirty="0" err="1"/>
              <a:t>vụ</a:t>
            </a:r>
            <a:r>
              <a:rPr lang="en-US" dirty="0"/>
              <a:t> </a:t>
            </a:r>
            <a:r>
              <a:rPr lang="en-US" dirty="0" err="1"/>
              <a:t>khác</a:t>
            </a:r>
            <a:r>
              <a:rPr lang="en-US" dirty="0"/>
              <a:t> </a:t>
            </a:r>
            <a:r>
              <a:rPr lang="en-US" dirty="0" err="1"/>
              <a:t>nhau</a:t>
            </a:r>
            <a:r>
              <a:rPr lang="en-US" dirty="0"/>
              <a:t>.</a:t>
            </a:r>
          </a:p>
          <a:p>
            <a:pPr marL="514350" indent="-514350">
              <a:spcBef>
                <a:spcPts val="2000"/>
              </a:spcBef>
              <a:buAutoNum type="arabicParenR"/>
            </a:pPr>
            <a:r>
              <a:rPr lang="en-US" dirty="0" err="1"/>
              <a:t>Chuẩn</a:t>
            </a:r>
            <a:r>
              <a:rPr lang="en-US" dirty="0"/>
              <a:t> </a:t>
            </a:r>
            <a:r>
              <a:rPr lang="en-US" dirty="0" err="1"/>
              <a:t>bị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giải</a:t>
            </a:r>
            <a:r>
              <a:rPr lang="en-US" dirty="0"/>
              <a:t> </a:t>
            </a:r>
            <a:r>
              <a:rPr lang="en-US" dirty="0" err="1"/>
              <a:t>pháp</a:t>
            </a:r>
            <a:r>
              <a:rPr lang="en-US" dirty="0"/>
              <a:t> </a:t>
            </a:r>
            <a:r>
              <a:rPr lang="en-US" dirty="0" err="1"/>
              <a:t>bảo</a:t>
            </a:r>
            <a:r>
              <a:rPr lang="en-US" dirty="0"/>
              <a:t> </a:t>
            </a:r>
            <a:r>
              <a:rPr lang="en-US" dirty="0" err="1"/>
              <a:t>vệ</a:t>
            </a:r>
            <a:r>
              <a:rPr lang="en-US" dirty="0"/>
              <a:t> </a:t>
            </a:r>
            <a:r>
              <a:rPr lang="en-US" dirty="0" err="1"/>
              <a:t>dài</a:t>
            </a:r>
            <a:r>
              <a:rPr lang="en-US" dirty="0"/>
              <a:t> </a:t>
            </a:r>
            <a:r>
              <a:rPr lang="en-US" dirty="0" err="1"/>
              <a:t>hạn</a:t>
            </a:r>
            <a:r>
              <a:rPr lang="en-US" dirty="0"/>
              <a:t>: </a:t>
            </a:r>
            <a:br>
              <a:rPr lang="en-US" dirty="0"/>
            </a:br>
            <a:r>
              <a:rPr lang="en-US" dirty="0" err="1"/>
              <a:t>Giám</a:t>
            </a:r>
            <a:r>
              <a:rPr lang="en-US" dirty="0"/>
              <a:t> </a:t>
            </a:r>
            <a:r>
              <a:rPr lang="en-US" dirty="0" err="1"/>
              <a:t>sát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kĩ</a:t>
            </a:r>
            <a:r>
              <a:rPr lang="en-US" dirty="0"/>
              <a:t> </a:t>
            </a:r>
            <a:r>
              <a:rPr lang="en-US" dirty="0" err="1"/>
              <a:t>thuật</a:t>
            </a:r>
            <a:r>
              <a:rPr lang="en-US" dirty="0"/>
              <a:t> </a:t>
            </a:r>
            <a:r>
              <a:rPr lang="en-US" dirty="0" err="1"/>
              <a:t>phá</a:t>
            </a:r>
            <a:r>
              <a:rPr lang="en-US" dirty="0"/>
              <a:t> </a:t>
            </a:r>
            <a:r>
              <a:rPr lang="en-US" dirty="0" err="1"/>
              <a:t>mã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điều</a:t>
            </a:r>
            <a:r>
              <a:rPr lang="en-US" dirty="0"/>
              <a:t> </a:t>
            </a:r>
            <a:r>
              <a:rPr lang="en-US" dirty="0" err="1"/>
              <a:t>chỉnh</a:t>
            </a:r>
            <a:r>
              <a:rPr lang="en-US" dirty="0"/>
              <a:t> </a:t>
            </a:r>
            <a:r>
              <a:rPr lang="en-US" dirty="0" err="1"/>
              <a:t>độ</a:t>
            </a:r>
            <a:r>
              <a:rPr lang="en-US" dirty="0"/>
              <a:t> </a:t>
            </a:r>
            <a:r>
              <a:rPr lang="en-US" dirty="0" err="1"/>
              <a:t>dài</a:t>
            </a:r>
            <a:r>
              <a:rPr lang="en-US" dirty="0"/>
              <a:t> </a:t>
            </a:r>
            <a:r>
              <a:rPr lang="en-US" dirty="0" err="1"/>
              <a:t>khóa</a:t>
            </a:r>
            <a:r>
              <a:rPr lang="en-US" dirty="0"/>
              <a:t>. </a:t>
            </a:r>
            <a:r>
              <a:rPr lang="en-US" dirty="0" err="1"/>
              <a:t>Lên</a:t>
            </a:r>
            <a:r>
              <a:rPr lang="en-US" dirty="0"/>
              <a:t> </a:t>
            </a:r>
            <a:r>
              <a:rPr lang="en-US" dirty="0" err="1"/>
              <a:t>kế</a:t>
            </a:r>
            <a:r>
              <a:rPr lang="en-US" dirty="0"/>
              <a:t> </a:t>
            </a:r>
            <a:r>
              <a:rPr lang="en-US" dirty="0" err="1"/>
              <a:t>hoạch</a:t>
            </a:r>
            <a:r>
              <a:rPr lang="en-US" dirty="0"/>
              <a:t> </a:t>
            </a:r>
            <a:r>
              <a:rPr lang="en-US" dirty="0" err="1"/>
              <a:t>chuyển</a:t>
            </a:r>
            <a:r>
              <a:rPr lang="en-US" dirty="0"/>
              <a:t> sang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thuật</a:t>
            </a:r>
            <a:r>
              <a:rPr lang="en-US" dirty="0"/>
              <a:t> </a:t>
            </a:r>
            <a:r>
              <a:rPr lang="en-US" dirty="0" err="1"/>
              <a:t>toán</a:t>
            </a:r>
            <a:r>
              <a:rPr lang="en-US" dirty="0"/>
              <a:t> </a:t>
            </a:r>
            <a:r>
              <a:rPr lang="en-US" dirty="0" err="1"/>
              <a:t>mới</a:t>
            </a:r>
            <a:r>
              <a:rPr lang="en-US" dirty="0"/>
              <a:t>, </a:t>
            </a:r>
            <a:r>
              <a:rPr lang="en-US" dirty="0" err="1"/>
              <a:t>đặc</a:t>
            </a:r>
            <a:r>
              <a:rPr lang="en-US" dirty="0"/>
              <a:t> </a:t>
            </a:r>
            <a:r>
              <a:rPr lang="en-US" dirty="0" err="1"/>
              <a:t>biệt</a:t>
            </a:r>
            <a:r>
              <a:rPr lang="en-US" dirty="0"/>
              <a:t> </a:t>
            </a:r>
            <a:r>
              <a:rPr lang="en-US" dirty="0" err="1"/>
              <a:t>là</a:t>
            </a:r>
            <a:r>
              <a:rPr lang="en-US" dirty="0"/>
              <a:t> </a:t>
            </a:r>
            <a:r>
              <a:rPr lang="en-US" dirty="0" err="1"/>
              <a:t>mật</a:t>
            </a:r>
            <a:r>
              <a:rPr lang="en-US" dirty="0"/>
              <a:t> </a:t>
            </a:r>
            <a:r>
              <a:rPr lang="en-US" dirty="0" err="1"/>
              <a:t>mã</a:t>
            </a:r>
            <a:r>
              <a:rPr lang="en-US" dirty="0"/>
              <a:t> </a:t>
            </a:r>
            <a:r>
              <a:rPr lang="en-US" dirty="0" err="1"/>
              <a:t>hậu</a:t>
            </a:r>
            <a:r>
              <a:rPr lang="en-US" dirty="0"/>
              <a:t> </a:t>
            </a:r>
            <a:r>
              <a:rPr lang="en-US" dirty="0" err="1"/>
              <a:t>lượng</a:t>
            </a:r>
            <a:r>
              <a:rPr lang="en-US" dirty="0"/>
              <a:t> </a:t>
            </a:r>
            <a:r>
              <a:rPr lang="en-US" dirty="0" err="1"/>
              <a:t>tử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80542232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E02C9-43C9-2BCE-5DB3-E90CC5CDE7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63" y="511773"/>
            <a:ext cx="10515600" cy="1325563"/>
          </a:xfrm>
        </p:spPr>
        <p:txBody>
          <a:bodyPr/>
          <a:lstStyle/>
          <a:p>
            <a:r>
              <a:rPr lang="en-US" dirty="0" err="1"/>
              <a:t>Kết</a:t>
            </a:r>
            <a:r>
              <a:rPr lang="en-US" dirty="0"/>
              <a:t> </a:t>
            </a:r>
            <a:r>
              <a:rPr lang="en-US" dirty="0" err="1"/>
              <a:t>luận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69A5CB-4CC6-E56D-5F11-96E4F98040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7174" y="1994889"/>
            <a:ext cx="11249025" cy="4351338"/>
          </a:xfrm>
        </p:spPr>
        <p:txBody>
          <a:bodyPr>
            <a:normAutofit/>
          </a:bodyPr>
          <a:lstStyle/>
          <a:p>
            <a:pPr>
              <a:spcBef>
                <a:spcPts val="2000"/>
              </a:spcBef>
              <a:buFontTx/>
              <a:buChar char="-"/>
            </a:pPr>
            <a:r>
              <a:rPr lang="en-US" sz="2400" dirty="0">
                <a:latin typeface="Calibri (Body)"/>
              </a:rPr>
              <a:t> RSA </a:t>
            </a:r>
            <a:r>
              <a:rPr lang="en-US" sz="2400" dirty="0" err="1">
                <a:latin typeface="Calibri (Body)"/>
              </a:rPr>
              <a:t>vẫn</a:t>
            </a:r>
            <a:r>
              <a:rPr lang="en-US" sz="2400" dirty="0">
                <a:latin typeface="Calibri (Body)"/>
              </a:rPr>
              <a:t> an </a:t>
            </a:r>
            <a:r>
              <a:rPr lang="en-US" sz="2400" dirty="0" err="1">
                <a:latin typeface="Calibri (Body)"/>
              </a:rPr>
              <a:t>toàn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nếu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triển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khai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chuẩn</a:t>
            </a:r>
            <a:r>
              <a:rPr lang="en-US" sz="2400" dirty="0">
                <a:latin typeface="Calibri (Body)"/>
              </a:rPr>
              <a:t>, </a:t>
            </a:r>
            <a:r>
              <a:rPr lang="en-US" sz="2400" dirty="0" err="1">
                <a:latin typeface="Calibri (Body)"/>
              </a:rPr>
              <a:t>đầy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đủ</a:t>
            </a:r>
            <a:endParaRPr lang="en-US" sz="2400" dirty="0">
              <a:latin typeface="Calibri (Body)"/>
            </a:endParaRPr>
          </a:p>
          <a:p>
            <a:pPr>
              <a:spcBef>
                <a:spcPts val="2000"/>
              </a:spcBef>
              <a:buFontTx/>
              <a:buChar char="-"/>
            </a:pPr>
            <a:r>
              <a:rPr lang="en-US" sz="2400" dirty="0">
                <a:latin typeface="Calibri (Body)"/>
              </a:rPr>
              <a:t> </a:t>
            </a:r>
            <a:r>
              <a:rPr lang="vi-VN" sz="2400" dirty="0">
                <a:latin typeface="Calibri (Body)"/>
              </a:rPr>
              <a:t>Ưu tiên RSASSA-PSS cho chữ ký và tránh PKCS#1 v1.5 khi có thể.</a:t>
            </a:r>
            <a:endParaRPr lang="en-US" sz="2400" dirty="0">
              <a:latin typeface="Calibri (Body)"/>
            </a:endParaRPr>
          </a:p>
          <a:p>
            <a:pPr>
              <a:spcBef>
                <a:spcPts val="2000"/>
              </a:spcBef>
              <a:buFontTx/>
              <a:buChar char="-"/>
            </a:pPr>
            <a:r>
              <a:rPr lang="en-US" sz="2400" dirty="0">
                <a:latin typeface="Calibri (Body)"/>
              </a:rPr>
              <a:t> </a:t>
            </a:r>
            <a:r>
              <a:rPr lang="vi-VN" sz="2400" dirty="0">
                <a:latin typeface="Calibri (Body)"/>
              </a:rPr>
              <a:t>Dùng kích thước khóa lớn (≥3072 bit) hoặc chuyển sang ECC/PQC cho bảo vệ dài hạn.</a:t>
            </a:r>
            <a:endParaRPr lang="en-US" sz="2400" dirty="0">
              <a:latin typeface="Calibri (Body)"/>
            </a:endParaRPr>
          </a:p>
          <a:p>
            <a:pPr>
              <a:spcBef>
                <a:spcPts val="2000"/>
              </a:spcBef>
              <a:buFontTx/>
              <a:buChar char="-"/>
            </a:pPr>
            <a:r>
              <a:rPr lang="en-US" sz="2400" dirty="0">
                <a:latin typeface="Calibri (Body)"/>
              </a:rPr>
              <a:t> </a:t>
            </a:r>
            <a:r>
              <a:rPr lang="vi-VN" sz="2400" dirty="0">
                <a:latin typeface="Calibri (Body)"/>
              </a:rPr>
              <a:t>Vô hiệu hóa RSA key exchange trong TLS, ưu tiên ECDHE cho forward secrecy.</a:t>
            </a:r>
            <a:endParaRPr lang="en-US" sz="2400" dirty="0">
              <a:latin typeface="Calibri (Body)"/>
            </a:endParaRPr>
          </a:p>
          <a:p>
            <a:pPr>
              <a:spcBef>
                <a:spcPts val="2000"/>
              </a:spcBef>
              <a:buFontTx/>
              <a:buChar char="-"/>
            </a:pPr>
            <a:r>
              <a:rPr lang="en-US" sz="2400" dirty="0">
                <a:latin typeface="Calibri (Body)"/>
              </a:rPr>
              <a:t> </a:t>
            </a:r>
            <a:r>
              <a:rPr lang="vi-VN" sz="2400" dirty="0">
                <a:latin typeface="Calibri (Body)"/>
              </a:rPr>
              <a:t>Áp dụng exponent &amp; CRT blinding, constant-time modular exponentiation, và CSPRNG mạnh cho keygen.</a:t>
            </a:r>
            <a:endParaRPr lang="en-US" sz="2400" dirty="0">
              <a:latin typeface="Calibri (Body)"/>
            </a:endParaRPr>
          </a:p>
          <a:p>
            <a:pPr>
              <a:spcBef>
                <a:spcPts val="2000"/>
              </a:spcBef>
              <a:buFontTx/>
              <a:buChar char="-"/>
            </a:pPr>
            <a:r>
              <a:rPr lang="en-US" sz="2400" dirty="0">
                <a:latin typeface="Calibri (Body)"/>
              </a:rPr>
              <a:t> </a:t>
            </a:r>
            <a:r>
              <a:rPr lang="vi-VN" sz="2400" dirty="0">
                <a:latin typeface="Calibri (Body)"/>
              </a:rPr>
              <a:t>Lưu private key </a:t>
            </a:r>
            <a:r>
              <a:rPr lang="en-US" sz="2400" dirty="0" err="1">
                <a:latin typeface="Calibri (Body)"/>
              </a:rPr>
              <a:t>kĩ</a:t>
            </a:r>
            <a:r>
              <a:rPr lang="vi-VN" sz="2400" dirty="0">
                <a:latin typeface="Calibri (Body)"/>
              </a:rPr>
              <a:t>, giới hạn API và dùng uniform error messages.</a:t>
            </a:r>
            <a:endParaRPr lang="en-US" sz="2400" dirty="0">
              <a:latin typeface="Calibri (Body)"/>
            </a:endParaRPr>
          </a:p>
        </p:txBody>
      </p:sp>
    </p:spTree>
    <p:extLst>
      <p:ext uri="{BB962C8B-B14F-4D97-AF65-F5344CB8AC3E}">
        <p14:creationId xmlns:p14="http://schemas.microsoft.com/office/powerpoint/2010/main" val="1704221707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Tài liệu" ma:contentTypeID="0x010100B1C9C9CFBA54554FAB72A368ED558EE9" ma:contentTypeVersion="4" ma:contentTypeDescription="Tạo tài liệu mới." ma:contentTypeScope="" ma:versionID="7afe8246de33ba856f7f9004637ff618">
  <xsd:schema xmlns:xsd="http://www.w3.org/2001/XMLSchema" xmlns:xs="http://www.w3.org/2001/XMLSchema" xmlns:p="http://schemas.microsoft.com/office/2006/metadata/properties" xmlns:ns3="7804a6fb-3003-4c78-85cc-87186ae6e246" targetNamespace="http://schemas.microsoft.com/office/2006/metadata/properties" ma:root="true" ma:fieldsID="1dbbbb438070c4d288d95d0c153f475e" ns3:_="">
    <xsd:import namespace="7804a6fb-3003-4c78-85cc-87186ae6e246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804a6fb-3003-4c78-85cc-87186ae6e246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Loại Nội dung"/>
        <xsd:element ref="dc:title" minOccurs="0" maxOccurs="1" ma:index="4" ma:displayName="Tiêu đề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02A294DC-FDDB-4C19-A732-9D70B934EFD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DB0FCB8-DB46-4959-B9E6-F720DF2AB4B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804a6fb-3003-4c78-85cc-87186ae6e24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9EA5A663-36CB-4D52-ACF0-0994F2B58167}">
  <ds:schemaRefs>
    <ds:schemaRef ds:uri="http://purl.org/dc/dcmitype/"/>
    <ds:schemaRef ds:uri="http://schemas.openxmlformats.org/package/2006/metadata/core-properties"/>
    <ds:schemaRef ds:uri="http://purl.org/dc/elements/1.1/"/>
    <ds:schemaRef ds:uri="http://purl.org/dc/terms/"/>
    <ds:schemaRef ds:uri="http://www.w3.org/XML/1998/namespace"/>
    <ds:schemaRef ds:uri="http://schemas.microsoft.com/office/2006/documentManagement/types"/>
    <ds:schemaRef ds:uri="http://schemas.microsoft.com/office/infopath/2007/PartnerControls"/>
    <ds:schemaRef ds:uri="7804a6fb-3003-4c78-85cc-87186ae6e246"/>
    <ds:schemaRef ds:uri="http://schemas.microsoft.com/office/2006/metadata/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3944</TotalTime>
  <Words>1631</Words>
  <Application>Microsoft Office PowerPoint</Application>
  <PresentationFormat>Widescreen</PresentationFormat>
  <Paragraphs>190</Paragraphs>
  <Slides>30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9" baseType="lpstr">
      <vt:lpstr>-apple-system</vt:lpstr>
      <vt:lpstr>Arial</vt:lpstr>
      <vt:lpstr>Calibri</vt:lpstr>
      <vt:lpstr>Calibri (Body)</vt:lpstr>
      <vt:lpstr>Calibri Light</vt:lpstr>
      <vt:lpstr>Cambria Math</vt:lpstr>
      <vt:lpstr>Courier New</vt:lpstr>
      <vt:lpstr>Symbol</vt:lpstr>
      <vt:lpstr>Retrospect</vt:lpstr>
      <vt:lpstr>Cryptanalysis on Asymmetric Ciphers — RSA &amp; RSA‑Based Signatures</vt:lpstr>
      <vt:lpstr>1. Bối cảnh</vt:lpstr>
      <vt:lpstr>Rủi ro</vt:lpstr>
      <vt:lpstr>Security Goals</vt:lpstr>
      <vt:lpstr>2. Các  câu hỏi nghiên cứu và giả thuyết</vt:lpstr>
      <vt:lpstr>2. Các  câu hỏi nghiên cứu và giả thuyết</vt:lpstr>
      <vt:lpstr>2. Các  câu hỏi nghiên cứu và giả thuyết</vt:lpstr>
      <vt:lpstr>3. Kịch bản triển khai</vt:lpstr>
      <vt:lpstr>Các attack triển khai</vt:lpstr>
      <vt:lpstr>Attack A - Bleichenbacher padding oracle </vt:lpstr>
      <vt:lpstr>PKCS#1 v1.5 Padding</vt:lpstr>
      <vt:lpstr>Padding Oracle là gì?</vt:lpstr>
      <vt:lpstr>Attack A - Bleichenbacher padding oracle </vt:lpstr>
      <vt:lpstr>Attack A - Bleichenbacher padding oracle </vt:lpstr>
      <vt:lpstr>Kết quả - Attack A</vt:lpstr>
      <vt:lpstr>Kết quả - Attack A</vt:lpstr>
      <vt:lpstr>Kết quả - Attack A</vt:lpstr>
      <vt:lpstr>Trả lời câu hỏi RQ2</vt:lpstr>
      <vt:lpstr>Attack B – Timing Attack on RSA</vt:lpstr>
      <vt:lpstr>Attack B – Timing Attack on RSA</vt:lpstr>
      <vt:lpstr>Nguyên nhân</vt:lpstr>
      <vt:lpstr>Attack C – Wiener’s Attack / low d</vt:lpstr>
      <vt:lpstr>Điều kiện</vt:lpstr>
      <vt:lpstr>Ý tưởng</vt:lpstr>
      <vt:lpstr>Ý tưởng</vt:lpstr>
      <vt:lpstr>Kết quả - Attack C</vt:lpstr>
      <vt:lpstr>Kết quả - Attack C</vt:lpstr>
      <vt:lpstr>Kết quả - Attack C</vt:lpstr>
      <vt:lpstr>4. Kiến trúc giải pháp</vt:lpstr>
      <vt:lpstr>Kết luận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Phạm Nguyễn Thành Long</dc:creator>
  <cp:lastModifiedBy>Phạm Nguyễn Thành Long</cp:lastModifiedBy>
  <cp:revision>16</cp:revision>
  <dcterms:created xsi:type="dcterms:W3CDTF">2025-12-19T07:28:18Z</dcterms:created>
  <dcterms:modified xsi:type="dcterms:W3CDTF">2025-12-28T07:45:30Z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0x010100B1C9C9CFBA54554FAB72A368ED558EE9</vt:lpwstr>
  </property>
</Properties>
</file>