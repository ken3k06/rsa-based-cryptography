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5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54D19EA-8996-416A-80DB-8C1233495E97}">
  <a:tblStyle styleId="{A54D19EA-8996-416A-80DB-8C1233495E97}"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ab230df7ac_2_14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ab230df7ac_2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ab230df7ac_2_2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ab230df7ac_2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ab230df7ac_2_3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ab230df7ac_2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ab230df7ac_2_4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3ab230df7ac_2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ab230df7ac_2_4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ab230df7ac_2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ab230df7ac_0_10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3ab230df7ac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 name="Google Shape;252;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8" name="Google Shape;258;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4" name="Google Shape;264;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0" name="Google Shape;270;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7" name="Google Shape;277;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ab230df7ac_2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4" name="Google Shape;284;g3ab230df7ac_2_8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ab230df7ac_2_11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ab230df7ac_2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ab230df7ac_2_11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3ab230df7ac_2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ab230df7ac_0_7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ab230df7ac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ab230df7ac_0_8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3ab230df7a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ab230df7ac_0_9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3ab230df7ac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3ab230df7ac_0_9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3ab230df7ac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3ab230df7ac_2_13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 name="Google Shape;333;g3ab230df7ac_2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ab230df7ac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3ab230df7a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ab230df7ac_0_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3ab230df7a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ab230df7ac_0_1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3ab230df7ac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ab230df7ac_0_2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3ab230df7ac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3ab230df7ac_0_2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3ab230df7a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3ab230df7ac_0_6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3ab230df7ac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3ab230df7ac_0_3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3ab230df7ac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3ab230df7ac_0_4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 name="Google Shape;385;g3ab230df7ac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3ab230df7ac_0_4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3ab230df7ac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3ab230df7ac_0_7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 name="Google Shape;399;g3ab230df7ac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3ab230df7ac_2_13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3ab230df7ac_2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4"/>
        <p:cNvGrpSpPr/>
        <p:nvPr/>
      </p:nvGrpSpPr>
      <p:grpSpPr>
        <a:xfrm>
          <a:off x="0" y="0"/>
          <a:ext cx="0" cy="0"/>
          <a:chOff x="0" y="0"/>
          <a:chExt cx="0" cy="0"/>
        </a:xfrm>
      </p:grpSpPr>
      <p:sp>
        <p:nvSpPr>
          <p:cNvPr id="15" name="Google Shape;15;p2"/>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subTitle" idx="1"/>
          </p:nvPr>
        </p:nvSpPr>
        <p:spPr>
          <a:xfrm>
            <a:off x="1100051" y="4455620"/>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19" name="Google Shape;19;p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22" name="Google Shape;22;p2"/>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4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26" name="Google Shape;26;p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29"/>
        <p:cNvGrpSpPr/>
        <p:nvPr/>
      </p:nvGrpSpPr>
      <p:grpSpPr>
        <a:xfrm>
          <a:off x="0" y="0"/>
          <a:ext cx="0" cy="0"/>
          <a:chOff x="0" y="0"/>
          <a:chExt cx="0" cy="0"/>
        </a:xfrm>
      </p:grpSpPr>
      <p:sp>
        <p:nvSpPr>
          <p:cNvPr id="30" name="Google Shape;30;p4"/>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txBox="1">
            <a:spLocks noGrp="1"/>
          </p:cNvSpPr>
          <p:nvPr>
            <p:ph type="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b="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4"/>
          <p:cNvSpPr txBox="1">
            <a:spLocks noGrp="1"/>
          </p:cNvSpPr>
          <p:nvPr>
            <p:ph type="body" idx="1"/>
          </p:nvPr>
        </p:nvSpPr>
        <p:spPr>
          <a:xfrm>
            <a:off x="1097280" y="4453128"/>
            <a:ext cx="100584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34" name="Google Shape;34;p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37" name="Google Shape;37;p4"/>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5"/>
          <p:cNvSpPr txBox="1">
            <a:spLocks noGrp="1"/>
          </p:cNvSpPr>
          <p:nvPr>
            <p:ph type="body" idx="1"/>
          </p:nvPr>
        </p:nvSpPr>
        <p:spPr>
          <a:xfrm>
            <a:off x="1097279" y="1845734"/>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1" name="Google Shape;41;p5"/>
          <p:cNvSpPr txBox="1">
            <a:spLocks noGrp="1"/>
          </p:cNvSpPr>
          <p:nvPr>
            <p:ph type="body" idx="2"/>
          </p:nvPr>
        </p:nvSpPr>
        <p:spPr>
          <a:xfrm>
            <a:off x="6217920" y="1845735"/>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2" name="Google Shape;42;p5"/>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5"/>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6"/>
          <p:cNvSpPr txBox="1">
            <a:spLocks noGrp="1"/>
          </p:cNvSpPr>
          <p:nvPr>
            <p:ph type="body" idx="1"/>
          </p:nvPr>
        </p:nvSpPr>
        <p:spPr>
          <a:xfrm>
            <a:off x="109728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48" name="Google Shape;48;p6"/>
          <p:cNvSpPr txBox="1">
            <a:spLocks noGrp="1"/>
          </p:cNvSpPr>
          <p:nvPr>
            <p:ph type="body" idx="2"/>
          </p:nvPr>
        </p:nvSpPr>
        <p:spPr>
          <a:xfrm>
            <a:off x="109728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9" name="Google Shape;49;p6"/>
          <p:cNvSpPr txBox="1">
            <a:spLocks noGrp="1"/>
          </p:cNvSpPr>
          <p:nvPr>
            <p:ph type="body" idx="3"/>
          </p:nvPr>
        </p:nvSpPr>
        <p:spPr>
          <a:xfrm>
            <a:off x="621792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0" name="Google Shape;50;p6"/>
          <p:cNvSpPr txBox="1">
            <a:spLocks noGrp="1"/>
          </p:cNvSpPr>
          <p:nvPr>
            <p:ph type="body" idx="4"/>
          </p:nvPr>
        </p:nvSpPr>
        <p:spPr>
          <a:xfrm>
            <a:off x="621792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1" name="Google Shape;51;p6"/>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6"/>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7"/>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7"/>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59"/>
        <p:cNvGrpSpPr/>
        <p:nvPr/>
      </p:nvGrpSpPr>
      <p:grpSpPr>
        <a:xfrm>
          <a:off x="0" y="0"/>
          <a:ext cx="0" cy="0"/>
          <a:chOff x="0" y="0"/>
          <a:chExt cx="0" cy="0"/>
        </a:xfrm>
      </p:grpSpPr>
      <p:sp>
        <p:nvSpPr>
          <p:cNvPr id="60" name="Google Shape;60;p8"/>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8"/>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8"/>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8"/>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5"/>
        <p:cNvGrpSpPr/>
        <p:nvPr/>
      </p:nvGrpSpPr>
      <p:grpSpPr>
        <a:xfrm>
          <a:off x="0" y="0"/>
          <a:ext cx="0" cy="0"/>
          <a:chOff x="0" y="0"/>
          <a:chExt cx="0" cy="0"/>
        </a:xfrm>
      </p:grpSpPr>
      <p:sp>
        <p:nvSpPr>
          <p:cNvPr id="66" name="Google Shape;66;p9"/>
          <p:cNvSpPr/>
          <p:nvPr/>
        </p:nvSpPr>
        <p:spPr>
          <a:xfrm>
            <a:off x="16" y="0"/>
            <a:ext cx="4050791" cy="685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9"/>
          <p:cNvSpPr/>
          <p:nvPr/>
        </p:nvSpPr>
        <p:spPr>
          <a:xfrm>
            <a:off x="4040071" y="0"/>
            <a:ext cx="64008"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9"/>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9"/>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0" name="Google Shape;70;p9"/>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500"/>
              <a:buNone/>
              <a:defRPr sz="1500">
                <a:solidFill>
                  <a:srgbClr val="FFFFFF"/>
                </a:solidFill>
              </a:defRPr>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71" name="Google Shape;71;p9"/>
          <p:cNvSpPr txBox="1">
            <a:spLocks noGrp="1"/>
          </p:cNvSpPr>
          <p:nvPr>
            <p:ph type="dt" idx="10"/>
          </p:nvPr>
        </p:nvSpPr>
        <p:spPr>
          <a:xfrm>
            <a:off x="465512" y="6459785"/>
            <a:ext cx="26185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9"/>
          <p:cNvSpPr txBox="1">
            <a:spLocks noGrp="1"/>
          </p:cNvSpPr>
          <p:nvPr>
            <p:ph type="ftr" idx="11"/>
          </p:nvPr>
        </p:nvSpPr>
        <p:spPr>
          <a:xfrm>
            <a:off x="4800600" y="6459785"/>
            <a:ext cx="4648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50">
                <a:solidFill>
                  <a:schemeClr val="dk2"/>
                </a:solidFill>
                <a:latin typeface="Calibri"/>
                <a:ea typeface="Calibri"/>
                <a:cs typeface="Calibri"/>
                <a:sym typeface="Calibri"/>
              </a:defRPr>
            </a:lvl1pPr>
            <a:lvl2pPr marL="0" lvl="1" indent="0" algn="r">
              <a:spcBef>
                <a:spcPts val="0"/>
              </a:spcBef>
              <a:buNone/>
              <a:defRPr sz="1050">
                <a:solidFill>
                  <a:schemeClr val="dk2"/>
                </a:solidFill>
                <a:latin typeface="Calibri"/>
                <a:ea typeface="Calibri"/>
                <a:cs typeface="Calibri"/>
                <a:sym typeface="Calibri"/>
              </a:defRPr>
            </a:lvl2pPr>
            <a:lvl3pPr marL="0" lvl="2" indent="0" algn="r">
              <a:spcBef>
                <a:spcPts val="0"/>
              </a:spcBef>
              <a:buNone/>
              <a:defRPr sz="1050">
                <a:solidFill>
                  <a:schemeClr val="dk2"/>
                </a:solidFill>
                <a:latin typeface="Calibri"/>
                <a:ea typeface="Calibri"/>
                <a:cs typeface="Calibri"/>
                <a:sym typeface="Calibri"/>
              </a:defRPr>
            </a:lvl3pPr>
            <a:lvl4pPr marL="0" lvl="3" indent="0" algn="r">
              <a:spcBef>
                <a:spcPts val="0"/>
              </a:spcBef>
              <a:buNone/>
              <a:defRPr sz="1050">
                <a:solidFill>
                  <a:schemeClr val="dk2"/>
                </a:solidFill>
                <a:latin typeface="Calibri"/>
                <a:ea typeface="Calibri"/>
                <a:cs typeface="Calibri"/>
                <a:sym typeface="Calibri"/>
              </a:defRPr>
            </a:lvl4pPr>
            <a:lvl5pPr marL="0" lvl="4" indent="0" algn="r">
              <a:spcBef>
                <a:spcPts val="0"/>
              </a:spcBef>
              <a:buNone/>
              <a:defRPr sz="1050">
                <a:solidFill>
                  <a:schemeClr val="dk2"/>
                </a:solidFill>
                <a:latin typeface="Calibri"/>
                <a:ea typeface="Calibri"/>
                <a:cs typeface="Calibri"/>
                <a:sym typeface="Calibri"/>
              </a:defRPr>
            </a:lvl5pPr>
            <a:lvl6pPr marL="0" lvl="5" indent="0" algn="r">
              <a:spcBef>
                <a:spcPts val="0"/>
              </a:spcBef>
              <a:buNone/>
              <a:defRPr sz="1050">
                <a:solidFill>
                  <a:schemeClr val="dk2"/>
                </a:solidFill>
                <a:latin typeface="Calibri"/>
                <a:ea typeface="Calibri"/>
                <a:cs typeface="Calibri"/>
                <a:sym typeface="Calibri"/>
              </a:defRPr>
            </a:lvl6pPr>
            <a:lvl7pPr marL="0" lvl="6" indent="0" algn="r">
              <a:spcBef>
                <a:spcPts val="0"/>
              </a:spcBef>
              <a:buNone/>
              <a:defRPr sz="1050">
                <a:solidFill>
                  <a:schemeClr val="dk2"/>
                </a:solidFill>
                <a:latin typeface="Calibri"/>
                <a:ea typeface="Calibri"/>
                <a:cs typeface="Calibri"/>
                <a:sym typeface="Calibri"/>
              </a:defRPr>
            </a:lvl7pPr>
            <a:lvl8pPr marL="0" lvl="7" indent="0" algn="r">
              <a:spcBef>
                <a:spcPts val="0"/>
              </a:spcBef>
              <a:buNone/>
              <a:defRPr sz="1050">
                <a:solidFill>
                  <a:schemeClr val="dk2"/>
                </a:solidFill>
                <a:latin typeface="Calibri"/>
                <a:ea typeface="Calibri"/>
                <a:cs typeface="Calibri"/>
                <a:sym typeface="Calibri"/>
              </a:defRPr>
            </a:lvl8pPr>
            <a:lvl9pPr marL="0" lvl="8" indent="0" algn="r">
              <a:spcBef>
                <a:spcPts val="0"/>
              </a:spcBef>
              <a:buNone/>
              <a:defRPr sz="1050">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4"/>
        <p:cNvGrpSpPr/>
        <p:nvPr/>
      </p:nvGrpSpPr>
      <p:grpSpPr>
        <a:xfrm>
          <a:off x="0" y="0"/>
          <a:ext cx="0" cy="0"/>
          <a:chOff x="0" y="0"/>
          <a:chExt cx="0" cy="0"/>
        </a:xfrm>
      </p:grpSpPr>
      <p:sp>
        <p:nvSpPr>
          <p:cNvPr id="75" name="Google Shape;75;p10"/>
          <p:cNvSpPr/>
          <p:nvPr/>
        </p:nvSpPr>
        <p:spPr>
          <a:xfrm>
            <a:off x="0" y="4953000"/>
            <a:ext cx="12188825" cy="1905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0"/>
          <p:cNvSpPr/>
          <p:nvPr/>
        </p:nvSpPr>
        <p:spPr>
          <a:xfrm>
            <a:off x="15" y="491507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0"/>
          <p:cNvSpPr txBox="1">
            <a:spLocks noGrp="1"/>
          </p:cNvSpPr>
          <p:nvPr>
            <p:ph type="title"/>
          </p:nvPr>
        </p:nvSpPr>
        <p:spPr>
          <a:xfrm>
            <a:off x="1097280" y="5074920"/>
            <a:ext cx="10113264"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78" name="Google Shape;78;p10"/>
          <p:cNvPicPr preferRelativeResize="0">
            <a:picLocks noGrp="1"/>
          </p:cNvPicPr>
          <p:nvPr>
            <p:ph type="pic" idx="2"/>
          </p:nvPr>
        </p:nvPicPr>
        <p:blipFill/>
        <p:spPr>
          <a:xfrm>
            <a:off x="15" y="0"/>
            <a:ext cx="12191985" cy="4915076"/>
          </a:xfrm>
          <a:prstGeom prst="rect">
            <a:avLst/>
          </a:prstGeom>
          <a:blipFill rotWithShape="1">
            <a:blip r:embed="rId2">
              <a:alphaModFix/>
            </a:blip>
            <a:stretch>
              <a:fillRect/>
            </a:stretch>
          </a:blipFill>
          <a:ln>
            <a:noFill/>
          </a:ln>
        </p:spPr>
      </p:pic>
      <p:sp>
        <p:nvSpPr>
          <p:cNvPr id="79" name="Google Shape;79;p10"/>
          <p:cNvSpPr txBox="1">
            <a:spLocks noGrp="1"/>
          </p:cNvSpPr>
          <p:nvPr>
            <p:ph type="body" idx="1"/>
          </p:nvPr>
        </p:nvSpPr>
        <p:spPr>
          <a:xfrm>
            <a:off x="1097280" y="5907023"/>
            <a:ext cx="10113264"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500">
                <a:solidFill>
                  <a:srgbClr val="FFFFFF"/>
                </a:solidFill>
              </a:defRPr>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80" name="Google Shape;80;p10"/>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3"/>
        <p:cNvGrpSpPr/>
        <p:nvPr/>
      </p:nvGrpSpPr>
      <p:grpSpPr>
        <a:xfrm>
          <a:off x="0" y="0"/>
          <a:ext cx="0" cy="0"/>
          <a:chOff x="0" y="0"/>
          <a:chExt cx="0" cy="0"/>
        </a:xfrm>
      </p:grpSpPr>
      <p:sp>
        <p:nvSpPr>
          <p:cNvPr id="84" name="Google Shape;84;p1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11"/>
          <p:cNvSpPr txBox="1">
            <a:spLocks noGrp="1"/>
          </p:cNvSpPr>
          <p:nvPr>
            <p:ph type="body" idx="1"/>
          </p:nvPr>
        </p:nvSpPr>
        <p:spPr>
          <a:xfrm rot="5400000">
            <a:off x="4114800" y="-1171786"/>
            <a:ext cx="4023360" cy="100584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86" name="Google Shape;86;p11"/>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89"/>
        <p:cNvGrpSpPr/>
        <p:nvPr/>
      </p:nvGrpSpPr>
      <p:grpSpPr>
        <a:xfrm>
          <a:off x="0" y="0"/>
          <a:ext cx="0" cy="0"/>
          <a:chOff x="0" y="0"/>
          <a:chExt cx="0" cy="0"/>
        </a:xfrm>
      </p:grpSpPr>
      <p:sp>
        <p:nvSpPr>
          <p:cNvPr id="90" name="Google Shape;90;p12"/>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2"/>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2"/>
          <p:cNvSpPr txBox="1">
            <a:spLocks noGrp="1"/>
          </p:cNvSpPr>
          <p:nvPr>
            <p:ph type="title"/>
          </p:nvPr>
        </p:nvSpPr>
        <p:spPr>
          <a:xfrm rot="5400000">
            <a:off x="7160640" y="1979039"/>
            <a:ext cx="5757421"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12"/>
          <p:cNvSpPr txBox="1">
            <a:spLocks noGrp="1"/>
          </p:cNvSpPr>
          <p:nvPr>
            <p:ph type="body" idx="1"/>
          </p:nvPr>
        </p:nvSpPr>
        <p:spPr>
          <a:xfrm rot="5400000">
            <a:off x="1826639" y="-573661"/>
            <a:ext cx="5757422"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4" name="Google Shape;94;p1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1"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p1"/>
          <p:cNvSpPr/>
          <p:nvPr/>
        </p:nvSpPr>
        <p:spPr>
          <a:xfrm>
            <a:off x="0" y="6334316"/>
            <a:ext cx="12192001" cy="659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p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1"/>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0" name="Google Shape;10;p1"/>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 name="Google Shape;11;p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b="0" i="0" u="none" strike="noStrike" cap="none">
                <a:solidFill>
                  <a:srgbClr val="FFFFFF"/>
                </a:solidFill>
                <a:latin typeface="Calibri"/>
                <a:ea typeface="Calibri"/>
                <a:cs typeface="Calibri"/>
                <a:sym typeface="Calibri"/>
              </a:defRPr>
            </a:lvl1pPr>
            <a:lvl2pPr marL="0" marR="0" lvl="1" indent="0" algn="r" rtl="0">
              <a:spcBef>
                <a:spcPts val="0"/>
              </a:spcBef>
              <a:buNone/>
              <a:defRPr sz="1050" b="0" i="0" u="none" strike="noStrike" cap="none">
                <a:solidFill>
                  <a:srgbClr val="FFFFFF"/>
                </a:solidFill>
                <a:latin typeface="Calibri"/>
                <a:ea typeface="Calibri"/>
                <a:cs typeface="Calibri"/>
                <a:sym typeface="Calibri"/>
              </a:defRPr>
            </a:lvl2pPr>
            <a:lvl3pPr marL="0" marR="0" lvl="2" indent="0" algn="r" rtl="0">
              <a:spcBef>
                <a:spcPts val="0"/>
              </a:spcBef>
              <a:buNone/>
              <a:defRPr sz="1050" b="0" i="0" u="none" strike="noStrike" cap="none">
                <a:solidFill>
                  <a:srgbClr val="FFFFFF"/>
                </a:solidFill>
                <a:latin typeface="Calibri"/>
                <a:ea typeface="Calibri"/>
                <a:cs typeface="Calibri"/>
                <a:sym typeface="Calibri"/>
              </a:defRPr>
            </a:lvl3pPr>
            <a:lvl4pPr marL="0" marR="0" lvl="3" indent="0" algn="r" rtl="0">
              <a:spcBef>
                <a:spcPts val="0"/>
              </a:spcBef>
              <a:buNone/>
              <a:defRPr sz="1050" b="0" i="0" u="none" strike="noStrike" cap="none">
                <a:solidFill>
                  <a:srgbClr val="FFFFFF"/>
                </a:solidFill>
                <a:latin typeface="Calibri"/>
                <a:ea typeface="Calibri"/>
                <a:cs typeface="Calibri"/>
                <a:sym typeface="Calibri"/>
              </a:defRPr>
            </a:lvl4pPr>
            <a:lvl5pPr marL="0" marR="0" lvl="4" indent="0" algn="r" rtl="0">
              <a:spcBef>
                <a:spcPts val="0"/>
              </a:spcBef>
              <a:buNone/>
              <a:defRPr sz="1050" b="0" i="0" u="none" strike="noStrike" cap="none">
                <a:solidFill>
                  <a:srgbClr val="FFFFFF"/>
                </a:solidFill>
                <a:latin typeface="Calibri"/>
                <a:ea typeface="Calibri"/>
                <a:cs typeface="Calibri"/>
                <a:sym typeface="Calibri"/>
              </a:defRPr>
            </a:lvl5pPr>
            <a:lvl6pPr marL="0" marR="0" lvl="5" indent="0" algn="r" rtl="0">
              <a:spcBef>
                <a:spcPts val="0"/>
              </a:spcBef>
              <a:buNone/>
              <a:defRPr sz="1050" b="0" i="0" u="none" strike="noStrike" cap="none">
                <a:solidFill>
                  <a:srgbClr val="FFFFFF"/>
                </a:solidFill>
                <a:latin typeface="Calibri"/>
                <a:ea typeface="Calibri"/>
                <a:cs typeface="Calibri"/>
                <a:sym typeface="Calibri"/>
              </a:defRPr>
            </a:lvl6pPr>
            <a:lvl7pPr marL="0" marR="0" lvl="6" indent="0" algn="r" rtl="0">
              <a:spcBef>
                <a:spcPts val="0"/>
              </a:spcBef>
              <a:buNone/>
              <a:defRPr sz="1050" b="0" i="0" u="none" strike="noStrike" cap="none">
                <a:solidFill>
                  <a:srgbClr val="FFFFFF"/>
                </a:solidFill>
                <a:latin typeface="Calibri"/>
                <a:ea typeface="Calibri"/>
                <a:cs typeface="Calibri"/>
                <a:sym typeface="Calibri"/>
              </a:defRPr>
            </a:lvl7pPr>
            <a:lvl8pPr marL="0" marR="0" lvl="7" indent="0" algn="r" rtl="0">
              <a:spcBef>
                <a:spcPts val="0"/>
              </a:spcBef>
              <a:buNone/>
              <a:defRPr sz="1050" b="0" i="0" u="none" strike="noStrike" cap="none">
                <a:solidFill>
                  <a:srgbClr val="FFFFFF"/>
                </a:solidFill>
                <a:latin typeface="Calibri"/>
                <a:ea typeface="Calibri"/>
                <a:cs typeface="Calibri"/>
                <a:sym typeface="Calibri"/>
              </a:defRPr>
            </a:lvl8pPr>
            <a:lvl9pPr marL="0" marR="0" lvl="8" indent="0" algn="r" rtl="0">
              <a:spcBef>
                <a:spcPts val="0"/>
              </a:spcBef>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3" name="Google Shape;13;p1"/>
          <p:cNvCxnSpPr/>
          <p:nvPr/>
        </p:nvCxnSpPr>
        <p:spPr>
          <a:xfrm>
            <a:off x="1193532" y="1737845"/>
            <a:ext cx="9966960"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eprint.iacr.org/2024/1265.pdf"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3"/>
          <p:cNvSpPr txBox="1">
            <a:spLocks noGrp="1"/>
          </p:cNvSpPr>
          <p:nvPr>
            <p:ph type="ctrTitle"/>
          </p:nvPr>
        </p:nvSpPr>
        <p:spPr>
          <a:xfrm>
            <a:off x="1437650" y="1969427"/>
            <a:ext cx="9802800" cy="2328600"/>
          </a:xfrm>
          <a:prstGeom prst="rect">
            <a:avLst/>
          </a:prstGeom>
          <a:noFill/>
          <a:ln>
            <a:noFill/>
          </a:ln>
        </p:spPr>
        <p:txBody>
          <a:bodyPr spcFirstLastPara="1" wrap="square" lIns="91425" tIns="45700" rIns="91425" bIns="45700" anchor="t" anchorCtr="0">
            <a:noAutofit/>
          </a:bodyPr>
          <a:lstStyle/>
          <a:p>
            <a:pPr marL="0" lvl="0" indent="0" algn="ctr" rtl="0">
              <a:lnSpc>
                <a:spcPct val="85000"/>
              </a:lnSpc>
              <a:spcBef>
                <a:spcPts val="0"/>
              </a:spcBef>
              <a:spcAft>
                <a:spcPts val="0"/>
              </a:spcAft>
              <a:buClr>
                <a:srgbClr val="1F2328"/>
              </a:buClr>
              <a:buSzPts val="7200"/>
              <a:buFont typeface="Arial"/>
              <a:buNone/>
            </a:pPr>
            <a:r>
              <a:rPr lang="en-US" sz="6000" i="0">
                <a:solidFill>
                  <a:srgbClr val="1F2328"/>
                </a:solidFill>
                <a:latin typeface="Arial"/>
                <a:ea typeface="Arial"/>
                <a:cs typeface="Arial"/>
                <a:sym typeface="Arial"/>
              </a:rPr>
              <a:t>Cryptanalysis on Asymmetric Ciphers — RSA &amp; RSA‑Based Signatures</a:t>
            </a:r>
            <a:endParaRPr sz="6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4"/>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1. Bối cảnh</a:t>
            </a:r>
            <a:endParaRPr/>
          </a:p>
        </p:txBody>
      </p:sp>
      <p:sp>
        <p:nvSpPr>
          <p:cNvPr id="107" name="Google Shape;107;p14"/>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91440" lvl="0" indent="-127000" algn="l" rtl="0">
              <a:spcBef>
                <a:spcPts val="0"/>
              </a:spcBef>
              <a:spcAft>
                <a:spcPts val="0"/>
              </a:spcAft>
              <a:buSzPts val="2000"/>
              <a:buChar char=" "/>
            </a:pPr>
            <a:r>
              <a:rPr lang="en-US"/>
              <a:t>RSA là thuật toán mã hóa được sử dụng rộng rãi ở nhiều công nghệ:</a:t>
            </a:r>
            <a:endParaRPr/>
          </a:p>
          <a:p>
            <a:pPr marL="91440" lvl="0" indent="-127000" algn="l" rtl="0">
              <a:spcBef>
                <a:spcPts val="1400"/>
              </a:spcBef>
              <a:spcAft>
                <a:spcPts val="0"/>
              </a:spcAft>
              <a:buSzPts val="2000"/>
              <a:buChar char="-"/>
            </a:pPr>
            <a:r>
              <a:rPr lang="en-US"/>
              <a:t>Giao thức mạng như SSL/TLS, SSH, …</a:t>
            </a:r>
            <a:endParaRPr/>
          </a:p>
          <a:p>
            <a:pPr marL="91440" lvl="0" indent="-127000" algn="l" rtl="0">
              <a:spcBef>
                <a:spcPts val="1400"/>
              </a:spcBef>
              <a:spcAft>
                <a:spcPts val="0"/>
              </a:spcAft>
              <a:buSzPts val="2000"/>
              <a:buChar char="-"/>
            </a:pPr>
            <a:r>
              <a:rPr lang="en-US"/>
              <a:t>Dịch vụ VPN</a:t>
            </a:r>
            <a:endParaRPr/>
          </a:p>
          <a:p>
            <a:pPr marL="91440" lvl="0" indent="-127000" algn="l" rtl="0">
              <a:spcBef>
                <a:spcPts val="1400"/>
              </a:spcBef>
              <a:spcAft>
                <a:spcPts val="0"/>
              </a:spcAft>
              <a:buSzPts val="2000"/>
              <a:buChar char="-"/>
            </a:pPr>
            <a:r>
              <a:rPr lang="en-US"/>
              <a:t>Smart Cards, các thiết bị IoT</a:t>
            </a:r>
            <a:endParaRPr/>
          </a:p>
          <a:p>
            <a:pPr marL="91440" lvl="0" indent="-127000" algn="l" rtl="0">
              <a:spcBef>
                <a:spcPts val="1400"/>
              </a:spcBef>
              <a:spcAft>
                <a:spcPts val="0"/>
              </a:spcAft>
              <a:buSzPts val="2000"/>
              <a:buChar char=" "/>
            </a:pPr>
            <a:r>
              <a:rPr lang="en-US"/>
              <a:t>Vấn đề: tuy phổ biến, RSA vẫn tiềm ẩn rủi ro cao nếu triển khai sai hoặc tham số đầu vào không đạt chuẩn.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5"/>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Rủi ro</a:t>
            </a:r>
            <a:endParaRPr/>
          </a:p>
        </p:txBody>
      </p:sp>
      <p:sp>
        <p:nvSpPr>
          <p:cNvPr id="113" name="Google Shape;113;p15"/>
          <p:cNvSpPr txBox="1">
            <a:spLocks noGrp="1"/>
          </p:cNvSpPr>
          <p:nvPr>
            <p:ph type="body" idx="1"/>
          </p:nvPr>
        </p:nvSpPr>
        <p:spPr>
          <a:xfrm>
            <a:off x="1097275" y="1845725"/>
            <a:ext cx="6364500" cy="4023300"/>
          </a:xfrm>
          <a:prstGeom prst="rect">
            <a:avLst/>
          </a:prstGeom>
          <a:noFill/>
          <a:ln>
            <a:noFill/>
          </a:ln>
        </p:spPr>
        <p:txBody>
          <a:bodyPr spcFirstLastPara="1" wrap="square" lIns="0" tIns="45700" rIns="0" bIns="45700" anchor="t" anchorCtr="0">
            <a:normAutofit/>
          </a:bodyPr>
          <a:lstStyle/>
          <a:p>
            <a:pPr marL="91440" lvl="0" indent="-152400" algn="l" rtl="0">
              <a:lnSpc>
                <a:spcPct val="90000"/>
              </a:lnSpc>
              <a:spcBef>
                <a:spcPts val="0"/>
              </a:spcBef>
              <a:spcAft>
                <a:spcPts val="0"/>
              </a:spcAft>
              <a:buSzPts val="2400"/>
              <a:buChar char=" "/>
            </a:pPr>
            <a:r>
              <a:rPr lang="en-US" sz="2400"/>
              <a:t> Nếu có thể phân tích thừa số N và tìm được p,q, hệ thống sẽ gặp những rủi ro sau:</a:t>
            </a:r>
            <a:endParaRPr/>
          </a:p>
          <a:p>
            <a:pPr marL="91440" lvl="0" indent="-152400" algn="l" rtl="0">
              <a:lnSpc>
                <a:spcPct val="90000"/>
              </a:lnSpc>
              <a:spcBef>
                <a:spcPts val="1400"/>
              </a:spcBef>
              <a:spcAft>
                <a:spcPts val="0"/>
              </a:spcAft>
              <a:buSzPts val="2400"/>
              <a:buFont typeface="Calibri"/>
              <a:buChar char="-"/>
            </a:pPr>
            <a:r>
              <a:rPr lang="en-US" sz="2400"/>
              <a:t> Khôi phục lại được private key</a:t>
            </a:r>
            <a:endParaRPr/>
          </a:p>
          <a:p>
            <a:pPr marL="91440" lvl="0" indent="-152400" algn="l" rtl="0">
              <a:lnSpc>
                <a:spcPct val="90000"/>
              </a:lnSpc>
              <a:spcBef>
                <a:spcPts val="1400"/>
              </a:spcBef>
              <a:spcAft>
                <a:spcPts val="0"/>
              </a:spcAft>
              <a:buSzPts val="2400"/>
              <a:buFont typeface="Calibri"/>
              <a:buChar char="-"/>
            </a:pPr>
            <a:r>
              <a:rPr lang="en-US" sz="2400"/>
              <a:t> Mất tính bảo mật: dịch lại các dữ liệu như thông tin đăng nhập, các khóa phiên, …</a:t>
            </a:r>
            <a:endParaRPr/>
          </a:p>
          <a:p>
            <a:pPr marL="91440" lvl="0" indent="-152400" algn="l" rtl="0">
              <a:lnSpc>
                <a:spcPct val="90000"/>
              </a:lnSpc>
              <a:spcBef>
                <a:spcPts val="1400"/>
              </a:spcBef>
              <a:spcAft>
                <a:spcPts val="0"/>
              </a:spcAft>
              <a:buSzPts val="2400"/>
              <a:buFont typeface="Calibri"/>
              <a:buChar char="-"/>
            </a:pPr>
            <a:r>
              <a:rPr lang="en-US" sz="2400"/>
              <a:t> Mất tính tính toàn vẹn, tính xác thực: giả mạo chữ ký</a:t>
            </a:r>
            <a:endParaRPr sz="2400"/>
          </a:p>
          <a:p>
            <a:pPr marL="91440" lvl="0" indent="-152400" algn="l" rtl="0">
              <a:lnSpc>
                <a:spcPct val="90000"/>
              </a:lnSpc>
              <a:spcBef>
                <a:spcPts val="1400"/>
              </a:spcBef>
              <a:spcAft>
                <a:spcPts val="0"/>
              </a:spcAft>
              <a:buSzPts val="2400"/>
              <a:buFont typeface="Calibri"/>
              <a:buChar char="-"/>
            </a:pPr>
            <a:r>
              <a:rPr lang="en-US" sz="2400"/>
              <a:t> Nếu các cặp khóa được tái sử dụng trên nhiều service của hệ thống thì có thể bị ảnh hưởng</a:t>
            </a:r>
            <a:endParaRPr sz="2400"/>
          </a:p>
        </p:txBody>
      </p:sp>
      <p:pic>
        <p:nvPicPr>
          <p:cNvPr id="114" name="Google Shape;114;p15"/>
          <p:cNvPicPr preferRelativeResize="0"/>
          <p:nvPr/>
        </p:nvPicPr>
        <p:blipFill rotWithShape="1">
          <a:blip r:embed="rId3">
            <a:alphaModFix/>
          </a:blip>
          <a:srcRect l="3563" t="1935" r="5582"/>
          <a:stretch/>
        </p:blipFill>
        <p:spPr>
          <a:xfrm>
            <a:off x="7461850" y="2171172"/>
            <a:ext cx="4730151" cy="362045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6"/>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Security Goals</a:t>
            </a:r>
            <a:endParaRPr/>
          </a:p>
        </p:txBody>
      </p:sp>
      <p:sp>
        <p:nvSpPr>
          <p:cNvPr id="120" name="Google Shape;120;p16"/>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rmAutofit/>
          </a:bodyPr>
          <a:lstStyle/>
          <a:p>
            <a:pPr marL="91440" lvl="0" indent="-158750" algn="l" rtl="0">
              <a:lnSpc>
                <a:spcPct val="90000"/>
              </a:lnSpc>
              <a:spcBef>
                <a:spcPts val="0"/>
              </a:spcBef>
              <a:spcAft>
                <a:spcPts val="0"/>
              </a:spcAft>
              <a:buSzPts val="2500"/>
              <a:buChar char=" "/>
            </a:pPr>
            <a:r>
              <a:rPr lang="en-US" sz="2500"/>
              <a:t>- Bảo vệ dữ liệu: đảm bảo người được phép mới được đọc dữ liệu.</a:t>
            </a:r>
            <a:endParaRPr sz="2500"/>
          </a:p>
          <a:p>
            <a:pPr marL="91440" lvl="0" indent="-158750" algn="l" rtl="0">
              <a:lnSpc>
                <a:spcPct val="90000"/>
              </a:lnSpc>
              <a:spcBef>
                <a:spcPts val="1400"/>
              </a:spcBef>
              <a:spcAft>
                <a:spcPts val="0"/>
              </a:spcAft>
              <a:buSzPts val="2500"/>
              <a:buChar char=" "/>
            </a:pPr>
            <a:r>
              <a:rPr lang="en-US" sz="2500"/>
              <a:t>- Tính toàn vẹn: dữ liệu gốc không bị thay đổi khi được mã hóa.</a:t>
            </a:r>
            <a:endParaRPr sz="2500"/>
          </a:p>
          <a:p>
            <a:pPr marL="91440" lvl="0" indent="-158750" algn="l" rtl="0">
              <a:lnSpc>
                <a:spcPct val="90000"/>
              </a:lnSpc>
              <a:spcBef>
                <a:spcPts val="1400"/>
              </a:spcBef>
              <a:spcAft>
                <a:spcPts val="0"/>
              </a:spcAft>
              <a:buSzPts val="2500"/>
              <a:buChar char=" "/>
            </a:pPr>
            <a:r>
              <a:rPr lang="en-US" sz="2500"/>
              <a:t>- Tính xác thực: biết chắc chắn dữ liệu đến từ đâu, xác định được người gửi.</a:t>
            </a:r>
            <a:endParaRPr sz="2500"/>
          </a:p>
          <a:p>
            <a:pPr marL="91440" lvl="0" indent="-158750" algn="l" rtl="0">
              <a:lnSpc>
                <a:spcPct val="90000"/>
              </a:lnSpc>
              <a:spcBef>
                <a:spcPts val="1400"/>
              </a:spcBef>
              <a:spcAft>
                <a:spcPts val="0"/>
              </a:spcAft>
              <a:buSzPts val="2500"/>
              <a:buChar char=" "/>
            </a:pPr>
            <a:r>
              <a:rPr lang="en-US" sz="2500"/>
              <a:t>- Chống các cuộc tấn công khi triển khai thực tế.</a:t>
            </a:r>
            <a:endParaRPr sz="25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7"/>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2. Các  câu hỏi nghiên cứu và giả thuyết</a:t>
            </a:r>
            <a:endParaRPr/>
          </a:p>
        </p:txBody>
      </p:sp>
      <p:sp>
        <p:nvSpPr>
          <p:cNvPr id="126" name="Google Shape;126;p17"/>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Autofit/>
          </a:bodyPr>
          <a:lstStyle/>
          <a:p>
            <a:pPr marL="91440" lvl="0" indent="-177800" algn="l" rtl="0">
              <a:lnSpc>
                <a:spcPct val="150000"/>
              </a:lnSpc>
              <a:spcBef>
                <a:spcPts val="0"/>
              </a:spcBef>
              <a:spcAft>
                <a:spcPts val="0"/>
              </a:spcAft>
              <a:buSzPts val="2800"/>
              <a:buFont typeface="Courier New"/>
              <a:buChar char="o"/>
            </a:pPr>
            <a:r>
              <a:rPr lang="en-US" sz="2800"/>
              <a:t> RQ1: Trong kịch bản triển khai thực tế (TLS, JWT, code signing), đâu là các điểm yếu phổ biến nhất liên quan tới RSA và chúng dẫn tới hậu quả gì (forgery, key recovery, signature replay)?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8"/>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2. Các  câu hỏi nghiên cứu và giả thuyết</a:t>
            </a:r>
            <a:endParaRPr/>
          </a:p>
        </p:txBody>
      </p:sp>
      <p:sp>
        <p:nvSpPr>
          <p:cNvPr id="132" name="Google Shape;132;p18"/>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Autofit/>
          </a:bodyPr>
          <a:lstStyle/>
          <a:p>
            <a:pPr marL="91440" lvl="0" indent="-177800" algn="l" rtl="0">
              <a:lnSpc>
                <a:spcPct val="150000"/>
              </a:lnSpc>
              <a:spcBef>
                <a:spcPts val="0"/>
              </a:spcBef>
              <a:spcAft>
                <a:spcPts val="0"/>
              </a:spcAft>
              <a:buSzPts val="2800"/>
              <a:buFont typeface="Courier New"/>
              <a:buChar char="o"/>
            </a:pPr>
            <a:r>
              <a:rPr lang="en-US" sz="2800"/>
              <a:t> RQ2: Các tấn công Bleichenbacher (padding oracle) và timing attacks còn khả thi trên các stack hiện đại (OpenSSL/LibreSSL/BoringSSL) khi gặp cấu hình cũ hoặc lỗi không?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9"/>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2. Các  câu hỏi nghiên cứu và giả thuyết</a:t>
            </a:r>
            <a:endParaRPr/>
          </a:p>
        </p:txBody>
      </p:sp>
      <p:sp>
        <p:nvSpPr>
          <p:cNvPr id="138" name="Google Shape;138;p19"/>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rmAutofit/>
          </a:bodyPr>
          <a:lstStyle/>
          <a:p>
            <a:pPr marL="91440" lvl="0" indent="-177800" algn="l" rtl="0">
              <a:lnSpc>
                <a:spcPct val="150000"/>
              </a:lnSpc>
              <a:spcBef>
                <a:spcPts val="0"/>
              </a:spcBef>
              <a:spcAft>
                <a:spcPts val="0"/>
              </a:spcAft>
              <a:buSzPts val="2800"/>
              <a:buFont typeface="Courier New"/>
              <a:buChar char="o"/>
            </a:pPr>
            <a:r>
              <a:rPr lang="en-US" sz="2800"/>
              <a:t>Giả thuyết: Các vụ compromise thực tế thường xảy ra do: xử lý padding không an toàn (PKCS#1 v1.5), RNG yếu tạo primes dễ đoán, misuse của small exponent. Việc chuyển sang RSASSA-PSS để kí, RSA-OAEP để mã hóa, áp dụng kích thước khóa lớn (≥ 3072bit), sử dụng HSM và library thực hiện constant-time sẽ giảm đáng kể rủi ro.</a:t>
            </a:r>
            <a:endParaRPr sz="2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0"/>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3. Kịch bản triển khai</a:t>
            </a:r>
            <a:endParaRPr/>
          </a:p>
        </p:txBody>
      </p:sp>
      <p:sp>
        <p:nvSpPr>
          <p:cNvPr id="144" name="Google Shape;144;p20"/>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rmAutofit/>
          </a:bodyPr>
          <a:lstStyle/>
          <a:p>
            <a:pPr marL="91440" lvl="0" indent="-177800" algn="l" rtl="0">
              <a:lnSpc>
                <a:spcPct val="90000"/>
              </a:lnSpc>
              <a:spcBef>
                <a:spcPts val="0"/>
              </a:spcBef>
              <a:spcAft>
                <a:spcPts val="0"/>
              </a:spcAft>
              <a:buSzPts val="2800"/>
              <a:buChar char=" "/>
            </a:pPr>
            <a:r>
              <a:rPr lang="en-US" sz="2800"/>
              <a:t>1) Công cụ/Thư viện: OpenSSL, GMP, Docker, Python (pycryptodome)</a:t>
            </a:r>
            <a:endParaRPr/>
          </a:p>
          <a:p>
            <a:pPr marL="91440" lvl="0" indent="-177800" algn="l" rtl="0">
              <a:lnSpc>
                <a:spcPct val="90000"/>
              </a:lnSpc>
              <a:spcBef>
                <a:spcPts val="2700"/>
              </a:spcBef>
              <a:spcAft>
                <a:spcPts val="0"/>
              </a:spcAft>
              <a:buSzPts val="2800"/>
              <a:buChar char=" "/>
            </a:pPr>
            <a:r>
              <a:rPr lang="en-US" sz="2800"/>
              <a:t>2) Môi trường cô lập, chỉ chạy PoC trên hệ thống lab</a:t>
            </a:r>
            <a:endParaRPr/>
          </a:p>
          <a:p>
            <a:pPr marL="91440" lvl="0" indent="-177800" algn="l" rtl="0">
              <a:lnSpc>
                <a:spcPct val="90000"/>
              </a:lnSpc>
              <a:spcBef>
                <a:spcPts val="2700"/>
              </a:spcBef>
              <a:spcAft>
                <a:spcPts val="0"/>
              </a:spcAft>
              <a:buSzPts val="2800"/>
              <a:buChar char=" "/>
            </a:pPr>
            <a:r>
              <a:rPr lang="en-US" sz="2800"/>
              <a:t>3) Data collection &amp; metrics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1"/>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Các attack triển khai</a:t>
            </a:r>
            <a:endParaRPr/>
          </a:p>
        </p:txBody>
      </p:sp>
      <p:sp>
        <p:nvSpPr>
          <p:cNvPr id="150" name="Google Shape;150;p21"/>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rmAutofit/>
          </a:bodyPr>
          <a:lstStyle/>
          <a:p>
            <a:pPr marL="91440" lvl="0" indent="-177800" algn="l" rtl="0">
              <a:lnSpc>
                <a:spcPct val="90000"/>
              </a:lnSpc>
              <a:spcBef>
                <a:spcPts val="0"/>
              </a:spcBef>
              <a:spcAft>
                <a:spcPts val="0"/>
              </a:spcAft>
              <a:buSzPts val="2800"/>
              <a:buFont typeface="Calibri"/>
              <a:buChar char="-"/>
            </a:pPr>
            <a:r>
              <a:rPr lang="en-US" sz="2800"/>
              <a:t> Attack A — Bleichenbacher padding oracle PoC: dựng server TLS-like dùng PKCS#1 v1.5 decryption cho PreMasterSecret, tạo oracle, phục hồi session secret; sau đó vá (uniform error, PSS) và kiểm chứng.</a:t>
            </a:r>
            <a:endParaRPr/>
          </a:p>
          <a:p>
            <a:pPr marL="91440" lvl="0" indent="-177800" algn="l" rtl="0">
              <a:lnSpc>
                <a:spcPct val="90000"/>
              </a:lnSpc>
              <a:spcBef>
                <a:spcPts val="1400"/>
              </a:spcBef>
              <a:spcAft>
                <a:spcPts val="0"/>
              </a:spcAft>
              <a:buSzPts val="2800"/>
              <a:buFont typeface="Calibri"/>
              <a:buChar char="-"/>
            </a:pPr>
            <a:r>
              <a:rPr lang="en-US" sz="2800"/>
              <a:t> Attack B — Timing attack: đo local và remote timing để dò rò rỉ thông tin về d; đánh giá countermeasures (exponent blinding, constant-time lib).</a:t>
            </a:r>
            <a:endParaRPr/>
          </a:p>
          <a:p>
            <a:pPr marL="91440" lvl="0" indent="-177800" algn="l" rtl="0">
              <a:lnSpc>
                <a:spcPct val="90000"/>
              </a:lnSpc>
              <a:spcBef>
                <a:spcPts val="1400"/>
              </a:spcBef>
              <a:spcAft>
                <a:spcPts val="0"/>
              </a:spcAft>
              <a:buSzPts val="2800"/>
              <a:buFont typeface="Calibri"/>
              <a:buChar char="-"/>
            </a:pPr>
            <a:r>
              <a:rPr lang="en-US" sz="2800"/>
              <a:t> Attack C — Wiener / low-d: sinh khóa vulnerable (small d) và dùng thuật toán Wiener để phục hồi private key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2"/>
          <p:cNvSpPr txBox="1">
            <a:spLocks noGrp="1"/>
          </p:cNvSpPr>
          <p:nvPr>
            <p:ph type="title"/>
          </p:nvPr>
        </p:nvSpPr>
        <p:spPr>
          <a:xfrm>
            <a:off x="1097275" y="286600"/>
            <a:ext cx="103722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Attack A - </a:t>
            </a:r>
            <a:r>
              <a:rPr lang="en-US" sz="4800"/>
              <a:t>Bleichenbacher padding oracle </a:t>
            </a:r>
            <a:endParaRPr/>
          </a:p>
        </p:txBody>
      </p:sp>
      <p:sp>
        <p:nvSpPr>
          <p:cNvPr id="156" name="Google Shape;156;p22"/>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rmAutofit/>
          </a:bodyPr>
          <a:lstStyle/>
          <a:p>
            <a:pPr marL="91440" lvl="0" indent="-177800" algn="l" rtl="0">
              <a:lnSpc>
                <a:spcPct val="90000"/>
              </a:lnSpc>
              <a:spcBef>
                <a:spcPts val="0"/>
              </a:spcBef>
              <a:spcAft>
                <a:spcPts val="0"/>
              </a:spcAft>
              <a:buSzPts val="2800"/>
              <a:buFont typeface="Calibri"/>
              <a:buChar char="-"/>
            </a:pPr>
            <a:r>
              <a:rPr lang="en-US" sz="2800"/>
              <a:t> Mục tiêu</a:t>
            </a:r>
            <a:endParaRPr sz="2800"/>
          </a:p>
          <a:p>
            <a:pPr marL="384048" lvl="1" indent="-182880" algn="l" rtl="0">
              <a:lnSpc>
                <a:spcPct val="90000"/>
              </a:lnSpc>
              <a:spcBef>
                <a:spcPts val="400"/>
              </a:spcBef>
              <a:spcAft>
                <a:spcPts val="0"/>
              </a:spcAft>
              <a:buSzPts val="2600"/>
              <a:buFont typeface="Calibri"/>
              <a:buChar char="-"/>
            </a:pPr>
            <a:r>
              <a:rPr lang="en-US" sz="2600"/>
              <a:t> Đánh vào điểm yếu padding của hệ thống</a:t>
            </a:r>
            <a:endParaRPr sz="2600"/>
          </a:p>
          <a:p>
            <a:pPr marL="384048" lvl="1" indent="-182880" algn="l" rtl="0">
              <a:lnSpc>
                <a:spcPct val="90000"/>
              </a:lnSpc>
              <a:spcBef>
                <a:spcPts val="600"/>
              </a:spcBef>
              <a:spcAft>
                <a:spcPts val="0"/>
              </a:spcAft>
              <a:buSzPts val="2600"/>
              <a:buFont typeface="Calibri"/>
              <a:buChar char="-"/>
            </a:pPr>
            <a:r>
              <a:rPr lang="en-US" sz="2600"/>
              <a:t> Không cần private key, chỉ cần tồn tại oracle </a:t>
            </a:r>
            <a:endParaRPr/>
          </a:p>
          <a:p>
            <a:pPr marL="91440" lvl="0" indent="-177800" algn="l" rtl="0">
              <a:lnSpc>
                <a:spcPct val="90000"/>
              </a:lnSpc>
              <a:spcBef>
                <a:spcPts val="1600"/>
              </a:spcBef>
              <a:spcAft>
                <a:spcPts val="0"/>
              </a:spcAft>
              <a:buSzPts val="2800"/>
              <a:buFont typeface="Calibri"/>
              <a:buChar char="-"/>
            </a:pPr>
            <a:r>
              <a:rPr lang="en-US" sz="2800"/>
              <a:t> Điều kiện </a:t>
            </a:r>
            <a:endParaRPr/>
          </a:p>
          <a:p>
            <a:pPr marL="384048" lvl="1" indent="-182880" algn="l" rtl="0">
              <a:lnSpc>
                <a:spcPct val="90000"/>
              </a:lnSpc>
              <a:spcBef>
                <a:spcPts val="400"/>
              </a:spcBef>
              <a:spcAft>
                <a:spcPts val="0"/>
              </a:spcAft>
              <a:buSzPts val="2600"/>
              <a:buFont typeface="Calibri"/>
              <a:buChar char="-"/>
            </a:pPr>
            <a:r>
              <a:rPr lang="en-US" sz="2600"/>
              <a:t> Server sử dụng RSA key exchange + PKCS#1 v1.5</a:t>
            </a:r>
            <a:endParaRPr/>
          </a:p>
          <a:p>
            <a:pPr marL="384048" lvl="1" indent="-182880" algn="l" rtl="0">
              <a:lnSpc>
                <a:spcPct val="90000"/>
              </a:lnSpc>
              <a:spcBef>
                <a:spcPts val="600"/>
              </a:spcBef>
              <a:spcAft>
                <a:spcPts val="0"/>
              </a:spcAft>
              <a:buSzPts val="2600"/>
              <a:buFont typeface="Calibri"/>
              <a:buChar char="-"/>
            </a:pPr>
            <a:r>
              <a:rPr lang="en-US" sz="2600"/>
              <a:t> Server phản hồi khác nhau khi padding hợp và không hợp lệ</a:t>
            </a:r>
            <a:endParaRPr sz="2600"/>
          </a:p>
          <a:p>
            <a:pPr marL="91440" lvl="0" indent="-177800" algn="l" rtl="0">
              <a:lnSpc>
                <a:spcPct val="90000"/>
              </a:lnSpc>
              <a:spcBef>
                <a:spcPts val="1600"/>
              </a:spcBef>
              <a:spcAft>
                <a:spcPts val="0"/>
              </a:spcAft>
              <a:buSzPts val="2800"/>
              <a:buFont typeface="Calibri"/>
              <a:buChar char="-"/>
            </a:pPr>
            <a:r>
              <a:rPr lang="en-US" sz="2800"/>
              <a:t> Attacker được gửi ciphertext tùy ý liên tục và quan sát phản hồi</a:t>
            </a:r>
            <a:endParaRPr sz="2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3"/>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rgbClr val="3F3F3F"/>
              </a:buClr>
              <a:buSzPts val="4800"/>
              <a:buFont typeface="Calibri"/>
              <a:buNone/>
            </a:pPr>
            <a:r>
              <a:rPr lang="en-US"/>
              <a:t>PKCS#1 v1.5 Padding</a:t>
            </a:r>
            <a:endParaRPr/>
          </a:p>
        </p:txBody>
      </p:sp>
      <p:pic>
        <p:nvPicPr>
          <p:cNvPr id="162" name="Google Shape;162;p23" descr="rsa - Why PS does differ between PKCS1 v1.5 padding for signature ..."/>
          <p:cNvPicPr preferRelativeResize="0"/>
          <p:nvPr/>
        </p:nvPicPr>
        <p:blipFill rotWithShape="1">
          <a:blip r:embed="rId3">
            <a:alphaModFix/>
          </a:blip>
          <a:srcRect/>
          <a:stretch/>
        </p:blipFill>
        <p:spPr>
          <a:xfrm>
            <a:off x="1465772" y="2055243"/>
            <a:ext cx="8915400" cy="3886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4"/>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Padding Oracle là gì?</a:t>
            </a:r>
            <a:endParaRPr/>
          </a:p>
        </p:txBody>
      </p:sp>
      <p:sp>
        <p:nvSpPr>
          <p:cNvPr id="168" name="Google Shape;168;p24"/>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rmAutofit/>
          </a:bodyPr>
          <a:lstStyle/>
          <a:p>
            <a:pPr marL="91440" lvl="0" indent="-177800" algn="l" rtl="0">
              <a:lnSpc>
                <a:spcPct val="90000"/>
              </a:lnSpc>
              <a:spcBef>
                <a:spcPts val="0"/>
              </a:spcBef>
              <a:spcAft>
                <a:spcPts val="0"/>
              </a:spcAft>
              <a:buSzPts val="2800"/>
              <a:buFont typeface="Calibri"/>
              <a:buChar char="-"/>
            </a:pPr>
            <a:r>
              <a:rPr lang="en-US" sz="2800">
                <a:latin typeface="Calibri"/>
                <a:ea typeface="Calibri"/>
                <a:cs typeface="Calibri"/>
                <a:sym typeface="Calibri"/>
              </a:rPr>
              <a:t> Là một thành phần cho phép attacker biết </a:t>
            </a:r>
            <a:r>
              <a:rPr lang="en-US" sz="2800" b="1">
                <a:latin typeface="Calibri"/>
                <a:ea typeface="Calibri"/>
                <a:cs typeface="Calibri"/>
                <a:sym typeface="Calibri"/>
              </a:rPr>
              <a:t>ciphertext sau khi decrypt có vượt qua kiểm tra padding hay không</a:t>
            </a:r>
            <a:r>
              <a:rPr lang="en-US" sz="2800">
                <a:latin typeface="Calibri"/>
                <a:ea typeface="Calibri"/>
                <a:cs typeface="Calibri"/>
                <a:sym typeface="Calibri"/>
              </a:rPr>
              <a:t>, thông qua </a:t>
            </a:r>
            <a:r>
              <a:rPr lang="en-US" sz="2800" b="1">
                <a:latin typeface="Calibri"/>
                <a:ea typeface="Calibri"/>
                <a:cs typeface="Calibri"/>
                <a:sym typeface="Calibri"/>
              </a:rPr>
              <a:t>phản hồi hoặc timing khác nhau</a:t>
            </a:r>
            <a:r>
              <a:rPr lang="en-US" sz="2800">
                <a:latin typeface="Calibri"/>
                <a:ea typeface="Calibri"/>
                <a:cs typeface="Calibri"/>
                <a:sym typeface="Calibri"/>
              </a:rPr>
              <a:t>.</a:t>
            </a:r>
            <a:endParaRPr sz="2800">
              <a:latin typeface="Calibri"/>
              <a:ea typeface="Calibri"/>
              <a:cs typeface="Calibri"/>
              <a:sym typeface="Calibri"/>
            </a:endParaRPr>
          </a:p>
          <a:p>
            <a:pPr marL="91440" lvl="0" indent="-177800" algn="l" rtl="0">
              <a:lnSpc>
                <a:spcPct val="90000"/>
              </a:lnSpc>
              <a:spcBef>
                <a:spcPts val="1400"/>
              </a:spcBef>
              <a:spcAft>
                <a:spcPts val="0"/>
              </a:spcAft>
              <a:buSzPts val="2800"/>
              <a:buFont typeface="Calibri"/>
              <a:buChar char="-"/>
            </a:pPr>
            <a:r>
              <a:rPr lang="en-US" sz="2800">
                <a:latin typeface="Calibri"/>
                <a:ea typeface="Calibri"/>
                <a:cs typeface="Calibri"/>
                <a:sym typeface="Calibri"/>
              </a:rPr>
              <a:t> Khi server thực hiện giải mã RSA hoặc kiểm tra padding PKCS#1 v1.5, server sẽ để lộ kết quả kiểm tra padding:</a:t>
            </a:r>
            <a:endParaRPr/>
          </a:p>
          <a:p>
            <a:pPr marL="384048" lvl="1" indent="-182880" algn="l" rtl="0">
              <a:lnSpc>
                <a:spcPct val="90000"/>
              </a:lnSpc>
              <a:spcBef>
                <a:spcPts val="400"/>
              </a:spcBef>
              <a:spcAft>
                <a:spcPts val="0"/>
              </a:spcAft>
              <a:buSzPts val="2600"/>
              <a:buFont typeface="Calibri"/>
              <a:buChar char="-"/>
            </a:pPr>
            <a:r>
              <a:rPr lang="en-US" sz="2600">
                <a:latin typeface="Calibri"/>
                <a:ea typeface="Calibri"/>
                <a:cs typeface="Calibri"/>
                <a:sym typeface="Calibri"/>
              </a:rPr>
              <a:t>Trả về OK/FAIL</a:t>
            </a:r>
            <a:endParaRPr/>
          </a:p>
          <a:p>
            <a:pPr marL="384048" lvl="1" indent="-182880" algn="l" rtl="0">
              <a:lnSpc>
                <a:spcPct val="90000"/>
              </a:lnSpc>
              <a:spcBef>
                <a:spcPts val="600"/>
              </a:spcBef>
              <a:spcAft>
                <a:spcPts val="0"/>
              </a:spcAft>
              <a:buSzPts val="2600"/>
              <a:buFont typeface="Calibri"/>
              <a:buChar char="-"/>
            </a:pPr>
            <a:r>
              <a:rPr lang="en-US" sz="2600">
                <a:latin typeface="Calibri"/>
                <a:ea typeface="Calibri"/>
                <a:cs typeface="Calibri"/>
                <a:sym typeface="Calibri"/>
              </a:rPr>
              <a:t>Timing khác nhau</a:t>
            </a:r>
            <a:endParaRPr sz="2600">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5"/>
          <p:cNvSpPr txBox="1">
            <a:spLocks noGrp="1"/>
          </p:cNvSpPr>
          <p:nvPr>
            <p:ph type="title"/>
          </p:nvPr>
        </p:nvSpPr>
        <p:spPr>
          <a:xfrm>
            <a:off x="1097275" y="286600"/>
            <a:ext cx="106659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Attack A - </a:t>
            </a:r>
            <a:r>
              <a:rPr lang="en-US" sz="4800"/>
              <a:t>Bleichenbacher padding oracle </a:t>
            </a:r>
            <a:endParaRPr/>
          </a:p>
        </p:txBody>
      </p:sp>
      <p:pic>
        <p:nvPicPr>
          <p:cNvPr id="174" name="Google Shape;174;p25"/>
          <p:cNvPicPr preferRelativeResize="0"/>
          <p:nvPr/>
        </p:nvPicPr>
        <p:blipFill>
          <a:blip r:embed="rId3">
            <a:alphaModFix/>
          </a:blip>
          <a:stretch>
            <a:fillRect/>
          </a:stretch>
        </p:blipFill>
        <p:spPr>
          <a:xfrm>
            <a:off x="0" y="2785225"/>
            <a:ext cx="12192000" cy="215189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6"/>
          <p:cNvSpPr txBox="1">
            <a:spLocks noGrp="1"/>
          </p:cNvSpPr>
          <p:nvPr>
            <p:ph type="title"/>
          </p:nvPr>
        </p:nvSpPr>
        <p:spPr>
          <a:xfrm>
            <a:off x="1097275" y="286600"/>
            <a:ext cx="104361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Attack A - </a:t>
            </a:r>
            <a:r>
              <a:rPr lang="en-US" sz="4800"/>
              <a:t>Bleichenbacher padding oracle </a:t>
            </a:r>
            <a:endParaRPr/>
          </a:p>
        </p:txBody>
      </p:sp>
      <p:sp>
        <p:nvSpPr>
          <p:cNvPr id="180" name="Google Shape;180;p26"/>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 Demo Lab:</a:t>
            </a:r>
            <a:endParaRPr/>
          </a:p>
          <a:p>
            <a:pPr marL="384048" lvl="1" indent="-182880" algn="l" rtl="0">
              <a:lnSpc>
                <a:spcPct val="90000"/>
              </a:lnSpc>
              <a:spcBef>
                <a:spcPts val="400"/>
              </a:spcBef>
              <a:spcAft>
                <a:spcPts val="0"/>
              </a:spcAft>
              <a:buSzPts val="1800"/>
              <a:buChar char="◦"/>
            </a:pPr>
            <a:r>
              <a:rPr lang="en-US"/>
              <a:t>Server dùng RSA PCKS#1 v1.5 để gen key và giải mã</a:t>
            </a:r>
            <a:endParaRPr/>
          </a:p>
          <a:p>
            <a:pPr marL="384048" lvl="1" indent="-182880" algn="l" rtl="0">
              <a:lnSpc>
                <a:spcPct val="90000"/>
              </a:lnSpc>
              <a:spcBef>
                <a:spcPts val="600"/>
              </a:spcBef>
              <a:spcAft>
                <a:spcPts val="0"/>
              </a:spcAft>
              <a:buSzPts val="1800"/>
              <a:buChar char="◦"/>
            </a:pPr>
            <a:r>
              <a:rPr lang="en-US"/>
              <a:t>Server trả về OK/FAIL</a:t>
            </a:r>
            <a:endParaRPr/>
          </a:p>
          <a:p>
            <a:pPr marL="91440" lvl="0" indent="-127000" algn="l" rtl="0">
              <a:lnSpc>
                <a:spcPct val="90000"/>
              </a:lnSpc>
              <a:spcBef>
                <a:spcPts val="1600"/>
              </a:spcBef>
              <a:spcAft>
                <a:spcPts val="0"/>
              </a:spcAft>
              <a:buSzPts val="2000"/>
              <a:buChar char=" "/>
            </a:pPr>
            <a:r>
              <a:rPr lang="en-US"/>
              <a:t>- Phục hồi 48 byte premaster secret (plaintext)</a:t>
            </a:r>
            <a:endParaRPr/>
          </a:p>
        </p:txBody>
      </p:sp>
      <p:pic>
        <p:nvPicPr>
          <p:cNvPr id="181" name="Google Shape;181;p26"/>
          <p:cNvPicPr preferRelativeResize="0"/>
          <p:nvPr/>
        </p:nvPicPr>
        <p:blipFill rotWithShape="1">
          <a:blip r:embed="rId3">
            <a:alphaModFix/>
          </a:blip>
          <a:srcRect/>
          <a:stretch/>
        </p:blipFill>
        <p:spPr>
          <a:xfrm>
            <a:off x="0" y="3797268"/>
            <a:ext cx="7352990" cy="2555257"/>
          </a:xfrm>
          <a:prstGeom prst="rect">
            <a:avLst/>
          </a:prstGeom>
          <a:noFill/>
          <a:ln>
            <a:noFill/>
          </a:ln>
        </p:spPr>
      </p:pic>
      <p:pic>
        <p:nvPicPr>
          <p:cNvPr id="182" name="Google Shape;182;p26"/>
          <p:cNvPicPr preferRelativeResize="0"/>
          <p:nvPr/>
        </p:nvPicPr>
        <p:blipFill rotWithShape="1">
          <a:blip r:embed="rId4">
            <a:alphaModFix/>
          </a:blip>
          <a:srcRect/>
          <a:stretch/>
        </p:blipFill>
        <p:spPr>
          <a:xfrm>
            <a:off x="7352990" y="2059583"/>
            <a:ext cx="4839010" cy="429294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7"/>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Kết quả - Attack A</a:t>
            </a:r>
            <a:endParaRPr/>
          </a:p>
        </p:txBody>
      </p:sp>
      <p:graphicFrame>
        <p:nvGraphicFramePr>
          <p:cNvPr id="188" name="Google Shape;188;p27"/>
          <p:cNvGraphicFramePr/>
          <p:nvPr/>
        </p:nvGraphicFramePr>
        <p:xfrm>
          <a:off x="847592" y="1837396"/>
          <a:ext cx="3000000" cy="3000000"/>
        </p:xfrm>
        <a:graphic>
          <a:graphicData uri="http://schemas.openxmlformats.org/drawingml/2006/table">
            <a:tbl>
              <a:tblPr>
                <a:noFill/>
                <a:tableStyleId>{A54D19EA-8996-416A-80DB-8C1233495E97}</a:tableStyleId>
              </a:tblPr>
              <a:tblGrid>
                <a:gridCol w="2011350">
                  <a:extLst>
                    <a:ext uri="{9D8B030D-6E8A-4147-A177-3AD203B41FA5}">
                      <a16:colId xmlns:a16="http://schemas.microsoft.com/office/drawing/2014/main" val="20000"/>
                    </a:ext>
                  </a:extLst>
                </a:gridCol>
                <a:gridCol w="2011350">
                  <a:extLst>
                    <a:ext uri="{9D8B030D-6E8A-4147-A177-3AD203B41FA5}">
                      <a16:colId xmlns:a16="http://schemas.microsoft.com/office/drawing/2014/main" val="20001"/>
                    </a:ext>
                  </a:extLst>
                </a:gridCol>
                <a:gridCol w="2011350">
                  <a:extLst>
                    <a:ext uri="{9D8B030D-6E8A-4147-A177-3AD203B41FA5}">
                      <a16:colId xmlns:a16="http://schemas.microsoft.com/office/drawing/2014/main" val="20002"/>
                    </a:ext>
                  </a:extLst>
                </a:gridCol>
                <a:gridCol w="2011350">
                  <a:extLst>
                    <a:ext uri="{9D8B030D-6E8A-4147-A177-3AD203B41FA5}">
                      <a16:colId xmlns:a16="http://schemas.microsoft.com/office/drawing/2014/main" val="20003"/>
                    </a:ext>
                  </a:extLst>
                </a:gridCol>
                <a:gridCol w="2011350">
                  <a:extLst>
                    <a:ext uri="{9D8B030D-6E8A-4147-A177-3AD203B41FA5}">
                      <a16:colId xmlns:a16="http://schemas.microsoft.com/office/drawing/2014/main" val="20004"/>
                    </a:ext>
                  </a:extLst>
                </a:gridCol>
              </a:tblGrid>
              <a:tr h="365700">
                <a:tc>
                  <a:txBody>
                    <a:bodyPr/>
                    <a:lstStyle/>
                    <a:p>
                      <a:pPr marL="0" marR="0" lvl="0" indent="0" algn="l" rtl="0">
                        <a:spcBef>
                          <a:spcPts val="0"/>
                        </a:spcBef>
                        <a:spcAft>
                          <a:spcPts val="0"/>
                        </a:spcAft>
                        <a:buNone/>
                      </a:pPr>
                      <a:r>
                        <a:rPr lang="en-US" sz="1800" u="none" strike="noStrike" cap="none"/>
                        <a:t>Run</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Queries</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Time (s)</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Avg / query (s)</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QPS</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65700">
                <a:tc>
                  <a:txBody>
                    <a:bodyPr/>
                    <a:lstStyle/>
                    <a:p>
                      <a:pPr marL="0" marR="0" lvl="0" indent="0" algn="l" rtl="0">
                        <a:spcBef>
                          <a:spcPts val="0"/>
                        </a:spcBef>
                        <a:spcAft>
                          <a:spcPts val="0"/>
                        </a:spcAft>
                        <a:buNone/>
                      </a:pPr>
                      <a:r>
                        <a:rPr lang="en-US" sz="1800"/>
                        <a:t>1</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183,346</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360.38</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0.001966</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508.76</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65700">
                <a:tc>
                  <a:txBody>
                    <a:bodyPr/>
                    <a:lstStyle/>
                    <a:p>
                      <a:pPr marL="0" marR="0" lvl="0" indent="0" algn="l" rtl="0">
                        <a:spcBef>
                          <a:spcPts val="0"/>
                        </a:spcBef>
                        <a:spcAft>
                          <a:spcPts val="0"/>
                        </a:spcAft>
                        <a:buNone/>
                      </a:pPr>
                      <a:r>
                        <a:rPr lang="en-US" sz="1800"/>
                        <a:t>2</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194,874</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381.57</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0.001958</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510.72</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65700">
                <a:tc>
                  <a:txBody>
                    <a:bodyPr/>
                    <a:lstStyle/>
                    <a:p>
                      <a:pPr marL="0" marR="0" lvl="0" indent="0" algn="l" rtl="0">
                        <a:spcBef>
                          <a:spcPts val="0"/>
                        </a:spcBef>
                        <a:spcAft>
                          <a:spcPts val="0"/>
                        </a:spcAft>
                        <a:buNone/>
                      </a:pPr>
                      <a:r>
                        <a:rPr lang="en-US" sz="1800"/>
                        <a:t>3</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298,513</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576.78</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0.001932</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517.55</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65700">
                <a:tc>
                  <a:txBody>
                    <a:bodyPr/>
                    <a:lstStyle/>
                    <a:p>
                      <a:pPr marL="0" marR="0" lvl="0" indent="0" algn="l" rtl="0">
                        <a:spcBef>
                          <a:spcPts val="0"/>
                        </a:spcBef>
                        <a:spcAft>
                          <a:spcPts val="0"/>
                        </a:spcAft>
                        <a:buNone/>
                      </a:pPr>
                      <a:r>
                        <a:rPr lang="en-US" sz="1800"/>
                        <a:t>4</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53,511</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107.14</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0.002002</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499.44</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65700">
                <a:tc>
                  <a:txBody>
                    <a:bodyPr/>
                    <a:lstStyle/>
                    <a:p>
                      <a:pPr marL="0" marR="0" lvl="0" indent="0" algn="l" rtl="0">
                        <a:spcBef>
                          <a:spcPts val="0"/>
                        </a:spcBef>
                        <a:spcAft>
                          <a:spcPts val="0"/>
                        </a:spcAft>
                        <a:buNone/>
                      </a:pPr>
                      <a:r>
                        <a:rPr lang="en-US" sz="1800"/>
                        <a:t>5</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46,068</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101.14</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0.002195</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455.51</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365700">
                <a:tc>
                  <a:txBody>
                    <a:bodyPr/>
                    <a:lstStyle/>
                    <a:p>
                      <a:pPr marL="0" marR="0" lvl="0" indent="0" algn="l" rtl="0">
                        <a:spcBef>
                          <a:spcPts val="0"/>
                        </a:spcBef>
                        <a:spcAft>
                          <a:spcPts val="0"/>
                        </a:spcAft>
                        <a:buNone/>
                      </a:pPr>
                      <a:r>
                        <a:rPr lang="en-US" sz="1800"/>
                        <a:t>6</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366,681</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709.11</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0.001934</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517.10</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365700">
                <a:tc>
                  <a:txBody>
                    <a:bodyPr/>
                    <a:lstStyle/>
                    <a:p>
                      <a:pPr marL="0" marR="0" lvl="0" indent="0" algn="l" rtl="0">
                        <a:spcBef>
                          <a:spcPts val="0"/>
                        </a:spcBef>
                        <a:spcAft>
                          <a:spcPts val="0"/>
                        </a:spcAft>
                        <a:buNone/>
                      </a:pPr>
                      <a:r>
                        <a:rPr lang="en-US" sz="1800"/>
                        <a:t>7</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582,094</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1152.26</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0.001980</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505.18</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r h="365700">
                <a:tc>
                  <a:txBody>
                    <a:bodyPr/>
                    <a:lstStyle/>
                    <a:p>
                      <a:pPr marL="0" marR="0" lvl="0" indent="0" algn="l" rtl="0">
                        <a:spcBef>
                          <a:spcPts val="0"/>
                        </a:spcBef>
                        <a:spcAft>
                          <a:spcPts val="0"/>
                        </a:spcAft>
                        <a:buNone/>
                      </a:pPr>
                      <a:r>
                        <a:rPr lang="en-US" sz="1800"/>
                        <a:t>8</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405,583</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851.15</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0.002099</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476.51</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8"/>
                  </a:ext>
                </a:extLst>
              </a:tr>
              <a:tr h="365700">
                <a:tc>
                  <a:txBody>
                    <a:bodyPr/>
                    <a:lstStyle/>
                    <a:p>
                      <a:pPr marL="0" marR="0" lvl="0" indent="0" algn="l" rtl="0">
                        <a:spcBef>
                          <a:spcPts val="0"/>
                        </a:spcBef>
                        <a:spcAft>
                          <a:spcPts val="0"/>
                        </a:spcAft>
                        <a:buNone/>
                      </a:pPr>
                      <a:r>
                        <a:rPr lang="en-US" sz="1800"/>
                        <a:t>9</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779,375</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1722.48</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0.002210</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452.47</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9"/>
                  </a:ext>
                </a:extLst>
              </a:tr>
              <a:tr h="365700">
                <a:tc>
                  <a:txBody>
                    <a:bodyPr/>
                    <a:lstStyle/>
                    <a:p>
                      <a:pPr marL="0" marR="0" lvl="0" indent="0" algn="l" rtl="0">
                        <a:spcBef>
                          <a:spcPts val="0"/>
                        </a:spcBef>
                        <a:spcAft>
                          <a:spcPts val="0"/>
                        </a:spcAft>
                        <a:buNone/>
                      </a:pPr>
                      <a:r>
                        <a:rPr lang="en-US" sz="1800"/>
                        <a:t>10</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372,417</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821.20</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0.002205</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None/>
                      </a:pPr>
                      <a:r>
                        <a:rPr lang="en-US" sz="1800"/>
                        <a:t>453.50</a:t>
                      </a:r>
                      <a:endParaRPr/>
                    </a:p>
                  </a:txBody>
                  <a:tcPr marL="91425" marR="91425"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0"/>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8"/>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Kết quả - Attack A</a:t>
            </a:r>
            <a:endParaRPr/>
          </a:p>
        </p:txBody>
      </p:sp>
      <p:sp>
        <p:nvSpPr>
          <p:cNvPr id="194" name="Google Shape;194;p28"/>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rmAutofit/>
          </a:bodyPr>
          <a:lstStyle/>
          <a:p>
            <a:pPr marL="384048" lvl="1" indent="-220980" algn="l" rtl="0">
              <a:lnSpc>
                <a:spcPct val="90000"/>
              </a:lnSpc>
              <a:spcBef>
                <a:spcPts val="0"/>
              </a:spcBef>
              <a:spcAft>
                <a:spcPts val="0"/>
              </a:spcAft>
              <a:buSzPts val="2400"/>
              <a:buFont typeface="Calibri"/>
              <a:buChar char="-"/>
            </a:pPr>
            <a:r>
              <a:rPr lang="en-US" sz="2400">
                <a:latin typeface="Calibri"/>
                <a:ea typeface="Calibri"/>
                <a:cs typeface="Calibri"/>
                <a:sym typeface="Calibri"/>
              </a:rPr>
              <a:t>Số oracle queries trung bình≈ 327,846 queries / run</a:t>
            </a:r>
            <a:endParaRPr sz="2400"/>
          </a:p>
          <a:p>
            <a:pPr marL="384048" lvl="1" indent="-220980" algn="l" rtl="0">
              <a:lnSpc>
                <a:spcPct val="90000"/>
              </a:lnSpc>
              <a:spcBef>
                <a:spcPts val="600"/>
              </a:spcBef>
              <a:spcAft>
                <a:spcPts val="0"/>
              </a:spcAft>
              <a:buSzPts val="2400"/>
              <a:buFont typeface="Calibri"/>
              <a:buChar char="-"/>
            </a:pPr>
            <a:r>
              <a:rPr lang="en-US" sz="2400">
                <a:latin typeface="Calibri"/>
                <a:ea typeface="Calibri"/>
                <a:cs typeface="Calibri"/>
                <a:sym typeface="Calibri"/>
              </a:rPr>
              <a:t>Thời gian tấn công trung bình≈ 678.72 giây ≈ 11.31 phút</a:t>
            </a:r>
            <a:endParaRPr sz="2400">
              <a:latin typeface="Calibri"/>
              <a:ea typeface="Calibri"/>
              <a:cs typeface="Calibri"/>
              <a:sym typeface="Calibri"/>
            </a:endParaRPr>
          </a:p>
          <a:p>
            <a:pPr marL="384048" lvl="1" indent="-220980" algn="l" rtl="0">
              <a:lnSpc>
                <a:spcPct val="90000"/>
              </a:lnSpc>
              <a:spcBef>
                <a:spcPts val="600"/>
              </a:spcBef>
              <a:spcAft>
                <a:spcPts val="0"/>
              </a:spcAft>
              <a:buSzPts val="2400"/>
              <a:buFont typeface="Calibri"/>
              <a:buChar char="-"/>
            </a:pPr>
            <a:r>
              <a:rPr lang="en-US" sz="2400">
                <a:latin typeface="Calibri"/>
                <a:ea typeface="Calibri"/>
                <a:cs typeface="Calibri"/>
                <a:sym typeface="Calibri"/>
              </a:rPr>
              <a:t>Thời gian trung bình / query≈ 0.002048 giây ≈ 2.05 ms</a:t>
            </a:r>
            <a:endParaRPr sz="2400">
              <a:latin typeface="Calibri"/>
              <a:ea typeface="Calibri"/>
              <a:cs typeface="Calibri"/>
              <a:sym typeface="Calibri"/>
            </a:endParaRPr>
          </a:p>
          <a:p>
            <a:pPr marL="384048" lvl="1" indent="-220980" algn="l" rtl="0">
              <a:lnSpc>
                <a:spcPct val="90000"/>
              </a:lnSpc>
              <a:spcBef>
                <a:spcPts val="600"/>
              </a:spcBef>
              <a:spcAft>
                <a:spcPts val="0"/>
              </a:spcAft>
              <a:buSzPts val="2400"/>
              <a:buFont typeface="Calibri"/>
              <a:buChar char="-"/>
            </a:pPr>
            <a:r>
              <a:rPr lang="en-US" sz="2400">
                <a:latin typeface="Calibri"/>
                <a:ea typeface="Calibri"/>
                <a:cs typeface="Calibri"/>
                <a:sym typeface="Calibri"/>
              </a:rPr>
              <a:t>Throughput (QPS) trung bình≈ 489.82 queries / second</a:t>
            </a:r>
            <a:endParaRPr sz="2400"/>
          </a:p>
          <a:p>
            <a:pPr marL="384048" lvl="1" indent="-220980" algn="l" rtl="0">
              <a:lnSpc>
                <a:spcPct val="90000"/>
              </a:lnSpc>
              <a:spcBef>
                <a:spcPts val="600"/>
              </a:spcBef>
              <a:spcAft>
                <a:spcPts val="0"/>
              </a:spcAft>
              <a:buSzPts val="2400"/>
              <a:buFont typeface="Calibri"/>
              <a:buChar char="-"/>
            </a:pPr>
            <a:r>
              <a:rPr lang="en-US" sz="2400">
                <a:latin typeface="Calibri"/>
                <a:ea typeface="Calibri"/>
                <a:cs typeface="Calibri"/>
                <a:sym typeface="Calibri"/>
              </a:rPr>
              <a:t>Avg time / query:Rất ổn định: ~1.93–2.21 ms -&gt; chứng minh uniform timing path</a:t>
            </a:r>
            <a:endParaRPr sz="2400">
              <a:latin typeface="Calibri"/>
              <a:ea typeface="Calibri"/>
              <a:cs typeface="Calibri"/>
              <a:sym typeface="Calibri"/>
            </a:endParaRPr>
          </a:p>
          <a:p>
            <a:pPr marL="384048" lvl="1" indent="-220980" algn="l" rtl="0">
              <a:lnSpc>
                <a:spcPct val="90000"/>
              </a:lnSpc>
              <a:spcBef>
                <a:spcPts val="600"/>
              </a:spcBef>
              <a:spcAft>
                <a:spcPts val="0"/>
              </a:spcAft>
              <a:buSzPts val="2400"/>
              <a:buFont typeface="Calibri"/>
              <a:buChar char="-"/>
            </a:pPr>
            <a:r>
              <a:rPr lang="en-US" sz="2400">
                <a:latin typeface="Calibri"/>
                <a:ea typeface="Calibri"/>
                <a:cs typeface="Calibri"/>
                <a:sym typeface="Calibri"/>
              </a:rPr>
              <a:t>QPS: ~450–520 QPS</a:t>
            </a:r>
            <a:endParaRPr sz="200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9"/>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Mitigation - Attack A</a:t>
            </a:r>
            <a:endParaRPr/>
          </a:p>
        </p:txBody>
      </p:sp>
      <p:pic>
        <p:nvPicPr>
          <p:cNvPr id="200" name="Google Shape;200;p29"/>
          <p:cNvPicPr preferRelativeResize="0"/>
          <p:nvPr/>
        </p:nvPicPr>
        <p:blipFill rotWithShape="1">
          <a:blip r:embed="rId3">
            <a:alphaModFix/>
          </a:blip>
          <a:srcRect/>
          <a:stretch/>
        </p:blipFill>
        <p:spPr>
          <a:xfrm>
            <a:off x="5830414" y="2264475"/>
            <a:ext cx="5915851" cy="2419688"/>
          </a:xfrm>
          <a:prstGeom prst="rect">
            <a:avLst/>
          </a:prstGeom>
          <a:noFill/>
          <a:ln>
            <a:noFill/>
          </a:ln>
        </p:spPr>
      </p:pic>
      <p:pic>
        <p:nvPicPr>
          <p:cNvPr id="201" name="Google Shape;201;p29"/>
          <p:cNvPicPr preferRelativeResize="0"/>
          <p:nvPr/>
        </p:nvPicPr>
        <p:blipFill>
          <a:blip r:embed="rId4">
            <a:alphaModFix/>
          </a:blip>
          <a:stretch>
            <a:fillRect/>
          </a:stretch>
        </p:blipFill>
        <p:spPr>
          <a:xfrm>
            <a:off x="152400" y="1866684"/>
            <a:ext cx="5525614" cy="396786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0"/>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Attack B – Timing Attack on RSA</a:t>
            </a:r>
            <a:endParaRPr/>
          </a:p>
        </p:txBody>
      </p:sp>
      <p:sp>
        <p:nvSpPr>
          <p:cNvPr id="207" name="Google Shape;207;p30"/>
          <p:cNvSpPr txBox="1">
            <a:spLocks noGrp="1"/>
          </p:cNvSpPr>
          <p:nvPr>
            <p:ph type="body" idx="1"/>
          </p:nvPr>
        </p:nvSpPr>
        <p:spPr>
          <a:xfrm>
            <a:off x="1097280" y="1845734"/>
            <a:ext cx="10058400" cy="2524200"/>
          </a:xfrm>
          <a:prstGeom prst="rect">
            <a:avLst/>
          </a:prstGeom>
          <a:noFill/>
          <a:ln>
            <a:noFill/>
          </a:ln>
        </p:spPr>
        <p:txBody>
          <a:bodyPr spcFirstLastPara="1" wrap="square" lIns="91425" tIns="45700" rIns="91425" bIns="45700" anchor="ctr" anchorCtr="0">
            <a:spAutoFit/>
          </a:bodyPr>
          <a:lstStyle/>
          <a:p>
            <a:pPr marL="0" marR="0" lvl="0" indent="-177800" algn="l" rtl="0">
              <a:lnSpc>
                <a:spcPct val="100000"/>
              </a:lnSpc>
              <a:spcBef>
                <a:spcPts val="0"/>
              </a:spcBef>
              <a:spcAft>
                <a:spcPts val="0"/>
              </a:spcAft>
              <a:buClr>
                <a:schemeClr val="dk1"/>
              </a:buClr>
              <a:buSzPts val="2800"/>
              <a:buFont typeface="Calibri"/>
              <a:buChar char="•"/>
            </a:pPr>
            <a:r>
              <a:rPr lang="en-US" sz="2800" b="0" i="0" u="none" strike="noStrike" cap="none">
                <a:solidFill>
                  <a:schemeClr val="dk1"/>
                </a:solidFill>
                <a:latin typeface="Calibri"/>
                <a:ea typeface="Calibri"/>
                <a:cs typeface="Calibri"/>
                <a:sym typeface="Calibri"/>
              </a:rPr>
              <a:t>Loại tấn công: </a:t>
            </a:r>
            <a:r>
              <a:rPr lang="en-US" sz="2800" b="1" i="0" u="none" strike="noStrike" cap="none">
                <a:solidFill>
                  <a:schemeClr val="dk1"/>
                </a:solidFill>
                <a:latin typeface="Calibri"/>
                <a:ea typeface="Calibri"/>
                <a:cs typeface="Calibri"/>
                <a:sym typeface="Calibri"/>
              </a:rPr>
              <a:t>Side-channel attack</a:t>
            </a:r>
            <a:endParaRPr sz="2800" b="0" i="0" u="none" strike="noStrike" cap="none">
              <a:solidFill>
                <a:schemeClr val="dk1"/>
              </a:solidFill>
              <a:latin typeface="Calibri"/>
              <a:ea typeface="Calibri"/>
              <a:cs typeface="Calibri"/>
              <a:sym typeface="Calibri"/>
            </a:endParaRPr>
          </a:p>
          <a:p>
            <a:pPr marL="0" marR="0" lvl="0" indent="-177800" algn="l" rtl="0">
              <a:lnSpc>
                <a:spcPct val="100000"/>
              </a:lnSpc>
              <a:spcBef>
                <a:spcPts val="0"/>
              </a:spcBef>
              <a:spcAft>
                <a:spcPts val="0"/>
              </a:spcAft>
              <a:buClr>
                <a:schemeClr val="dk1"/>
              </a:buClr>
              <a:buSzPts val="2800"/>
              <a:buFont typeface="Calibri"/>
              <a:buChar char="•"/>
            </a:pPr>
            <a:r>
              <a:rPr lang="en-US" sz="2800" b="0" i="0" u="none" strike="noStrike" cap="none">
                <a:solidFill>
                  <a:schemeClr val="dk1"/>
                </a:solidFill>
                <a:latin typeface="Calibri"/>
                <a:ea typeface="Calibri"/>
                <a:cs typeface="Calibri"/>
                <a:sym typeface="Calibri"/>
              </a:rPr>
              <a:t>Không phá vỡ giả định toán học của RSA</a:t>
            </a:r>
            <a:endParaRPr/>
          </a:p>
          <a:p>
            <a:pPr marL="0" marR="0" lvl="0" indent="-177800" algn="l" rtl="0">
              <a:lnSpc>
                <a:spcPct val="100000"/>
              </a:lnSpc>
              <a:spcBef>
                <a:spcPts val="0"/>
              </a:spcBef>
              <a:spcAft>
                <a:spcPts val="0"/>
              </a:spcAft>
              <a:buClr>
                <a:schemeClr val="dk1"/>
              </a:buClr>
              <a:buSzPts val="2800"/>
              <a:buFont typeface="Calibri"/>
              <a:buChar char="•"/>
            </a:pPr>
            <a:r>
              <a:rPr lang="en-US" sz="2800" b="0" i="0" u="none" strike="noStrike" cap="none">
                <a:solidFill>
                  <a:schemeClr val="dk1"/>
                </a:solidFill>
                <a:latin typeface="Calibri"/>
                <a:ea typeface="Calibri"/>
                <a:cs typeface="Calibri"/>
                <a:sym typeface="Calibri"/>
              </a:rPr>
              <a:t>Khai thác </a:t>
            </a:r>
            <a:r>
              <a:rPr lang="en-US" sz="2800" b="1" i="0" u="none" strike="noStrike" cap="none">
                <a:solidFill>
                  <a:schemeClr val="dk1"/>
                </a:solidFill>
                <a:latin typeface="Calibri"/>
                <a:ea typeface="Calibri"/>
                <a:cs typeface="Calibri"/>
                <a:sym typeface="Calibri"/>
              </a:rPr>
              <a:t>rò rỉ thời gian thực thi</a:t>
            </a:r>
            <a:r>
              <a:rPr lang="en-US" sz="2800" b="0" i="0" u="none" strike="noStrike" cap="none">
                <a:solidFill>
                  <a:schemeClr val="dk1"/>
                </a:solidFill>
                <a:latin typeface="Calibri"/>
                <a:ea typeface="Calibri"/>
                <a:cs typeface="Calibri"/>
                <a:sym typeface="Calibri"/>
              </a:rPr>
              <a:t> trong quá trình:</a:t>
            </a:r>
            <a:endParaRPr/>
          </a:p>
          <a:p>
            <a:pPr marL="0" marR="0" lvl="0" indent="-177800" algn="l" rtl="0">
              <a:lnSpc>
                <a:spcPct val="100000"/>
              </a:lnSpc>
              <a:spcBef>
                <a:spcPts val="0"/>
              </a:spcBef>
              <a:spcAft>
                <a:spcPts val="0"/>
              </a:spcAft>
              <a:buClr>
                <a:schemeClr val="dk1"/>
              </a:buClr>
              <a:buSzPts val="2800"/>
              <a:buFont typeface="Calibri"/>
              <a:buChar char="•"/>
            </a:pPr>
            <a:r>
              <a:rPr lang="en-US" sz="2800" b="0" i="0" u="none" strike="noStrike" cap="none">
                <a:solidFill>
                  <a:schemeClr val="dk1"/>
                </a:solidFill>
                <a:latin typeface="Calibri"/>
                <a:ea typeface="Calibri"/>
                <a:cs typeface="Calibri"/>
                <a:sym typeface="Calibri"/>
              </a:rPr>
              <a:t>RSA signing</a:t>
            </a:r>
            <a:endParaRPr/>
          </a:p>
          <a:p>
            <a:pPr marL="0" marR="0" lvl="0" indent="-177800" algn="l" rtl="0">
              <a:lnSpc>
                <a:spcPct val="100000"/>
              </a:lnSpc>
              <a:spcBef>
                <a:spcPts val="0"/>
              </a:spcBef>
              <a:spcAft>
                <a:spcPts val="0"/>
              </a:spcAft>
              <a:buClr>
                <a:schemeClr val="dk1"/>
              </a:buClr>
              <a:buSzPts val="2800"/>
              <a:buFont typeface="Calibri"/>
              <a:buChar char="•"/>
            </a:pPr>
            <a:r>
              <a:rPr lang="en-US" sz="2800" b="0" i="0" u="none" strike="noStrike" cap="none">
                <a:solidFill>
                  <a:schemeClr val="dk1"/>
                </a:solidFill>
                <a:latin typeface="Calibri"/>
                <a:ea typeface="Calibri"/>
                <a:cs typeface="Calibri"/>
                <a:sym typeface="Calibri"/>
              </a:rPr>
              <a:t>RSA decryption</a:t>
            </a:r>
            <a:endParaRPr/>
          </a:p>
          <a:p>
            <a:pPr marL="0" marR="0" lvl="0" indent="0" algn="l" rtl="0">
              <a:lnSpc>
                <a:spcPct val="100000"/>
              </a:lnSpc>
              <a:spcBef>
                <a:spcPts val="0"/>
              </a:spcBef>
              <a:spcAft>
                <a:spcPts val="0"/>
              </a:spcAft>
              <a:buClr>
                <a:srgbClr val="3F3F3F"/>
              </a:buClr>
              <a:buSzPts val="1800"/>
              <a:buFont typeface="Calibri"/>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1"/>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Điều kiện</a:t>
            </a:r>
            <a:endParaRPr/>
          </a:p>
        </p:txBody>
      </p:sp>
      <p:sp>
        <p:nvSpPr>
          <p:cNvPr id="213" name="Google Shape;213;p31"/>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rmAutofit/>
          </a:bodyPr>
          <a:lstStyle/>
          <a:p>
            <a:pPr marL="91440" lvl="0" indent="-177800" algn="l" rtl="0">
              <a:lnSpc>
                <a:spcPct val="90000"/>
              </a:lnSpc>
              <a:spcBef>
                <a:spcPts val="0"/>
              </a:spcBef>
              <a:spcAft>
                <a:spcPts val="0"/>
              </a:spcAft>
              <a:buSzPts val="2800"/>
              <a:buChar char=" "/>
            </a:pPr>
            <a:r>
              <a:rPr lang="en-US" sz="2800">
                <a:latin typeface="Calibri"/>
                <a:ea typeface="Calibri"/>
                <a:cs typeface="Calibri"/>
                <a:sym typeface="Calibri"/>
              </a:rPr>
              <a:t>- Biết public key (𝑁,𝑒)</a:t>
            </a:r>
            <a:endParaRPr sz="2800">
              <a:latin typeface="Calibri"/>
              <a:ea typeface="Calibri"/>
              <a:cs typeface="Calibri"/>
              <a:sym typeface="Calibri"/>
            </a:endParaRPr>
          </a:p>
          <a:p>
            <a:pPr marL="91440" lvl="0" indent="-177800" algn="l" rtl="0">
              <a:lnSpc>
                <a:spcPct val="90000"/>
              </a:lnSpc>
              <a:spcBef>
                <a:spcPts val="1400"/>
              </a:spcBef>
              <a:spcAft>
                <a:spcPts val="0"/>
              </a:spcAft>
              <a:buSzPts val="2800"/>
              <a:buChar char=" "/>
            </a:pPr>
            <a:r>
              <a:rPr lang="en-US" sz="2800">
                <a:latin typeface="Calibri"/>
                <a:ea typeface="Calibri"/>
                <a:cs typeface="Calibri"/>
                <a:sym typeface="Calibri"/>
              </a:rPr>
              <a:t>- Có quyền gửi nhiều message / ciphertext tuỳ ý</a:t>
            </a:r>
            <a:endParaRPr sz="2800">
              <a:latin typeface="Calibri"/>
              <a:ea typeface="Calibri"/>
              <a:cs typeface="Calibri"/>
              <a:sym typeface="Calibri"/>
            </a:endParaRPr>
          </a:p>
          <a:p>
            <a:pPr marL="91440" lvl="0" indent="-177800" algn="l" rtl="0">
              <a:lnSpc>
                <a:spcPct val="90000"/>
              </a:lnSpc>
              <a:spcBef>
                <a:spcPts val="1400"/>
              </a:spcBef>
              <a:spcAft>
                <a:spcPts val="0"/>
              </a:spcAft>
              <a:buSzPts val="2800"/>
              <a:buChar char=" "/>
            </a:pPr>
            <a:r>
              <a:rPr lang="en-US" sz="2800">
                <a:latin typeface="Calibri"/>
                <a:ea typeface="Calibri"/>
                <a:cs typeface="Calibri"/>
                <a:sym typeface="Calibri"/>
              </a:rPr>
              <a:t>- Đo được thời gian xử lý 𝑇</a:t>
            </a:r>
            <a:r>
              <a:rPr lang="en-US" sz="1800">
                <a:latin typeface="Calibri"/>
                <a:ea typeface="Calibri"/>
                <a:cs typeface="Calibri"/>
                <a:sym typeface="Calibri"/>
              </a:rPr>
              <a:t>𝑖</a:t>
            </a:r>
            <a:r>
              <a:rPr lang="en-US" sz="2800">
                <a:latin typeface="Calibri"/>
                <a:ea typeface="Calibri"/>
                <a:cs typeface="Calibri"/>
                <a:sym typeface="Calibri"/>
              </a:rPr>
              <a:t> của mỗi lần ký / giải mã</a:t>
            </a:r>
            <a:endParaRPr sz="2800">
              <a:latin typeface="Calibri"/>
              <a:ea typeface="Calibri"/>
              <a:cs typeface="Calibri"/>
              <a:sym typeface="Calibri"/>
            </a:endParaRPr>
          </a:p>
          <a:p>
            <a:pPr marL="91440" lvl="0" indent="-177800" algn="l" rtl="0">
              <a:lnSpc>
                <a:spcPct val="90000"/>
              </a:lnSpc>
              <a:spcBef>
                <a:spcPts val="1400"/>
              </a:spcBef>
              <a:spcAft>
                <a:spcPts val="0"/>
              </a:spcAft>
              <a:buSzPts val="2800"/>
              <a:buChar char=" "/>
            </a:pPr>
            <a:r>
              <a:rPr lang="en-US" sz="2800">
                <a:latin typeface="Calibri"/>
                <a:ea typeface="Calibri"/>
                <a:cs typeface="Calibri"/>
                <a:sym typeface="Calibri"/>
              </a:rPr>
              <a:t>- Mục tiêu:</a:t>
            </a:r>
            <a:endParaRPr/>
          </a:p>
          <a:p>
            <a:pPr marL="384048" lvl="1" indent="-182880" algn="l" rtl="0">
              <a:lnSpc>
                <a:spcPct val="90000"/>
              </a:lnSpc>
              <a:spcBef>
                <a:spcPts val="400"/>
              </a:spcBef>
              <a:spcAft>
                <a:spcPts val="0"/>
              </a:spcAft>
              <a:buSzPts val="2600"/>
              <a:buChar char="◦"/>
            </a:pPr>
            <a:r>
              <a:rPr lang="en-US" sz="2600">
                <a:latin typeface="Calibri"/>
                <a:ea typeface="Calibri"/>
                <a:cs typeface="Calibri"/>
                <a:sym typeface="Calibri"/>
              </a:rPr>
              <a:t>Khôi phục private exponent 𝑑 từng bit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2"/>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solidFill>
                  <a:srgbClr val="404040"/>
                </a:solidFill>
                <a:latin typeface="Arial"/>
                <a:ea typeface="Arial"/>
                <a:cs typeface="Arial"/>
                <a:sym typeface="Arial"/>
              </a:rPr>
              <a:t>Decryption/Signing</a:t>
            </a:r>
            <a:endParaRPr/>
          </a:p>
        </p:txBody>
      </p:sp>
      <p:pic>
        <p:nvPicPr>
          <p:cNvPr id="219" name="Google Shape;219;p32"/>
          <p:cNvPicPr preferRelativeResize="0"/>
          <p:nvPr/>
        </p:nvPicPr>
        <p:blipFill>
          <a:blip r:embed="rId3">
            <a:alphaModFix/>
          </a:blip>
          <a:stretch>
            <a:fillRect/>
          </a:stretch>
        </p:blipFill>
        <p:spPr>
          <a:xfrm>
            <a:off x="152400" y="1889803"/>
            <a:ext cx="11887201" cy="376868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3"/>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solidFill>
                  <a:srgbClr val="404040"/>
                </a:solidFill>
                <a:latin typeface="Arial"/>
                <a:ea typeface="Arial"/>
                <a:cs typeface="Arial"/>
                <a:sym typeface="Arial"/>
              </a:rPr>
              <a:t>Square and Multiply</a:t>
            </a:r>
            <a:endParaRPr/>
          </a:p>
        </p:txBody>
      </p:sp>
      <p:pic>
        <p:nvPicPr>
          <p:cNvPr id="225" name="Google Shape;225;p33"/>
          <p:cNvPicPr preferRelativeResize="0"/>
          <p:nvPr/>
        </p:nvPicPr>
        <p:blipFill>
          <a:blip r:embed="rId3">
            <a:alphaModFix/>
          </a:blip>
          <a:stretch>
            <a:fillRect/>
          </a:stretch>
        </p:blipFill>
        <p:spPr>
          <a:xfrm>
            <a:off x="152400" y="1889803"/>
            <a:ext cx="11887198" cy="375016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4"/>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solidFill>
                  <a:srgbClr val="404040"/>
                </a:solidFill>
                <a:latin typeface="Arial"/>
                <a:ea typeface="Arial"/>
                <a:cs typeface="Arial"/>
                <a:sym typeface="Arial"/>
              </a:rPr>
              <a:t>Thu thập dữ liệu và thống kê</a:t>
            </a:r>
            <a:endParaRPr/>
          </a:p>
        </p:txBody>
      </p:sp>
      <p:pic>
        <p:nvPicPr>
          <p:cNvPr id="231" name="Google Shape;231;p34"/>
          <p:cNvPicPr preferRelativeResize="0"/>
          <p:nvPr/>
        </p:nvPicPr>
        <p:blipFill>
          <a:blip r:embed="rId3">
            <a:alphaModFix/>
          </a:blip>
          <a:stretch>
            <a:fillRect/>
          </a:stretch>
        </p:blipFill>
        <p:spPr>
          <a:xfrm>
            <a:off x="152400" y="1889803"/>
            <a:ext cx="11887199" cy="433847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5"/>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solidFill>
                  <a:srgbClr val="404040"/>
                </a:solidFill>
                <a:latin typeface="Arial"/>
                <a:ea typeface="Arial"/>
                <a:cs typeface="Arial"/>
                <a:sym typeface="Arial"/>
              </a:rPr>
              <a:t>Kết quả attack B</a:t>
            </a:r>
            <a:endParaRPr/>
          </a:p>
        </p:txBody>
      </p:sp>
      <p:pic>
        <p:nvPicPr>
          <p:cNvPr id="237" name="Google Shape;237;p35"/>
          <p:cNvPicPr preferRelativeResize="0"/>
          <p:nvPr/>
        </p:nvPicPr>
        <p:blipFill>
          <a:blip r:embed="rId3">
            <a:alphaModFix/>
          </a:blip>
          <a:stretch>
            <a:fillRect/>
          </a:stretch>
        </p:blipFill>
        <p:spPr>
          <a:xfrm>
            <a:off x="174125" y="1895700"/>
            <a:ext cx="11471402" cy="42406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6"/>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Mitigation - Attack B</a:t>
            </a:r>
            <a:endParaRPr/>
          </a:p>
        </p:txBody>
      </p:sp>
      <p:sp>
        <p:nvSpPr>
          <p:cNvPr id="243" name="Google Shape;243;p36"/>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0" lvl="0" indent="0" algn="l" rtl="0">
              <a:spcBef>
                <a:spcPts val="1200"/>
              </a:spcBef>
              <a:spcAft>
                <a:spcPts val="0"/>
              </a:spcAft>
              <a:buNone/>
            </a:pPr>
            <a:r>
              <a:rPr lang="en-US" sz="2400"/>
              <a:t>Giải pháp hạn chế rủi ro: </a:t>
            </a:r>
            <a:endParaRPr sz="2400"/>
          </a:p>
          <a:p>
            <a:pPr marL="457200" lvl="0" indent="-425450" algn="l" rtl="0">
              <a:spcBef>
                <a:spcPts val="1200"/>
              </a:spcBef>
              <a:spcAft>
                <a:spcPts val="0"/>
              </a:spcAft>
              <a:buSzPts val="3100"/>
              <a:buChar char="-"/>
            </a:pPr>
            <a:r>
              <a:rPr lang="en-US" sz="2400">
                <a:solidFill>
                  <a:schemeClr val="dk1"/>
                </a:solidFill>
              </a:rPr>
              <a:t>Constant-time implementation: bảo đảm thời gian chạy không phụ thuộc vào dữ liệu bí mật (bit của </a:t>
            </a:r>
            <a:r>
              <a:rPr lang="en-US" sz="2400">
                <a:solidFill>
                  <a:srgbClr val="188038"/>
                </a:solidFill>
              </a:rPr>
              <a:t>d</a:t>
            </a:r>
            <a:r>
              <a:rPr lang="en-US" sz="2400">
                <a:solidFill>
                  <a:schemeClr val="dk1"/>
                </a:solidFill>
              </a:rPr>
              <a:t>, giá trị trung gian).</a:t>
            </a:r>
            <a:endParaRPr sz="2400">
              <a:solidFill>
                <a:schemeClr val="dk1"/>
              </a:solidFill>
            </a:endParaRPr>
          </a:p>
          <a:p>
            <a:pPr marL="457200" lvl="0" indent="-463550" algn="l" rtl="0">
              <a:spcBef>
                <a:spcPts val="0"/>
              </a:spcBef>
              <a:spcAft>
                <a:spcPts val="0"/>
              </a:spcAft>
              <a:buClr>
                <a:schemeClr val="dk1"/>
              </a:buClr>
              <a:buSzPts val="3700"/>
              <a:buChar char="-"/>
            </a:pPr>
            <a:r>
              <a:rPr lang="en-US" sz="2400">
                <a:solidFill>
                  <a:schemeClr val="dk1"/>
                </a:solidFill>
              </a:rPr>
              <a:t>Blinding (message/exponent blinding)</a:t>
            </a:r>
            <a:r>
              <a:rPr lang="en-US" sz="2400" b="1">
                <a:solidFill>
                  <a:schemeClr val="dk1"/>
                </a:solidFill>
              </a:rPr>
              <a:t>:</a:t>
            </a:r>
            <a:r>
              <a:rPr lang="en-US" sz="2400">
                <a:solidFill>
                  <a:schemeClr val="dk1"/>
                </a:solidFill>
              </a:rPr>
              <a:t> ngẫu nhiên hoá đầu vào hoặc số mũ khi tính toán private-key ops (RSA/ECC) để che tương quan giữa thời gian và secret; </a:t>
            </a:r>
            <a:endParaRPr sz="37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7"/>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Trả lời câu hỏi RQ2</a:t>
            </a:r>
            <a:endParaRPr/>
          </a:p>
        </p:txBody>
      </p:sp>
      <p:sp>
        <p:nvSpPr>
          <p:cNvPr id="249" name="Google Shape;249;p37"/>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rmAutofit/>
          </a:bodyPr>
          <a:lstStyle/>
          <a:p>
            <a:pPr marL="384048" lvl="1" indent="-30479" algn="l" rtl="0">
              <a:lnSpc>
                <a:spcPct val="90000"/>
              </a:lnSpc>
              <a:spcBef>
                <a:spcPts val="0"/>
              </a:spcBef>
              <a:spcAft>
                <a:spcPts val="0"/>
              </a:spcAft>
              <a:buSzPts val="2400"/>
              <a:buFont typeface="Calibri"/>
              <a:buNone/>
            </a:pPr>
            <a:r>
              <a:rPr lang="en-US" sz="2400" i="1"/>
              <a:t>RQ2: Các tấn công Bleichenbacher (padding oracle) và timing attacks còn khả thi trên các stack hiện đại (OpenSSL / LibreSSL / BoringSSL) khi gặp cấu hình cũ hoặc lỗi không?</a:t>
            </a:r>
            <a:endParaRPr sz="2400" i="1"/>
          </a:p>
          <a:p>
            <a:pPr marL="384048" lvl="1" indent="-30479" algn="l" rtl="0">
              <a:lnSpc>
                <a:spcPct val="90000"/>
              </a:lnSpc>
              <a:spcBef>
                <a:spcPts val="0"/>
              </a:spcBef>
              <a:spcAft>
                <a:spcPts val="0"/>
              </a:spcAft>
              <a:buSzPts val="2400"/>
              <a:buFont typeface="Calibri"/>
              <a:buNone/>
            </a:pPr>
            <a:r>
              <a:rPr lang="en-US" sz="2400"/>
              <a:t>-&gt; Có, nhưng chỉ trong trường hợp triển khai sai:</a:t>
            </a:r>
            <a:endParaRPr sz="2400"/>
          </a:p>
          <a:p>
            <a:pPr marL="384048" lvl="1" indent="-30479" algn="l" rtl="0">
              <a:lnSpc>
                <a:spcPct val="90000"/>
              </a:lnSpc>
              <a:spcBef>
                <a:spcPts val="0"/>
              </a:spcBef>
              <a:spcAft>
                <a:spcPts val="0"/>
              </a:spcAft>
              <a:buSzPts val="2400"/>
              <a:buFont typeface="Calibri"/>
              <a:buNone/>
            </a:pPr>
            <a:r>
              <a:rPr lang="en-US" sz="2400"/>
              <a:t>- Hệ thống sử dụng RSA PKCS#1 v1.5 cho RSA Encryption</a:t>
            </a:r>
            <a:endParaRPr sz="2400"/>
          </a:p>
          <a:p>
            <a:pPr marL="384048" lvl="1" indent="-30479" algn="l" rtl="0">
              <a:lnSpc>
                <a:spcPct val="90000"/>
              </a:lnSpc>
              <a:spcBef>
                <a:spcPts val="0"/>
              </a:spcBef>
              <a:spcAft>
                <a:spcPts val="0"/>
              </a:spcAft>
              <a:buSzPts val="2400"/>
              <a:buFont typeface="Calibri"/>
              <a:buNone/>
            </a:pPr>
            <a:r>
              <a:rPr lang="en-US" sz="2400"/>
              <a:t>- Vẫn còn bật RSA key exchange (TLS ≤ 1.3)</a:t>
            </a:r>
            <a:endParaRPr sz="2400"/>
          </a:p>
          <a:p>
            <a:pPr marL="384048" lvl="1" indent="-30479" algn="l" rtl="0">
              <a:lnSpc>
                <a:spcPct val="90000"/>
              </a:lnSpc>
              <a:spcBef>
                <a:spcPts val="0"/>
              </a:spcBef>
              <a:spcAft>
                <a:spcPts val="0"/>
              </a:spcAft>
              <a:buSzPts val="2400"/>
              <a:buFont typeface="Calibri"/>
              <a:buNone/>
            </a:pPr>
            <a:r>
              <a:rPr lang="en-US" sz="2400"/>
              <a:t>- Có tồn tại padding/timing oracle</a:t>
            </a:r>
            <a:endParaRPr sz="24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8"/>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Attack C – Wiener’s Attack / low d</a:t>
            </a:r>
            <a:endParaRPr/>
          </a:p>
        </p:txBody>
      </p:sp>
      <p:sp>
        <p:nvSpPr>
          <p:cNvPr id="255" name="Google Shape;255;p38"/>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rmAutofit/>
          </a:bodyPr>
          <a:lstStyle/>
          <a:p>
            <a:pPr marL="91440" lvl="0" indent="-177800" algn="l" rtl="0">
              <a:lnSpc>
                <a:spcPct val="90000"/>
              </a:lnSpc>
              <a:spcBef>
                <a:spcPts val="0"/>
              </a:spcBef>
              <a:spcAft>
                <a:spcPts val="0"/>
              </a:spcAft>
              <a:buSzPts val="2800"/>
              <a:buChar char=" "/>
            </a:pPr>
            <a:r>
              <a:rPr lang="en-US" sz="2800"/>
              <a:t>- Khai thác cấu hình RSA </a:t>
            </a:r>
            <a:r>
              <a:rPr lang="en-US" sz="2800" b="1"/>
              <a:t>không an toàn </a:t>
            </a:r>
            <a:r>
              <a:rPr lang="en-US" sz="2800"/>
              <a:t>khi </a:t>
            </a:r>
            <a:r>
              <a:rPr lang="en-US" sz="2800" b="1"/>
              <a:t>private exponent 𝑑 quá nhỏ</a:t>
            </a:r>
            <a:r>
              <a:rPr lang="en-US" sz="2800"/>
              <a:t>, cho phép:</a:t>
            </a:r>
            <a:endParaRPr/>
          </a:p>
          <a:p>
            <a:pPr marL="384048" lvl="1" indent="-182880" algn="l" rtl="0">
              <a:lnSpc>
                <a:spcPct val="90000"/>
              </a:lnSpc>
              <a:spcBef>
                <a:spcPts val="400"/>
              </a:spcBef>
              <a:spcAft>
                <a:spcPts val="0"/>
              </a:spcAft>
              <a:buSzPts val="2800"/>
              <a:buChar char="◦"/>
            </a:pPr>
            <a:r>
              <a:rPr lang="en-US" sz="2800"/>
              <a:t>Khôi phục private key</a:t>
            </a:r>
            <a:endParaRPr/>
          </a:p>
          <a:p>
            <a:pPr marL="384048" lvl="1" indent="-182880" algn="l" rtl="0">
              <a:lnSpc>
                <a:spcPct val="90000"/>
              </a:lnSpc>
              <a:spcBef>
                <a:spcPts val="600"/>
              </a:spcBef>
              <a:spcAft>
                <a:spcPts val="0"/>
              </a:spcAft>
              <a:buSzPts val="2800"/>
              <a:buChar char="◦"/>
            </a:pPr>
            <a:r>
              <a:rPr lang="en-US" sz="2800"/>
              <a:t>Chỉ cần khóa công khai (N,e)</a:t>
            </a:r>
            <a:endParaRPr/>
          </a:p>
          <a:p>
            <a:pPr marL="201168" lvl="1" indent="0" algn="l" rtl="0">
              <a:lnSpc>
                <a:spcPct val="90000"/>
              </a:lnSpc>
              <a:spcBef>
                <a:spcPts val="600"/>
              </a:spcBef>
              <a:spcAft>
                <a:spcPts val="0"/>
              </a:spcAft>
              <a:buSzPts val="2800"/>
              <a:buNone/>
            </a:pPr>
            <a:r>
              <a:rPr lang="en-US" sz="2800"/>
              <a:t>=&gt; Dẫn tới forgery chữ ký số và Broken Access Control</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9"/>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Điều kiện</a:t>
            </a:r>
            <a:endParaRPr/>
          </a:p>
        </p:txBody>
      </p:sp>
      <p:sp>
        <p:nvSpPr>
          <p:cNvPr id="261" name="Google Shape;261;p39"/>
          <p:cNvSpPr txBox="1">
            <a:spLocks noGrp="1"/>
          </p:cNvSpPr>
          <p:nvPr>
            <p:ph type="body" idx="1"/>
          </p:nvPr>
        </p:nvSpPr>
        <p:spPr>
          <a:xfrm>
            <a:off x="1097275" y="1969343"/>
            <a:ext cx="12192000" cy="3783900"/>
          </a:xfrm>
          <a:prstGeom prst="rect">
            <a:avLst/>
          </a:prstGeom>
          <a:blipFill rotWithShape="1">
            <a:blip r:embed="rId3">
              <a:alphaModFix/>
            </a:blip>
            <a:stretch>
              <a:fillRect l="-1249" t="-3379"/>
            </a:stretch>
          </a:blip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40"/>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Ý tưởng</a:t>
            </a:r>
            <a:endParaRPr/>
          </a:p>
        </p:txBody>
      </p:sp>
      <p:sp>
        <p:nvSpPr>
          <p:cNvPr id="267" name="Google Shape;267;p40"/>
          <p:cNvSpPr txBox="1">
            <a:spLocks noGrp="1"/>
          </p:cNvSpPr>
          <p:nvPr>
            <p:ph type="body" idx="1"/>
          </p:nvPr>
        </p:nvSpPr>
        <p:spPr>
          <a:xfrm>
            <a:off x="1097275" y="1868300"/>
            <a:ext cx="7875000" cy="4597800"/>
          </a:xfrm>
          <a:prstGeom prst="rect">
            <a:avLst/>
          </a:prstGeom>
          <a:blipFill rotWithShape="1">
            <a:blip r:embed="rId3">
              <a:alphaModFix/>
            </a:blip>
            <a:stretch>
              <a:fillRect l="-589" t="-1949"/>
            </a:stretch>
          </a:blip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41"/>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Ý tưởng</a:t>
            </a:r>
            <a:endParaRPr/>
          </a:p>
        </p:txBody>
      </p:sp>
      <p:sp>
        <p:nvSpPr>
          <p:cNvPr id="273" name="Google Shape;273;p41"/>
          <p:cNvSpPr txBox="1"/>
          <p:nvPr/>
        </p:nvSpPr>
        <p:spPr>
          <a:xfrm>
            <a:off x="1097280" y="1861509"/>
            <a:ext cx="6589500" cy="4364700"/>
          </a:xfrm>
          <a:prstGeom prst="rect">
            <a:avLst/>
          </a:prstGeom>
          <a:blipFill rotWithShape="1">
            <a:blip r:embed="rId3">
              <a:alphaModFix/>
            </a:blip>
            <a:stretch>
              <a:fillRect l="-1019" t="-139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0" i="0" u="none" strike="noStrike" cap="none">
                <a:latin typeface="Calibri"/>
                <a:ea typeface="Calibri"/>
                <a:cs typeface="Calibri"/>
                <a:sym typeface="Calibri"/>
              </a:rPr>
              <a:t> </a:t>
            </a:r>
            <a:endParaRPr/>
          </a:p>
        </p:txBody>
      </p:sp>
      <p:pic>
        <p:nvPicPr>
          <p:cNvPr id="274" name="Google Shape;274;p41"/>
          <p:cNvPicPr preferRelativeResize="0">
            <a:picLocks noGrp="1"/>
          </p:cNvPicPr>
          <p:nvPr>
            <p:ph type="body" idx="1"/>
          </p:nvPr>
        </p:nvPicPr>
        <p:blipFill rotWithShape="1">
          <a:blip r:embed="rId4">
            <a:alphaModFix/>
          </a:blip>
          <a:srcRect/>
          <a:stretch/>
        </p:blipFill>
        <p:spPr>
          <a:xfrm>
            <a:off x="0" y="4908311"/>
            <a:ext cx="12192000" cy="14991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42"/>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Kết quả - Attack C</a:t>
            </a:r>
            <a:endParaRPr/>
          </a:p>
        </p:txBody>
      </p:sp>
      <p:pic>
        <p:nvPicPr>
          <p:cNvPr id="280" name="Google Shape;280;p42"/>
          <p:cNvPicPr preferRelativeResize="0">
            <a:picLocks noGrp="1"/>
          </p:cNvPicPr>
          <p:nvPr>
            <p:ph type="body" idx="1"/>
          </p:nvPr>
        </p:nvPicPr>
        <p:blipFill rotWithShape="1">
          <a:blip r:embed="rId3">
            <a:alphaModFix/>
          </a:blip>
          <a:srcRect/>
          <a:stretch/>
        </p:blipFill>
        <p:spPr>
          <a:xfrm>
            <a:off x="3804777" y="1855703"/>
            <a:ext cx="8387100" cy="4024200"/>
          </a:xfrm>
          <a:prstGeom prst="rect">
            <a:avLst/>
          </a:prstGeom>
          <a:noFill/>
          <a:ln>
            <a:noFill/>
          </a:ln>
        </p:spPr>
      </p:pic>
      <p:sp>
        <p:nvSpPr>
          <p:cNvPr id="281" name="Google Shape;281;p42"/>
          <p:cNvSpPr txBox="1"/>
          <p:nvPr/>
        </p:nvSpPr>
        <p:spPr>
          <a:xfrm>
            <a:off x="0" y="1940625"/>
            <a:ext cx="3663600" cy="4023300"/>
          </a:xfrm>
          <a:prstGeom prst="rect">
            <a:avLst/>
          </a:prstGeom>
          <a:noFill/>
          <a:ln>
            <a:noFill/>
          </a:ln>
        </p:spPr>
        <p:txBody>
          <a:bodyPr spcFirstLastPara="1" wrap="square" lIns="0" tIns="45700" rIns="0" bIns="45700" anchor="t" anchorCtr="0">
            <a:normAutofit/>
          </a:bodyPr>
          <a:lstStyle/>
          <a:p>
            <a:pPr marL="384048" marR="0" lvl="1" indent="-182880" algn="l" rtl="0">
              <a:lnSpc>
                <a:spcPct val="90000"/>
              </a:lnSpc>
              <a:spcBef>
                <a:spcPts val="0"/>
              </a:spcBef>
              <a:spcAft>
                <a:spcPts val="0"/>
              </a:spcAft>
              <a:buClr>
                <a:schemeClr val="accent1"/>
              </a:buClr>
              <a:buSzPts val="2400"/>
              <a:buFont typeface="Noto Sans Symbols"/>
              <a:buChar char="⇒"/>
            </a:pPr>
            <a:r>
              <a:rPr lang="en-US" sz="2400" b="0" i="0" u="none" strike="noStrike" cap="none">
                <a:solidFill>
                  <a:srgbClr val="3F3F3F"/>
                </a:solidFill>
                <a:latin typeface="Calibri"/>
                <a:ea typeface="Calibri"/>
                <a:cs typeface="Calibri"/>
                <a:sym typeface="Calibri"/>
              </a:rPr>
              <a:t>Tốn khoảng 0.02s để attack thành công</a:t>
            </a:r>
            <a:endParaRPr sz="2400" b="0" i="0" u="none" strike="noStrike" cap="none">
              <a:solidFill>
                <a:srgbClr val="3F3F3F"/>
              </a:solidFill>
              <a:latin typeface="Calibri"/>
              <a:ea typeface="Calibri"/>
              <a:cs typeface="Calibri"/>
              <a:sym typeface="Calibri"/>
            </a:endParaRPr>
          </a:p>
          <a:p>
            <a:pPr marL="201168" marR="0" lvl="1" indent="0" algn="l" rtl="0">
              <a:lnSpc>
                <a:spcPct val="90000"/>
              </a:lnSpc>
              <a:spcBef>
                <a:spcPts val="600"/>
              </a:spcBef>
              <a:spcAft>
                <a:spcPts val="0"/>
              </a:spcAft>
              <a:buClr>
                <a:schemeClr val="accent1"/>
              </a:buClr>
              <a:buSzPts val="1800"/>
              <a:buFont typeface="Calibri"/>
              <a:buNone/>
            </a:pPr>
            <a:r>
              <a:rPr lang="en-US" sz="1800" b="0" i="0" u="none" strike="noStrike" cap="none">
                <a:solidFill>
                  <a:srgbClr val="3F3F3F"/>
                </a:solidFill>
                <a:latin typeface="Calibri"/>
                <a:ea typeface="Calibri"/>
                <a:cs typeface="Calibri"/>
                <a:sym typeface="Calibri"/>
              </a:rPr>
              <a:t>- Qua đó chứng minh rằng</a:t>
            </a:r>
            <a:r>
              <a:rPr lang="en-US" sz="1800">
                <a:solidFill>
                  <a:srgbClr val="3F3F3F"/>
                </a:solidFill>
                <a:latin typeface="Calibri"/>
                <a:ea typeface="Calibri"/>
                <a:cs typeface="Calibri"/>
                <a:sym typeface="Calibri"/>
              </a:rPr>
              <a:t>:</a:t>
            </a:r>
            <a:r>
              <a:rPr lang="en-US" sz="1800" b="0" i="0" u="none" strike="noStrike" cap="none">
                <a:solidFill>
                  <a:srgbClr val="3F3F3F"/>
                </a:solidFill>
                <a:latin typeface="Calibri"/>
                <a:ea typeface="Calibri"/>
                <a:cs typeface="Calibri"/>
                <a:sym typeface="Calibri"/>
              </a:rPr>
              <a:t> </a:t>
            </a:r>
            <a:endParaRPr sz="1800" b="0" i="0" u="none" strike="noStrike" cap="none">
              <a:solidFill>
                <a:srgbClr val="3F3F3F"/>
              </a:solidFill>
              <a:latin typeface="Calibri"/>
              <a:ea typeface="Calibri"/>
              <a:cs typeface="Calibri"/>
              <a:sym typeface="Calibri"/>
            </a:endParaRPr>
          </a:p>
          <a:p>
            <a:pPr marL="201168" marR="0" lvl="1" indent="0" algn="l" rtl="0">
              <a:lnSpc>
                <a:spcPct val="90000"/>
              </a:lnSpc>
              <a:spcBef>
                <a:spcPts val="600"/>
              </a:spcBef>
              <a:spcAft>
                <a:spcPts val="0"/>
              </a:spcAft>
              <a:buClr>
                <a:schemeClr val="accent1"/>
              </a:buClr>
              <a:buSzPts val="1800"/>
              <a:buFont typeface="Calibri"/>
              <a:buNone/>
            </a:pPr>
            <a:r>
              <a:rPr lang="en-US" sz="1800">
                <a:solidFill>
                  <a:srgbClr val="3F3F3F"/>
                </a:solidFill>
                <a:latin typeface="Calibri"/>
                <a:ea typeface="Calibri"/>
                <a:cs typeface="Calibri"/>
                <a:sym typeface="Calibri"/>
              </a:rPr>
              <a:t>G</a:t>
            </a:r>
            <a:r>
              <a:rPr lang="en-US" sz="1800" b="0" i="0" u="none" strike="noStrike" cap="none">
                <a:solidFill>
                  <a:srgbClr val="3F3F3F"/>
                </a:solidFill>
                <a:latin typeface="Calibri"/>
                <a:ea typeface="Calibri"/>
                <a:cs typeface="Calibri"/>
                <a:sym typeface="Calibri"/>
              </a:rPr>
              <a:t>iả thuyết small exponent misue là nguyên nhân compromise thực tế, có thể dẫn đến cơ chế xác thực không còn đáng tin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43"/>
          <p:cNvSpPr txBox="1">
            <a:spLocks noGrp="1"/>
          </p:cNvSpPr>
          <p:nvPr>
            <p:ph type="title"/>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102000"/>
              </a:lnSpc>
              <a:spcBef>
                <a:spcPts val="0"/>
              </a:spcBef>
              <a:spcAft>
                <a:spcPts val="0"/>
              </a:spcAft>
              <a:buClr>
                <a:schemeClr val="dk1"/>
              </a:buClr>
              <a:buSzPts val="1100"/>
              <a:buFont typeface="Arial"/>
              <a:buNone/>
            </a:pPr>
            <a:r>
              <a:rPr lang="en-US">
                <a:solidFill>
                  <a:srgbClr val="3F3F3F"/>
                </a:solidFill>
              </a:rPr>
              <a:t>Mitigation - Attack C</a:t>
            </a:r>
            <a:endParaRPr/>
          </a:p>
        </p:txBody>
      </p:sp>
      <p:pic>
        <p:nvPicPr>
          <p:cNvPr id="287" name="Google Shape;287;p43"/>
          <p:cNvPicPr preferRelativeResize="0"/>
          <p:nvPr/>
        </p:nvPicPr>
        <p:blipFill rotWithShape="1">
          <a:blip r:embed="rId3">
            <a:alphaModFix/>
          </a:blip>
          <a:srcRect/>
          <a:stretch/>
        </p:blipFill>
        <p:spPr>
          <a:xfrm>
            <a:off x="0" y="4724584"/>
            <a:ext cx="12191999" cy="1542681"/>
          </a:xfrm>
          <a:prstGeom prst="rect">
            <a:avLst/>
          </a:prstGeom>
          <a:noFill/>
          <a:ln>
            <a:noFill/>
          </a:ln>
        </p:spPr>
      </p:pic>
      <p:sp>
        <p:nvSpPr>
          <p:cNvPr id="288" name="Google Shape;288;p43"/>
          <p:cNvSpPr txBox="1">
            <a:spLocks noGrp="1"/>
          </p:cNvSpPr>
          <p:nvPr>
            <p:ph type="body" idx="1"/>
          </p:nvPr>
        </p:nvSpPr>
        <p:spPr>
          <a:xfrm>
            <a:off x="0" y="1838487"/>
            <a:ext cx="6459900" cy="658800"/>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b="1"/>
              <a:t>- D bits trước khi vá:</a:t>
            </a:r>
            <a:endParaRPr/>
          </a:p>
        </p:txBody>
      </p:sp>
      <p:pic>
        <p:nvPicPr>
          <p:cNvPr id="289" name="Google Shape;289;p43"/>
          <p:cNvPicPr preferRelativeResize="0"/>
          <p:nvPr/>
        </p:nvPicPr>
        <p:blipFill rotWithShape="1">
          <a:blip r:embed="rId4">
            <a:alphaModFix/>
          </a:blip>
          <a:srcRect/>
          <a:stretch/>
        </p:blipFill>
        <p:spPr>
          <a:xfrm>
            <a:off x="0" y="2276596"/>
            <a:ext cx="8935967" cy="1651042"/>
          </a:xfrm>
          <a:prstGeom prst="rect">
            <a:avLst/>
          </a:prstGeom>
          <a:noFill/>
          <a:ln>
            <a:noFill/>
          </a:ln>
        </p:spPr>
      </p:pic>
      <p:sp>
        <p:nvSpPr>
          <p:cNvPr id="290" name="Google Shape;290;p43"/>
          <p:cNvSpPr txBox="1"/>
          <p:nvPr/>
        </p:nvSpPr>
        <p:spPr>
          <a:xfrm>
            <a:off x="0" y="4365747"/>
            <a:ext cx="6459900" cy="658800"/>
          </a:xfrm>
          <a:prstGeom prst="rect">
            <a:avLst/>
          </a:prstGeom>
          <a:noFill/>
          <a:ln>
            <a:noFill/>
          </a:ln>
        </p:spPr>
        <p:txBody>
          <a:bodyPr spcFirstLastPara="1" wrap="square" lIns="0" tIns="45700" rIns="0" bIns="45700" anchor="t" anchorCtr="0">
            <a:normAutofit/>
          </a:bodyPr>
          <a:lstStyle/>
          <a:p>
            <a:pPr marL="91440" marR="0" lvl="0" indent="-127000" algn="l" rtl="0">
              <a:lnSpc>
                <a:spcPct val="90000"/>
              </a:lnSpc>
              <a:spcBef>
                <a:spcPts val="0"/>
              </a:spcBef>
              <a:spcAft>
                <a:spcPts val="0"/>
              </a:spcAft>
              <a:buClr>
                <a:schemeClr val="accent1"/>
              </a:buClr>
              <a:buSzPts val="2000"/>
              <a:buFont typeface="Calibri"/>
              <a:buChar char=" "/>
            </a:pPr>
            <a:r>
              <a:rPr lang="en-US" sz="2000" b="1">
                <a:solidFill>
                  <a:srgbClr val="3F3F3F"/>
                </a:solidFill>
                <a:latin typeface="Calibri"/>
                <a:ea typeface="Calibri"/>
                <a:cs typeface="Calibri"/>
                <a:sym typeface="Calibri"/>
              </a:rPr>
              <a:t>- D bits sau khi vá:</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44"/>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solidFill>
                  <a:srgbClr val="404040"/>
                </a:solidFill>
                <a:latin typeface="Arial"/>
                <a:ea typeface="Arial"/>
                <a:cs typeface="Arial"/>
                <a:sym typeface="Arial"/>
              </a:rPr>
              <a:t>Fault attack: mở rộng</a:t>
            </a:r>
            <a:endParaRPr/>
          </a:p>
        </p:txBody>
      </p:sp>
      <p:pic>
        <p:nvPicPr>
          <p:cNvPr id="296" name="Google Shape;296;p44"/>
          <p:cNvPicPr preferRelativeResize="0"/>
          <p:nvPr/>
        </p:nvPicPr>
        <p:blipFill>
          <a:blip r:embed="rId3">
            <a:alphaModFix/>
          </a:blip>
          <a:stretch>
            <a:fillRect/>
          </a:stretch>
        </p:blipFill>
        <p:spPr>
          <a:xfrm>
            <a:off x="152400" y="1813278"/>
            <a:ext cx="11887200" cy="412806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5"/>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solidFill>
                  <a:srgbClr val="404040"/>
                </a:solidFill>
                <a:latin typeface="Arial"/>
                <a:ea typeface="Arial"/>
                <a:cs typeface="Arial"/>
                <a:sym typeface="Arial"/>
              </a:rPr>
              <a:t>Bellcore Attack</a:t>
            </a:r>
            <a:endParaRPr/>
          </a:p>
        </p:txBody>
      </p:sp>
      <p:pic>
        <p:nvPicPr>
          <p:cNvPr id="302" name="Google Shape;302;p45"/>
          <p:cNvPicPr preferRelativeResize="0"/>
          <p:nvPr/>
        </p:nvPicPr>
        <p:blipFill>
          <a:blip r:embed="rId3">
            <a:alphaModFix/>
          </a:blip>
          <a:stretch>
            <a:fillRect/>
          </a:stretch>
        </p:blipFill>
        <p:spPr>
          <a:xfrm>
            <a:off x="152400" y="1889803"/>
            <a:ext cx="11887203" cy="44968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46"/>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Modulus Fault</a:t>
            </a:r>
            <a:endParaRPr/>
          </a:p>
        </p:txBody>
      </p:sp>
      <p:sp>
        <p:nvSpPr>
          <p:cNvPr id="308" name="Google Shape;308;p46"/>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457200" lvl="0" indent="-381000" algn="l" rtl="0">
              <a:spcBef>
                <a:spcPts val="1200"/>
              </a:spcBef>
              <a:spcAft>
                <a:spcPts val="0"/>
              </a:spcAft>
              <a:buSzPts val="2400"/>
              <a:buChar char="-"/>
            </a:pPr>
            <a:r>
              <a:rPr lang="en-US" sz="2400"/>
              <a:t>Một trường hợp khác có thể xảy ra đó là việc tính chữ kí bị lỗi ở bước lấy modulo. </a:t>
            </a:r>
            <a:endParaRPr sz="2400"/>
          </a:p>
          <a:p>
            <a:pPr marL="457200" lvl="0" indent="-381000" algn="l" rtl="0">
              <a:spcBef>
                <a:spcPts val="0"/>
              </a:spcBef>
              <a:spcAft>
                <a:spcPts val="0"/>
              </a:spcAft>
              <a:buSzPts val="2400"/>
              <a:buChar char="-"/>
            </a:pPr>
            <a:r>
              <a:rPr lang="en-US" sz="2400"/>
              <a:t>Bằng cách thu thập các chữ kí lỗi, ta có thể tạo ra được một tổ hợp tuyến tính của các thành phần trong bước tính CRT </a:t>
            </a:r>
            <a:endParaRPr sz="2400"/>
          </a:p>
          <a:p>
            <a:pPr marL="457200" lvl="0" indent="-381000" algn="l" rtl="0">
              <a:spcBef>
                <a:spcPts val="0"/>
              </a:spcBef>
              <a:spcAft>
                <a:spcPts val="0"/>
              </a:spcAft>
              <a:buSzPts val="2400"/>
              <a:buChar char="-"/>
            </a:pPr>
            <a:endParaRPr sz="2400"/>
          </a:p>
          <a:p>
            <a:pPr marL="0" lvl="0" indent="0" algn="l" rtl="0">
              <a:spcBef>
                <a:spcPts val="1200"/>
              </a:spcBef>
              <a:spcAft>
                <a:spcPts val="200"/>
              </a:spcAft>
              <a:buNone/>
            </a:pPr>
            <a:endParaRPr sz="2400"/>
          </a:p>
        </p:txBody>
      </p:sp>
      <p:pic>
        <p:nvPicPr>
          <p:cNvPr id="309" name="Google Shape;309;p46"/>
          <p:cNvPicPr preferRelativeResize="0"/>
          <p:nvPr/>
        </p:nvPicPr>
        <p:blipFill>
          <a:blip r:embed="rId3">
            <a:alphaModFix/>
          </a:blip>
          <a:stretch>
            <a:fillRect/>
          </a:stretch>
        </p:blipFill>
        <p:spPr>
          <a:xfrm>
            <a:off x="3180475" y="3599150"/>
            <a:ext cx="5599650" cy="17865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7"/>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Modulus Fault</a:t>
            </a:r>
            <a:endParaRPr/>
          </a:p>
        </p:txBody>
      </p:sp>
      <p:sp>
        <p:nvSpPr>
          <p:cNvPr id="315" name="Google Shape;315;p47"/>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457200" lvl="0" indent="-368300" algn="l" rtl="0">
              <a:spcBef>
                <a:spcPts val="1200"/>
              </a:spcBef>
              <a:spcAft>
                <a:spcPts val="0"/>
              </a:spcAft>
              <a:buSzPts val="2200"/>
              <a:buChar char="-"/>
            </a:pPr>
            <a:r>
              <a:rPr lang="en-US" sz="2400"/>
              <a:t>Hướng tấn công: Thu thập nhiều chữ kí lỗi và sử dụng thuật toán LLL để phân tích modulus N</a:t>
            </a:r>
            <a:endParaRPr sz="2400"/>
          </a:p>
          <a:p>
            <a:pPr marL="457200" lvl="0" indent="-381000" algn="l" rtl="0">
              <a:spcBef>
                <a:spcPts val="0"/>
              </a:spcBef>
              <a:spcAft>
                <a:spcPts val="0"/>
              </a:spcAft>
              <a:buSzPts val="2400"/>
              <a:buChar char="-"/>
            </a:pPr>
            <a:r>
              <a:rPr lang="en-US" sz="2400"/>
              <a:t>Chi tiết thuật toán: </a:t>
            </a:r>
            <a:endParaRPr sz="2400"/>
          </a:p>
          <a:p>
            <a:pPr marL="0" lvl="0" indent="0" algn="l" rtl="0">
              <a:spcBef>
                <a:spcPts val="1200"/>
              </a:spcBef>
              <a:spcAft>
                <a:spcPts val="200"/>
              </a:spcAft>
              <a:buNone/>
            </a:pPr>
            <a:endParaRPr sz="2400"/>
          </a:p>
        </p:txBody>
      </p:sp>
      <p:pic>
        <p:nvPicPr>
          <p:cNvPr id="316" name="Google Shape;316;p47"/>
          <p:cNvPicPr preferRelativeResize="0"/>
          <p:nvPr/>
        </p:nvPicPr>
        <p:blipFill>
          <a:blip r:embed="rId3">
            <a:alphaModFix/>
          </a:blip>
          <a:stretch>
            <a:fillRect/>
          </a:stretch>
        </p:blipFill>
        <p:spPr>
          <a:xfrm>
            <a:off x="1962150" y="3074163"/>
            <a:ext cx="8267700" cy="25431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48"/>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Modulus Fault</a:t>
            </a:r>
            <a:endParaRPr/>
          </a:p>
        </p:txBody>
      </p:sp>
      <p:sp>
        <p:nvSpPr>
          <p:cNvPr id="322" name="Google Shape;322;p48"/>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457200" lvl="0" indent="-368300" algn="l" rtl="0">
              <a:spcBef>
                <a:spcPts val="1200"/>
              </a:spcBef>
              <a:spcAft>
                <a:spcPts val="0"/>
              </a:spcAft>
              <a:buSzPts val="2200"/>
              <a:buChar char="-"/>
            </a:pPr>
            <a:r>
              <a:rPr lang="en-US" sz="2400"/>
              <a:t>Số lượng chữ kí cần để phân tích N: </a:t>
            </a:r>
            <a:endParaRPr sz="2400"/>
          </a:p>
        </p:txBody>
      </p:sp>
      <p:pic>
        <p:nvPicPr>
          <p:cNvPr id="323" name="Google Shape;323;p48"/>
          <p:cNvPicPr preferRelativeResize="0"/>
          <p:nvPr/>
        </p:nvPicPr>
        <p:blipFill>
          <a:blip r:embed="rId3">
            <a:alphaModFix/>
          </a:blip>
          <a:stretch>
            <a:fillRect/>
          </a:stretch>
        </p:blipFill>
        <p:spPr>
          <a:xfrm>
            <a:off x="2771775" y="2490788"/>
            <a:ext cx="6648450" cy="18764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49"/>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Modulus Fault</a:t>
            </a:r>
            <a:endParaRPr/>
          </a:p>
        </p:txBody>
      </p:sp>
      <p:sp>
        <p:nvSpPr>
          <p:cNvPr id="329" name="Google Shape;329;p49"/>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0" lvl="0" indent="457200" algn="l" rtl="0">
              <a:spcBef>
                <a:spcPts val="1200"/>
              </a:spcBef>
              <a:spcAft>
                <a:spcPts val="0"/>
              </a:spcAft>
              <a:buNone/>
            </a:pPr>
            <a:r>
              <a:rPr lang="en-US" sz="2400"/>
              <a:t>Biện pháp hạn chế rủi ro: </a:t>
            </a:r>
            <a:endParaRPr sz="2400"/>
          </a:p>
          <a:p>
            <a:pPr marL="457200" lvl="0" indent="-368300" algn="l" rtl="0">
              <a:spcBef>
                <a:spcPts val="1200"/>
              </a:spcBef>
              <a:spcAft>
                <a:spcPts val="0"/>
              </a:spcAft>
              <a:buSzPts val="2200"/>
              <a:buChar char="-"/>
            </a:pPr>
            <a:r>
              <a:rPr lang="en-US" sz="2400"/>
              <a:t>Sử dụng công thức Garner’s formula thay cho thuật toán CRT → không bị phụ thuộc vào N</a:t>
            </a:r>
            <a:endParaRPr sz="2400"/>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457200" lvl="0" indent="-368300" algn="l" rtl="0">
              <a:spcBef>
                <a:spcPts val="1200"/>
              </a:spcBef>
              <a:spcAft>
                <a:spcPts val="0"/>
              </a:spcAft>
              <a:buSzPts val="2200"/>
              <a:buChar char="-"/>
            </a:pPr>
            <a:r>
              <a:rPr lang="en-US" sz="2400"/>
              <a:t> Sử dụng các scheme chữ kí có tính ngẫu nhiên chẳng hạn RSA - PSS, hoặc stateful scheme (mỗi lần kí sẽ cập nhật trạng thái, kết quả sẽ khác nhau) </a:t>
            </a:r>
            <a:endParaRPr sz="2400"/>
          </a:p>
        </p:txBody>
      </p:sp>
      <p:pic>
        <p:nvPicPr>
          <p:cNvPr id="330" name="Google Shape;330;p49"/>
          <p:cNvPicPr preferRelativeResize="0"/>
          <p:nvPr/>
        </p:nvPicPr>
        <p:blipFill>
          <a:blip r:embed="rId3">
            <a:alphaModFix/>
          </a:blip>
          <a:stretch>
            <a:fillRect/>
          </a:stretch>
        </p:blipFill>
        <p:spPr>
          <a:xfrm>
            <a:off x="4238625" y="2919150"/>
            <a:ext cx="3714750" cy="18764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50"/>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4. Kiến trúc giải pháp</a:t>
            </a:r>
            <a:endParaRPr/>
          </a:p>
        </p:txBody>
      </p:sp>
      <p:sp>
        <p:nvSpPr>
          <p:cNvPr id="336" name="Google Shape;336;p50"/>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514350" lvl="0" indent="-514350" algn="l" rtl="0">
              <a:spcBef>
                <a:spcPts val="0"/>
              </a:spcBef>
              <a:spcAft>
                <a:spcPts val="0"/>
              </a:spcAft>
              <a:buSzPts val="2000"/>
              <a:buAutoNum type="arabicParenR"/>
            </a:pPr>
            <a:r>
              <a:rPr lang="en-US"/>
              <a:t>Key size phải đạt chuẩn: ít nhất 2048 bit, khuyến khích tăng lên 3072 bit hoặc cao hơn nếu muốn bảo mật dài hạn.</a:t>
            </a:r>
            <a:endParaRPr/>
          </a:p>
          <a:p>
            <a:pPr marL="514350" lvl="0" indent="-514350" algn="l" rtl="0">
              <a:spcBef>
                <a:spcPts val="2200"/>
              </a:spcBef>
              <a:spcAft>
                <a:spcPts val="0"/>
              </a:spcAft>
              <a:buSzPts val="2000"/>
              <a:buAutoNum type="arabicParenR"/>
            </a:pPr>
            <a:r>
              <a:rPr lang="en-US"/>
              <a:t>Đảm bảo tính ngẫu nhiên khi sinh khóa.</a:t>
            </a:r>
            <a:endParaRPr/>
          </a:p>
          <a:p>
            <a:pPr marL="514350" lvl="0" indent="-514350" algn="l" rtl="0">
              <a:spcBef>
                <a:spcPts val="2200"/>
              </a:spcBef>
              <a:spcAft>
                <a:spcPts val="0"/>
              </a:spcAft>
              <a:buSzPts val="2000"/>
              <a:buAutoNum type="arabicParenR"/>
            </a:pPr>
            <a:r>
              <a:rPr lang="en-US"/>
              <a:t>Tránh dùng chung 1 khóa cho nhiều dịch vụ khác nhau.</a:t>
            </a:r>
            <a:endParaRPr/>
          </a:p>
          <a:p>
            <a:pPr marL="514350" lvl="0" indent="-514350" algn="l" rtl="0">
              <a:spcBef>
                <a:spcPts val="2200"/>
              </a:spcBef>
              <a:spcAft>
                <a:spcPts val="0"/>
              </a:spcAft>
              <a:buSzPts val="2000"/>
              <a:buAutoNum type="arabicParenR"/>
            </a:pPr>
            <a:r>
              <a:rPr lang="en-US"/>
              <a:t>Chuẩn bị các giải pháp bảo vệ dài hạn: </a:t>
            </a:r>
            <a:br>
              <a:rPr lang="en-US"/>
            </a:br>
            <a:r>
              <a:rPr lang="en-US"/>
              <a:t>Giám sát các kĩ thuật phá mã và điều chỉnh độ dài khóa. Lên kế hoạch chuyển sang các thuật toán mới, đặc biệt là mật mã hậu lượng tử.</a:t>
            </a:r>
            <a:endParaRPr/>
          </a:p>
          <a:p>
            <a:pPr marL="0" lvl="0" indent="0" algn="l" rtl="0">
              <a:spcBef>
                <a:spcPts val="1200"/>
              </a:spcBef>
              <a:spcAft>
                <a:spcPts val="200"/>
              </a:spcAft>
              <a:buNone/>
            </a:pP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51"/>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5. Mở rộng hướng đi tiếp theo</a:t>
            </a:r>
            <a:endParaRPr/>
          </a:p>
        </p:txBody>
      </p:sp>
      <p:sp>
        <p:nvSpPr>
          <p:cNvPr id="342" name="Google Shape;342;p51"/>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457200" lvl="0" indent="-355600" algn="l" rtl="0">
              <a:spcBef>
                <a:spcPts val="1200"/>
              </a:spcBef>
              <a:spcAft>
                <a:spcPts val="0"/>
              </a:spcAft>
              <a:buSzPts val="2000"/>
              <a:buChar char="-"/>
            </a:pPr>
            <a:r>
              <a:rPr lang="en-US" sz="2200"/>
              <a:t>Chuyển sang sử dụng các hệ mật mã hậu lượng tử (PQC, Lattice based, isogeny based), ECC, v.v..</a:t>
            </a:r>
            <a:endParaRPr sz="2200"/>
          </a:p>
          <a:p>
            <a:pPr marL="457200" lvl="0" indent="-355600" algn="l" rtl="0">
              <a:spcBef>
                <a:spcPts val="0"/>
              </a:spcBef>
              <a:spcAft>
                <a:spcPts val="0"/>
              </a:spcAft>
              <a:buSzPts val="2000"/>
              <a:buChar char="-"/>
            </a:pPr>
            <a:r>
              <a:rPr lang="en-US" sz="2200"/>
              <a:t>ECC - Hệ mật mã dựa trên đường cong, có một số ưu điểm nhất định so với RSA</a:t>
            </a:r>
            <a:endParaRPr sz="2200"/>
          </a:p>
          <a:p>
            <a:pPr marL="914400" lvl="1" indent="-355600" algn="l" rtl="0">
              <a:spcBef>
                <a:spcPts val="0"/>
              </a:spcBef>
              <a:spcAft>
                <a:spcPts val="0"/>
              </a:spcAft>
              <a:buSzPts val="2000"/>
              <a:buChar char="-"/>
            </a:pPr>
            <a:r>
              <a:rPr lang="en-US" sz="2000"/>
              <a:t>TLS/Key agreement: ECDHE</a:t>
            </a:r>
            <a:endParaRPr sz="2000"/>
          </a:p>
          <a:p>
            <a:pPr marL="914400" lvl="1" indent="-355600" algn="l" rtl="0">
              <a:spcBef>
                <a:spcPts val="0"/>
              </a:spcBef>
              <a:spcAft>
                <a:spcPts val="0"/>
              </a:spcAft>
              <a:buSzPts val="2000"/>
              <a:buChar char="-"/>
            </a:pPr>
            <a:r>
              <a:rPr lang="en-US" sz="2000"/>
              <a:t>Chữ ký số/Cert: RSA-PSS → ECDSA hoặc EdDSA</a:t>
            </a:r>
            <a:endParaRPr sz="2000"/>
          </a:p>
          <a:p>
            <a:pPr marL="0" lvl="0" indent="0" algn="l" rtl="0">
              <a:spcBef>
                <a:spcPts val="1200"/>
              </a:spcBef>
              <a:spcAft>
                <a:spcPts val="0"/>
              </a:spcAft>
              <a:buNone/>
            </a:pPr>
            <a:endParaRPr/>
          </a:p>
          <a:p>
            <a:pPr marL="0" lvl="0" indent="0" algn="l" rtl="0">
              <a:spcBef>
                <a:spcPts val="1200"/>
              </a:spcBef>
              <a:spcAft>
                <a:spcPts val="200"/>
              </a:spcAft>
              <a:buNone/>
            </a:pPr>
            <a:endParaRPr/>
          </a:p>
        </p:txBody>
      </p:sp>
      <p:pic>
        <p:nvPicPr>
          <p:cNvPr id="343" name="Google Shape;343;p51"/>
          <p:cNvPicPr preferRelativeResize="0"/>
          <p:nvPr/>
        </p:nvPicPr>
        <p:blipFill>
          <a:blip r:embed="rId3">
            <a:alphaModFix/>
          </a:blip>
          <a:stretch>
            <a:fillRect/>
          </a:stretch>
        </p:blipFill>
        <p:spPr>
          <a:xfrm>
            <a:off x="3750250" y="3482475"/>
            <a:ext cx="3567050" cy="23865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52"/>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RSA vs ECC</a:t>
            </a:r>
            <a:endParaRPr/>
          </a:p>
        </p:txBody>
      </p:sp>
      <p:sp>
        <p:nvSpPr>
          <p:cNvPr id="349" name="Google Shape;349;p52"/>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0" lvl="0" indent="0" algn="l" rtl="0">
              <a:spcBef>
                <a:spcPts val="1200"/>
              </a:spcBef>
              <a:spcAft>
                <a:spcPts val="0"/>
              </a:spcAft>
              <a:buNone/>
            </a:pPr>
            <a:r>
              <a:rPr lang="en-US" sz="2400"/>
              <a:t>Điểm hạn chế của RSA:</a:t>
            </a:r>
            <a:endParaRPr sz="2400"/>
          </a:p>
          <a:p>
            <a:pPr marL="457200" lvl="0" indent="-368300" algn="l" rtl="0">
              <a:spcBef>
                <a:spcPts val="1200"/>
              </a:spcBef>
              <a:spcAft>
                <a:spcPts val="0"/>
              </a:spcAft>
              <a:buSzPts val="2200"/>
              <a:buChar char="-"/>
            </a:pPr>
            <a:r>
              <a:rPr lang="en-US" sz="2400"/>
              <a:t>Thuật toán sinh khóa của RSA rất chậm, đối với khóa có độ lớn 16384 bit có thể mất đến vài phút trên máy tính cá nhân.  </a:t>
            </a:r>
            <a:endParaRPr sz="2400"/>
          </a:p>
          <a:p>
            <a:pPr marL="457200" lvl="0" indent="-368300" algn="l" rtl="0">
              <a:spcBef>
                <a:spcPts val="0"/>
              </a:spcBef>
              <a:spcAft>
                <a:spcPts val="0"/>
              </a:spcAft>
              <a:buSzPts val="2200"/>
              <a:buChar char="-"/>
            </a:pPr>
            <a:r>
              <a:rPr lang="en-US" sz="2400"/>
              <a:t>Kích thước chữ kí lớn, độ lớn bằng với modulo của khóa → tốn nhiều tài nguyên khi lưu trữ trên các hệ thống. </a:t>
            </a:r>
            <a:endParaRPr sz="2400"/>
          </a:p>
          <a:p>
            <a:pPr marL="0" lvl="0" indent="0" algn="l" rtl="0">
              <a:spcBef>
                <a:spcPts val="1200"/>
              </a:spcBef>
              <a:spcAft>
                <a:spcPts val="0"/>
              </a:spcAft>
              <a:buNone/>
            </a:pPr>
            <a:r>
              <a:rPr lang="en-US" sz="2400"/>
              <a:t>	Ví dụ → https://github.com/phpseclib/phpseclib/issues/963</a:t>
            </a:r>
            <a:endParaRPr sz="2400"/>
          </a:p>
          <a:p>
            <a:pPr marL="0" lvl="0" indent="0" algn="l" rtl="0">
              <a:spcBef>
                <a:spcPts val="1200"/>
              </a:spcBef>
              <a:spcAft>
                <a:spcPts val="200"/>
              </a:spcAft>
              <a:buNone/>
            </a:pP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53"/>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RSA vs ECC</a:t>
            </a:r>
            <a:endParaRPr/>
          </a:p>
        </p:txBody>
      </p:sp>
      <p:sp>
        <p:nvSpPr>
          <p:cNvPr id="355" name="Google Shape;355;p53"/>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914400" lvl="0" indent="-374650" algn="l" rtl="0">
              <a:spcBef>
                <a:spcPts val="1200"/>
              </a:spcBef>
              <a:spcAft>
                <a:spcPts val="0"/>
              </a:spcAft>
              <a:buSzPts val="2300"/>
              <a:buAutoNum type="arabicParenR"/>
            </a:pPr>
            <a:r>
              <a:rPr lang="en-US" sz="2400"/>
              <a:t>Một số ưu điểm của ECC</a:t>
            </a:r>
            <a:endParaRPr sz="2400"/>
          </a:p>
          <a:p>
            <a:pPr marL="457200" lvl="0" indent="-368300" algn="l" rtl="0">
              <a:spcBef>
                <a:spcPts val="0"/>
              </a:spcBef>
              <a:spcAft>
                <a:spcPts val="0"/>
              </a:spcAft>
              <a:buSzPts val="2200"/>
              <a:buAutoNum type="alphaLcParenR"/>
            </a:pPr>
            <a:r>
              <a:rPr lang="en-US" sz="2400"/>
              <a:t>Kích thước khóa , chữ kí và bản mã nhỏ: Để đạt 128-bit security  thì cần một khóa EC có độ lớn 256-bits, trong khi RSA sẽ cần khóa 3072 bits. </a:t>
            </a:r>
            <a:endParaRPr sz="2400"/>
          </a:p>
          <a:p>
            <a:pPr marL="457200" lvl="0" indent="-368300" algn="l" rtl="0">
              <a:spcBef>
                <a:spcPts val="0"/>
              </a:spcBef>
              <a:spcAft>
                <a:spcPts val="0"/>
              </a:spcAft>
              <a:buSzPts val="2200"/>
              <a:buAutoNum type="alphaLcParenR"/>
            </a:pPr>
            <a:r>
              <a:rPr lang="en-US" sz="2400"/>
              <a:t>Fast key generation: Đối với hệ mật ECC, thuật toán sinh khóa sẽ dựa vào hai thuật toán cơ sở là PRNG và EC point multiplication → nhanh hơn so với RSA</a:t>
            </a:r>
            <a:endParaRPr sz="2400"/>
          </a:p>
          <a:p>
            <a:pPr marL="457200" lvl="0" indent="-368300" algn="l" rtl="0">
              <a:spcBef>
                <a:spcPts val="0"/>
              </a:spcBef>
              <a:spcAft>
                <a:spcPts val="0"/>
              </a:spcAft>
              <a:buSzPts val="2200"/>
              <a:buAutoNum type="alphaLcParenR"/>
            </a:pPr>
            <a:r>
              <a:rPr lang="en-US" sz="2400"/>
              <a:t>Fast signing, key agreement and encryption/decryption</a:t>
            </a:r>
            <a:endParaRPr sz="2400"/>
          </a:p>
          <a:p>
            <a:pPr marL="0" lvl="0" indent="0" algn="l" rtl="0">
              <a:spcBef>
                <a:spcPts val="1200"/>
              </a:spcBef>
              <a:spcAft>
                <a:spcPts val="200"/>
              </a:spcAft>
              <a:buNone/>
            </a:pPr>
            <a:r>
              <a:rPr lang="en-US" sz="2400"/>
              <a:t> </a:t>
            </a:r>
            <a:endParaRPr sz="24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54"/>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RSA vs ECC</a:t>
            </a:r>
            <a:endParaRPr/>
          </a:p>
        </p:txBody>
      </p:sp>
      <p:sp>
        <p:nvSpPr>
          <p:cNvPr id="361" name="Google Shape;361;p54"/>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0" lvl="0" indent="457200" algn="l" rtl="0">
              <a:spcBef>
                <a:spcPts val="1200"/>
              </a:spcBef>
              <a:spcAft>
                <a:spcPts val="0"/>
              </a:spcAft>
              <a:buNone/>
            </a:pPr>
            <a:r>
              <a:rPr lang="en-US" sz="2400"/>
              <a:t>2) Nhược điểm của ECC </a:t>
            </a:r>
            <a:endParaRPr sz="2400"/>
          </a:p>
          <a:p>
            <a:pPr marL="457200" lvl="0" indent="-368300" algn="l" rtl="0">
              <a:spcBef>
                <a:spcPts val="1200"/>
              </a:spcBef>
              <a:spcAft>
                <a:spcPts val="0"/>
              </a:spcAft>
              <a:buSzPts val="2200"/>
              <a:buAutoNum type="alphaLcParenR"/>
            </a:pPr>
            <a:r>
              <a:rPr lang="en-US" sz="2400"/>
              <a:t>Thuật toán ECC có yêu cầu cài đặt an toàn phức tạp hơn RSA → tuy nhiên ta có thể xài các thư viện đã được audit như OpenSSL, BoringSSL, v.v…</a:t>
            </a:r>
            <a:endParaRPr sz="2400"/>
          </a:p>
          <a:p>
            <a:pPr marL="457200" lvl="0" indent="-368300" algn="l" rtl="0">
              <a:spcBef>
                <a:spcPts val="0"/>
              </a:spcBef>
              <a:spcAft>
                <a:spcPts val="0"/>
              </a:spcAft>
              <a:buSzPts val="2200"/>
              <a:buAutoNum type="alphaLcParenR"/>
            </a:pPr>
            <a:r>
              <a:rPr lang="en-US" sz="2400"/>
              <a:t>Lỗi ở thuật toán sinh số ngẫu nhiên PRNG có thể khiến cho chữ kí số bị giả mạo (ECDSA Nonce) </a:t>
            </a:r>
            <a:endParaRPr sz="2400"/>
          </a:p>
          <a:p>
            <a:pPr marL="457200" lvl="0" indent="-368300" algn="l" rtl="0">
              <a:spcBef>
                <a:spcPts val="0"/>
              </a:spcBef>
              <a:spcAft>
                <a:spcPts val="0"/>
              </a:spcAft>
              <a:buSzPts val="2200"/>
              <a:buAutoNum type="alphaLcParenR"/>
            </a:pPr>
            <a:r>
              <a:rPr lang="en-US" sz="2400"/>
              <a:t>Không phải tất cả các curve đều an toàn, chỉ nên sử dụng những curve đã được kiểm chứng và phổ biến rộng rãi</a:t>
            </a:r>
            <a:endParaRPr sz="2400"/>
          </a:p>
          <a:p>
            <a:pPr marL="0" lvl="0" indent="0" algn="l" rtl="0">
              <a:spcBef>
                <a:spcPts val="1200"/>
              </a:spcBef>
              <a:spcAft>
                <a:spcPts val="0"/>
              </a:spcAft>
              <a:buNone/>
            </a:pPr>
            <a:endParaRPr/>
          </a:p>
          <a:p>
            <a:pPr marL="0" lvl="0" indent="0" algn="l" rtl="0">
              <a:spcBef>
                <a:spcPts val="1200"/>
              </a:spcBef>
              <a:spcAft>
                <a:spcPts val="200"/>
              </a:spcAft>
              <a:buNone/>
            </a:pP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55"/>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RSA vs ECC </a:t>
            </a:r>
            <a:endParaRPr/>
          </a:p>
        </p:txBody>
      </p:sp>
      <p:sp>
        <p:nvSpPr>
          <p:cNvPr id="367" name="Google Shape;367;p55"/>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ctr" rtl="0">
              <a:spcBef>
                <a:spcPts val="1200"/>
              </a:spcBef>
              <a:spcAft>
                <a:spcPts val="0"/>
              </a:spcAft>
              <a:buNone/>
            </a:pPr>
            <a:r>
              <a:rPr lang="en-US"/>
              <a:t>Nguồn: </a:t>
            </a:r>
            <a:r>
              <a:rPr lang="en-US" u="sng">
                <a:solidFill>
                  <a:schemeClr val="hlink"/>
                </a:solidFill>
                <a:hlinkClick r:id="rId3"/>
              </a:rPr>
              <a:t>https://eprint.iacr.org/2024/1265.pdf</a:t>
            </a:r>
            <a:endParaRPr/>
          </a:p>
          <a:p>
            <a:pPr marL="0" lvl="0" indent="0" algn="ctr" rtl="0">
              <a:spcBef>
                <a:spcPts val="1200"/>
              </a:spcBef>
              <a:spcAft>
                <a:spcPts val="200"/>
              </a:spcAft>
              <a:buNone/>
            </a:pPr>
            <a:endParaRPr/>
          </a:p>
        </p:txBody>
      </p:sp>
      <p:pic>
        <p:nvPicPr>
          <p:cNvPr id="368" name="Google Shape;368;p55"/>
          <p:cNvPicPr preferRelativeResize="0"/>
          <p:nvPr/>
        </p:nvPicPr>
        <p:blipFill>
          <a:blip r:embed="rId4">
            <a:alphaModFix/>
          </a:blip>
          <a:stretch>
            <a:fillRect/>
          </a:stretch>
        </p:blipFill>
        <p:spPr>
          <a:xfrm>
            <a:off x="1933575" y="2700338"/>
            <a:ext cx="8324850" cy="14573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56"/>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RSA vs ECC</a:t>
            </a:r>
            <a:endParaRPr/>
          </a:p>
        </p:txBody>
      </p:sp>
      <p:sp>
        <p:nvSpPr>
          <p:cNvPr id="374" name="Google Shape;374;p56"/>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lnSpcReduction="20000"/>
          </a:bodyPr>
          <a:lstStyle/>
          <a:p>
            <a:pPr marL="0" lvl="0" indent="0" algn="ctr" rtl="0">
              <a:spcBef>
                <a:spcPts val="1200"/>
              </a:spcBef>
              <a:spcAft>
                <a:spcPts val="0"/>
              </a:spcAft>
              <a:buNone/>
            </a:pPr>
            <a:endParaRPr/>
          </a:p>
          <a:p>
            <a:pPr marL="0" lvl="0" indent="0" algn="ctr" rtl="0">
              <a:spcBef>
                <a:spcPts val="1200"/>
              </a:spcBef>
              <a:spcAft>
                <a:spcPts val="0"/>
              </a:spcAft>
              <a:buNone/>
            </a:pPr>
            <a:endParaRPr/>
          </a:p>
          <a:p>
            <a:pPr marL="0" lvl="0" indent="0" algn="ctr" rtl="0">
              <a:spcBef>
                <a:spcPts val="1200"/>
              </a:spcBef>
              <a:spcAft>
                <a:spcPts val="0"/>
              </a:spcAft>
              <a:buNone/>
            </a:pPr>
            <a:endParaRPr/>
          </a:p>
          <a:p>
            <a:pPr marL="0" lvl="0" indent="0" algn="ctr" rtl="0">
              <a:spcBef>
                <a:spcPts val="1200"/>
              </a:spcBef>
              <a:spcAft>
                <a:spcPts val="0"/>
              </a:spcAft>
              <a:buNone/>
            </a:pPr>
            <a:endParaRPr/>
          </a:p>
          <a:p>
            <a:pPr marL="0" lvl="0" indent="0" algn="ctr" rtl="0">
              <a:spcBef>
                <a:spcPts val="1200"/>
              </a:spcBef>
              <a:spcAft>
                <a:spcPts val="0"/>
              </a:spcAft>
              <a:buNone/>
            </a:pPr>
            <a:endParaRPr/>
          </a:p>
          <a:p>
            <a:pPr marL="0" lvl="0" indent="0" algn="ctr" rtl="0">
              <a:spcBef>
                <a:spcPts val="1200"/>
              </a:spcBef>
              <a:spcAft>
                <a:spcPts val="0"/>
              </a:spcAft>
              <a:buNone/>
            </a:pPr>
            <a:endParaRPr/>
          </a:p>
          <a:p>
            <a:pPr marL="0" lvl="0" indent="0" algn="ctr" rtl="0">
              <a:spcBef>
                <a:spcPts val="1200"/>
              </a:spcBef>
              <a:spcAft>
                <a:spcPts val="0"/>
              </a:spcAft>
              <a:buNone/>
            </a:pPr>
            <a:endParaRPr/>
          </a:p>
          <a:p>
            <a:pPr marL="0" lvl="0" indent="0" algn="ctr" rtl="0">
              <a:spcBef>
                <a:spcPts val="1200"/>
              </a:spcBef>
              <a:spcAft>
                <a:spcPts val="0"/>
              </a:spcAft>
              <a:buNone/>
            </a:pPr>
            <a:endParaRPr/>
          </a:p>
          <a:p>
            <a:pPr marL="0" lvl="0" indent="0" algn="ctr" rtl="0">
              <a:spcBef>
                <a:spcPts val="1200"/>
              </a:spcBef>
              <a:spcAft>
                <a:spcPts val="0"/>
              </a:spcAft>
              <a:buNone/>
            </a:pPr>
            <a:endParaRPr/>
          </a:p>
          <a:p>
            <a:pPr marL="0" lvl="0" indent="0" algn="ctr" rtl="0">
              <a:spcBef>
                <a:spcPts val="1200"/>
              </a:spcBef>
              <a:spcAft>
                <a:spcPts val="0"/>
              </a:spcAft>
              <a:buNone/>
            </a:pPr>
            <a:r>
              <a:rPr lang="en-US" sz="2400"/>
              <a:t>Nguồn: https://std.neuromancer.sk/</a:t>
            </a:r>
            <a:endParaRPr sz="2400"/>
          </a:p>
          <a:p>
            <a:pPr marL="0" lvl="0" indent="0" algn="ctr" rtl="0">
              <a:spcBef>
                <a:spcPts val="1200"/>
              </a:spcBef>
              <a:spcAft>
                <a:spcPts val="200"/>
              </a:spcAft>
              <a:buNone/>
            </a:pPr>
            <a:endParaRPr/>
          </a:p>
        </p:txBody>
      </p:sp>
      <p:pic>
        <p:nvPicPr>
          <p:cNvPr id="375" name="Google Shape;375;p56"/>
          <p:cNvPicPr preferRelativeResize="0"/>
          <p:nvPr/>
        </p:nvPicPr>
        <p:blipFill>
          <a:blip r:embed="rId3">
            <a:alphaModFix/>
          </a:blip>
          <a:stretch>
            <a:fillRect/>
          </a:stretch>
        </p:blipFill>
        <p:spPr>
          <a:xfrm>
            <a:off x="2708600" y="2035375"/>
            <a:ext cx="7062476" cy="29253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57"/>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RSA vs ECC </a:t>
            </a:r>
            <a:endParaRPr/>
          </a:p>
        </p:txBody>
      </p:sp>
      <p:sp>
        <p:nvSpPr>
          <p:cNvPr id="381" name="Google Shape;381;p57"/>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ctr" rtl="0">
              <a:spcBef>
                <a:spcPts val="1200"/>
              </a:spcBef>
              <a:spcAft>
                <a:spcPts val="200"/>
              </a:spcAft>
              <a:buNone/>
            </a:pPr>
            <a:r>
              <a:rPr lang="en-US" sz="2400"/>
              <a:t>So sánh security level dựa trên key size giữa hai thuật toán</a:t>
            </a:r>
            <a:endParaRPr sz="2400"/>
          </a:p>
        </p:txBody>
      </p:sp>
      <p:pic>
        <p:nvPicPr>
          <p:cNvPr id="382" name="Google Shape;382;p57"/>
          <p:cNvPicPr preferRelativeResize="0"/>
          <p:nvPr/>
        </p:nvPicPr>
        <p:blipFill>
          <a:blip r:embed="rId3">
            <a:alphaModFix/>
          </a:blip>
          <a:stretch>
            <a:fillRect/>
          </a:stretch>
        </p:blipFill>
        <p:spPr>
          <a:xfrm>
            <a:off x="2443163" y="2781300"/>
            <a:ext cx="7610475" cy="16002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58"/>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RSA vs ECC</a:t>
            </a:r>
            <a:endParaRPr/>
          </a:p>
        </p:txBody>
      </p:sp>
      <p:sp>
        <p:nvSpPr>
          <p:cNvPr id="388" name="Google Shape;388;p58"/>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ctr" rtl="0">
              <a:spcBef>
                <a:spcPts val="1200"/>
              </a:spcBef>
              <a:spcAft>
                <a:spcPts val="0"/>
              </a:spcAft>
              <a:buNone/>
            </a:pPr>
            <a:endParaRPr/>
          </a:p>
          <a:p>
            <a:pPr marL="0" lvl="0" indent="0" algn="ctr" rtl="0">
              <a:spcBef>
                <a:spcPts val="1200"/>
              </a:spcBef>
              <a:spcAft>
                <a:spcPts val="200"/>
              </a:spcAft>
              <a:buNone/>
            </a:pPr>
            <a:r>
              <a:rPr lang="en-US" sz="2400"/>
              <a:t>So sánh thời gian chạy của một số thuật toán </a:t>
            </a:r>
            <a:endParaRPr sz="2400"/>
          </a:p>
        </p:txBody>
      </p:sp>
      <p:pic>
        <p:nvPicPr>
          <p:cNvPr id="389" name="Google Shape;389;p58"/>
          <p:cNvPicPr preferRelativeResize="0"/>
          <p:nvPr/>
        </p:nvPicPr>
        <p:blipFill>
          <a:blip r:embed="rId3">
            <a:alphaModFix/>
          </a:blip>
          <a:stretch>
            <a:fillRect/>
          </a:stretch>
        </p:blipFill>
        <p:spPr>
          <a:xfrm>
            <a:off x="2428875" y="1957388"/>
            <a:ext cx="7334250" cy="29432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59"/>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RSA vs ECC</a:t>
            </a:r>
            <a:endParaRPr/>
          </a:p>
          <a:p>
            <a:pPr marL="0" lvl="0" indent="0" algn="l" rtl="0">
              <a:spcBef>
                <a:spcPts val="0"/>
              </a:spcBef>
              <a:spcAft>
                <a:spcPts val="0"/>
              </a:spcAft>
              <a:buNone/>
            </a:pPr>
            <a:endParaRPr/>
          </a:p>
        </p:txBody>
      </p:sp>
      <p:sp>
        <p:nvSpPr>
          <p:cNvPr id="395" name="Google Shape;395;p59"/>
          <p:cNvSpPr txBox="1">
            <a:spLocks noGrp="1"/>
          </p:cNvSpPr>
          <p:nvPr>
            <p:ph type="body" idx="1"/>
          </p:nvPr>
        </p:nvSpPr>
        <p:spPr>
          <a:xfrm>
            <a:off x="1066805" y="1845734"/>
            <a:ext cx="10058400" cy="4023300"/>
          </a:xfrm>
          <a:prstGeom prst="rect">
            <a:avLst/>
          </a:prstGeom>
        </p:spPr>
        <p:txBody>
          <a:bodyPr spcFirstLastPara="1" wrap="square" lIns="0" tIns="45700" rIns="0" bIns="45700" anchor="t" anchorCtr="0">
            <a:normAutofit/>
          </a:bodyPr>
          <a:lstStyle/>
          <a:p>
            <a:pPr marL="0" lvl="0" indent="0" algn="l" rtl="0">
              <a:spcBef>
                <a:spcPts val="1200"/>
              </a:spcBef>
              <a:spcAft>
                <a:spcPts val="0"/>
              </a:spcAft>
              <a:buNone/>
            </a:pPr>
            <a:r>
              <a:rPr lang="en-US" sz="2400"/>
              <a:t>Triển khai mẫu: CA Certificate cho HTTP Server</a:t>
            </a:r>
            <a:endParaRPr sz="2400"/>
          </a:p>
          <a:p>
            <a:pPr marL="0" lvl="0" indent="0" algn="l" rtl="0">
              <a:spcBef>
                <a:spcPts val="1200"/>
              </a:spcBef>
              <a:spcAft>
                <a:spcPts val="200"/>
              </a:spcAft>
              <a:buNone/>
            </a:pPr>
            <a:endParaRPr sz="2400"/>
          </a:p>
        </p:txBody>
      </p:sp>
      <p:pic>
        <p:nvPicPr>
          <p:cNvPr id="396" name="Google Shape;396;p59"/>
          <p:cNvPicPr preferRelativeResize="0"/>
          <p:nvPr/>
        </p:nvPicPr>
        <p:blipFill>
          <a:blip r:embed="rId3">
            <a:alphaModFix/>
          </a:blip>
          <a:stretch>
            <a:fillRect/>
          </a:stretch>
        </p:blipFill>
        <p:spPr>
          <a:xfrm>
            <a:off x="1066800" y="2523000"/>
            <a:ext cx="10355850" cy="27347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60"/>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RSA vs ECC</a:t>
            </a:r>
            <a:endParaRPr/>
          </a:p>
        </p:txBody>
      </p:sp>
      <p:sp>
        <p:nvSpPr>
          <p:cNvPr id="402" name="Google Shape;402;p60"/>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a:bodyPr>
          <a:lstStyle/>
          <a:p>
            <a:pPr marL="0" lvl="0" indent="0" algn="l" rtl="0">
              <a:spcBef>
                <a:spcPts val="1200"/>
              </a:spcBef>
              <a:spcAft>
                <a:spcPts val="0"/>
              </a:spcAft>
              <a:buNone/>
            </a:pPr>
            <a:r>
              <a:rPr lang="en-US" sz="2400"/>
              <a:t>Demo triển khai các thuật toán RSA bao gồm chữ kí số, mã hóa và giải mã trên hai thư viện OpenSSL và Pycryptodome.  </a:t>
            </a:r>
            <a:endParaRPr sz="2400"/>
          </a:p>
          <a:p>
            <a:pPr marL="0" lvl="0" indent="0" algn="l" rtl="0">
              <a:spcBef>
                <a:spcPts val="1200"/>
              </a:spcBef>
              <a:spcAft>
                <a:spcPts val="200"/>
              </a:spcAft>
              <a:buNone/>
            </a:pPr>
            <a:endParaRPr/>
          </a:p>
        </p:txBody>
      </p:sp>
      <p:pic>
        <p:nvPicPr>
          <p:cNvPr id="403" name="Google Shape;403;p60"/>
          <p:cNvPicPr preferRelativeResize="0"/>
          <p:nvPr/>
        </p:nvPicPr>
        <p:blipFill>
          <a:blip r:embed="rId3">
            <a:alphaModFix/>
          </a:blip>
          <a:stretch>
            <a:fillRect/>
          </a:stretch>
        </p:blipFill>
        <p:spPr>
          <a:xfrm>
            <a:off x="2181225" y="2909888"/>
            <a:ext cx="7829550" cy="10382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61"/>
          <p:cNvSpPr txBox="1">
            <a:spLocks noGrp="1"/>
          </p:cNvSpPr>
          <p:nvPr>
            <p:ph type="title"/>
          </p:nvPr>
        </p:nvSpPr>
        <p:spPr>
          <a:xfrm>
            <a:off x="1097280" y="28660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a:t>Kết luận</a:t>
            </a:r>
            <a:endParaRPr/>
          </a:p>
        </p:txBody>
      </p:sp>
      <p:sp>
        <p:nvSpPr>
          <p:cNvPr id="409" name="Google Shape;409;p61"/>
          <p:cNvSpPr txBox="1">
            <a:spLocks noGrp="1"/>
          </p:cNvSpPr>
          <p:nvPr>
            <p:ph type="body" idx="1"/>
          </p:nvPr>
        </p:nvSpPr>
        <p:spPr>
          <a:xfrm>
            <a:off x="1097280" y="1845734"/>
            <a:ext cx="10058400" cy="4023300"/>
          </a:xfrm>
          <a:prstGeom prst="rect">
            <a:avLst/>
          </a:prstGeom>
        </p:spPr>
        <p:txBody>
          <a:bodyPr spcFirstLastPara="1" wrap="square" lIns="0" tIns="45700" rIns="0" bIns="45700" anchor="t" anchorCtr="0">
            <a:normAutofit fontScale="92500" lnSpcReduction="20000"/>
          </a:bodyPr>
          <a:lstStyle/>
          <a:p>
            <a:pPr marL="91440" lvl="0" indent="-140970" algn="l" rtl="0">
              <a:spcBef>
                <a:spcPts val="0"/>
              </a:spcBef>
              <a:spcAft>
                <a:spcPts val="0"/>
              </a:spcAft>
              <a:buSzPct val="100000"/>
              <a:buChar char="-"/>
            </a:pPr>
            <a:r>
              <a:rPr lang="en-US" sz="2400"/>
              <a:t> RSA vẫn an toàn nếu triển khai chuẩn, đầy đủ, thuật toán RSA được đánh giá là đơn giản và cho thời gian mã hóa nhanh (số mũ e = 65537 nhỏ) </a:t>
            </a:r>
            <a:endParaRPr sz="2400"/>
          </a:p>
          <a:p>
            <a:pPr marL="91440" lvl="0" indent="-140970" algn="l" rtl="0">
              <a:spcBef>
                <a:spcPts val="2200"/>
              </a:spcBef>
              <a:spcAft>
                <a:spcPts val="0"/>
              </a:spcAft>
              <a:buSzPct val="100000"/>
              <a:buChar char="-"/>
            </a:pPr>
            <a:r>
              <a:rPr lang="en-US" sz="2400"/>
              <a:t> Ưu tiên RSASSA-PSS cho chữ ký và tránh PKCS#1 v1.5 khi có thể.</a:t>
            </a:r>
            <a:endParaRPr sz="2400"/>
          </a:p>
          <a:p>
            <a:pPr marL="91440" lvl="0" indent="-140970" algn="l" rtl="0">
              <a:spcBef>
                <a:spcPts val="2200"/>
              </a:spcBef>
              <a:spcAft>
                <a:spcPts val="0"/>
              </a:spcAft>
              <a:buSzPct val="100000"/>
              <a:buChar char="-"/>
            </a:pPr>
            <a:r>
              <a:rPr lang="en-US" sz="2400"/>
              <a:t> Dùng kích thước khóa lớn (≥3072 bit) hoặc chuyển sang ECC/PQC cho bảo vệ dài hạn.</a:t>
            </a:r>
            <a:endParaRPr sz="2400"/>
          </a:p>
          <a:p>
            <a:pPr marL="91440" lvl="0" indent="-140970" algn="l" rtl="0">
              <a:spcBef>
                <a:spcPts val="2200"/>
              </a:spcBef>
              <a:spcAft>
                <a:spcPts val="0"/>
              </a:spcAft>
              <a:buSzPct val="100000"/>
              <a:buChar char="-"/>
            </a:pPr>
            <a:r>
              <a:rPr lang="en-US" sz="2400"/>
              <a:t> Vô hiệu hóa RSA key exchange trong TLS, ưu tiên ECDHE cho forward secrecy.</a:t>
            </a:r>
            <a:endParaRPr sz="2400"/>
          </a:p>
          <a:p>
            <a:pPr marL="91440" lvl="0" indent="-140970" algn="l" rtl="0">
              <a:spcBef>
                <a:spcPts val="2200"/>
              </a:spcBef>
              <a:spcAft>
                <a:spcPts val="0"/>
              </a:spcAft>
              <a:buSzPct val="100000"/>
              <a:buChar char="-"/>
            </a:pPr>
            <a:r>
              <a:rPr lang="en-US" sz="2400"/>
              <a:t> Áp dụng exponent &amp; CRT blinding, constant-time modular exponentiation, và CSPRNG mạnh cho keygen.</a:t>
            </a:r>
            <a:endParaRPr sz="2400"/>
          </a:p>
          <a:p>
            <a:pPr marL="91440" lvl="0" indent="-140970" algn="l" rtl="0">
              <a:spcBef>
                <a:spcPts val="2200"/>
              </a:spcBef>
              <a:spcAft>
                <a:spcPts val="0"/>
              </a:spcAft>
              <a:buSzPct val="100000"/>
              <a:buChar char="-"/>
            </a:pPr>
            <a:r>
              <a:rPr lang="en-US" sz="2400"/>
              <a:t> Lưu private key kĩ, giới hạn API và dùng uniform error messages.</a:t>
            </a:r>
            <a:endParaRPr sz="2400"/>
          </a:p>
          <a:p>
            <a:pPr marL="0" lvl="0" indent="0" algn="l" rtl="0">
              <a:spcBef>
                <a:spcPts val="1200"/>
              </a:spcBef>
              <a:spcAft>
                <a:spcPts val="200"/>
              </a:spcAft>
              <a:buNone/>
            </a:pPr>
            <a:endParaRP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2111</Words>
  <Application>Microsoft Office PowerPoint</Application>
  <PresentationFormat>Widescreen</PresentationFormat>
  <Paragraphs>252</Paragraphs>
  <Slides>49</Slides>
  <Notes>49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Arial</vt:lpstr>
      <vt:lpstr>Calibri</vt:lpstr>
      <vt:lpstr>Courier New</vt:lpstr>
      <vt:lpstr>Noto Sans Symbols</vt:lpstr>
      <vt:lpstr>Retrospect</vt:lpstr>
      <vt:lpstr>Cryptanalysis on Asymmetric Ciphers — RSA &amp; RSA‑Based Signatures</vt:lpstr>
      <vt:lpstr>1. Bối cảnh</vt:lpstr>
      <vt:lpstr>Rủi ro</vt:lpstr>
      <vt:lpstr>Security Goals</vt:lpstr>
      <vt:lpstr>2. Các  câu hỏi nghiên cứu và giả thuyết</vt:lpstr>
      <vt:lpstr>2. Các  câu hỏi nghiên cứu và giả thuyết</vt:lpstr>
      <vt:lpstr>2. Các  câu hỏi nghiên cứu và giả thuyết</vt:lpstr>
      <vt:lpstr>3. Kịch bản triển khai</vt:lpstr>
      <vt:lpstr>Các attack triển khai</vt:lpstr>
      <vt:lpstr>Attack A - Bleichenbacher padding oracle </vt:lpstr>
      <vt:lpstr>PKCS#1 v1.5 Padding</vt:lpstr>
      <vt:lpstr>Padding Oracle là gì?</vt:lpstr>
      <vt:lpstr>Attack A - Bleichenbacher padding oracle </vt:lpstr>
      <vt:lpstr>Attack A - Bleichenbacher padding oracle </vt:lpstr>
      <vt:lpstr>Kết quả - Attack A</vt:lpstr>
      <vt:lpstr>Kết quả - Attack A</vt:lpstr>
      <vt:lpstr>Mitigation - Attack A</vt:lpstr>
      <vt:lpstr>Attack B – Timing Attack on RSA</vt:lpstr>
      <vt:lpstr>Điều kiện</vt:lpstr>
      <vt:lpstr>Decryption/Signing</vt:lpstr>
      <vt:lpstr>Square and Multiply</vt:lpstr>
      <vt:lpstr>Thu thập dữ liệu và thống kê</vt:lpstr>
      <vt:lpstr>Kết quả attack B</vt:lpstr>
      <vt:lpstr>Mitigation - Attack B</vt:lpstr>
      <vt:lpstr>Trả lời câu hỏi RQ2</vt:lpstr>
      <vt:lpstr>Attack C – Wiener’s Attack / low d</vt:lpstr>
      <vt:lpstr>Điều kiện</vt:lpstr>
      <vt:lpstr>Ý tưởng</vt:lpstr>
      <vt:lpstr>Ý tưởng</vt:lpstr>
      <vt:lpstr>Kết quả - Attack C</vt:lpstr>
      <vt:lpstr>Mitigation - Attack C</vt:lpstr>
      <vt:lpstr>Fault attack: mở rộng</vt:lpstr>
      <vt:lpstr>Bellcore Attack</vt:lpstr>
      <vt:lpstr>Modulus Fault</vt:lpstr>
      <vt:lpstr>Modulus Fault</vt:lpstr>
      <vt:lpstr>Modulus Fault</vt:lpstr>
      <vt:lpstr>Modulus Fault</vt:lpstr>
      <vt:lpstr>4. Kiến trúc giải pháp</vt:lpstr>
      <vt:lpstr>5. Mở rộng hướng đi tiếp theo</vt:lpstr>
      <vt:lpstr>RSA vs ECC</vt:lpstr>
      <vt:lpstr>RSA vs ECC</vt:lpstr>
      <vt:lpstr>RSA vs ECC</vt:lpstr>
      <vt:lpstr>RSA vs ECC </vt:lpstr>
      <vt:lpstr>RSA vs ECC</vt:lpstr>
      <vt:lpstr>RSA vs ECC </vt:lpstr>
      <vt:lpstr>RSA vs ECC</vt:lpstr>
      <vt:lpstr>RSA vs ECC </vt:lpstr>
      <vt:lpstr>RSA vs ECC</vt:lpstr>
      <vt:lpstr>Kết luận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Phạm Nguyễn Thành Long</cp:lastModifiedBy>
  <cp:revision>1</cp:revision>
  <dcterms:modified xsi:type="dcterms:W3CDTF">2025-12-28T22:34:21Z</dcterms:modified>
</cp:coreProperties>
</file>