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3C5A59-9731-4CFF-88FE-2C7CCFD5DE6B}">
  <a:tblStyle styleId="{043C5A59-9731-4CFF-88FE-2C7CCFD5DE6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ab230df7ac_2_1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ab230df7ac_2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ab230df7ac_2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ab230df7ac_2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ab230df7ac_2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ab230df7ac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ab230df7ac_2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ab230df7ac_2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ab230df7ac_2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ab230df7ac_2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ab230df7ac_2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ab230df7ac_2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ab230df7ac_0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ab230df7ac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ab230df7ac_2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g3ab230df7ac_2_8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ab230df7ac_2_1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ab230df7ac_2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ab230df7ac_2_1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ab230df7ac_2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ab230df7ac_0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ab230df7ac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ab230df7ac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ab230df7ac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ab230df7ac_0_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3ab230df7ac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ab230df7ac_0_9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3ab230df7ac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ab230df7ac_2_1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ab230df7ac_2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ab230df7ac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ab230df7a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ab230df7ac_0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ab230df7ac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ab230df7ac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ab230df7a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ab230df7ac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ab230df7a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ab230df7ac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ab230df7a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ab230df7ac_0_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3ab230df7ac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ab230df7ac_0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ab230df7ac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ab230df7ac_0_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ab230df7a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ab230df7ac_0_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98" name="Google Shape;398;g3ab230df7a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ab230df7ac_0_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05" name="Google Shape;405;g3ab230df7ac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ab230df7ac_2_1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12" name="Google Shape;412;g3ab230df7ac_2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4" name="Shape 14"/>
        <p:cNvGrpSpPr/>
        <p:nvPr/>
      </p:nvGrpSpPr>
      <p:grpSpPr>
        <a:xfrm>
          <a:off x="0" y="0"/>
          <a:ext cx="0" cy="0"/>
          <a:chOff x="0" y="0"/>
          <a:chExt cx="0" cy="0"/>
        </a:xfrm>
      </p:grpSpPr>
      <p:sp>
        <p:nvSpPr>
          <p:cNvPr id="15" name="Google Shape;15;p2"/>
          <p:cNvSpPr/>
          <p:nvPr/>
        </p:nvSpPr>
        <p:spPr>
          <a:xfrm>
            <a:off x="3175" y="6400800"/>
            <a:ext cx="12188825" cy="457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15" y="6334316"/>
            <a:ext cx="12188825" cy="6400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txBox="1"/>
          <p:nvPr>
            <p:ph type="ctrTitle"/>
          </p:nvPr>
        </p:nvSpPr>
        <p:spPr>
          <a:xfrm>
            <a:off x="1097280" y="758952"/>
            <a:ext cx="10058400" cy="3566160"/>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262626"/>
              </a:buClr>
              <a:buSzPts val="8000"/>
              <a:buFont typeface="Calibri"/>
              <a:buNone/>
              <a:defRPr sz="8000">
                <a:solidFill>
                  <a:srgbClr val="26262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1100051" y="4455620"/>
            <a:ext cx="10058400" cy="1143000"/>
          </a:xfrm>
          <a:prstGeom prst="rect">
            <a:avLst/>
          </a:prstGeom>
          <a:noFill/>
          <a:ln>
            <a:noFill/>
          </a:ln>
        </p:spPr>
        <p:txBody>
          <a:bodyPr anchorCtr="0" anchor="t" bIns="45700" lIns="91425" spcFirstLastPara="1" rIns="91425" wrap="square" tIns="45700">
            <a:normAutofit/>
          </a:bodyPr>
          <a:lstStyle>
            <a:lvl1pPr lvl="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lvl="1" algn="ctr">
              <a:lnSpc>
                <a:spcPct val="90000"/>
              </a:lnSpc>
              <a:spcBef>
                <a:spcPts val="200"/>
              </a:spcBef>
              <a:spcAft>
                <a:spcPts val="0"/>
              </a:spcAft>
              <a:buSzPts val="2400"/>
              <a:buNone/>
              <a:defRPr sz="2400"/>
            </a:lvl2pPr>
            <a:lvl3pPr lvl="2" algn="ctr">
              <a:lnSpc>
                <a:spcPct val="90000"/>
              </a:lnSpc>
              <a:spcBef>
                <a:spcPts val="400"/>
              </a:spcBef>
              <a:spcAft>
                <a:spcPts val="0"/>
              </a:spcAft>
              <a:buSzPts val="2400"/>
              <a:buNone/>
              <a:defRPr sz="2400"/>
            </a:lvl3pPr>
            <a:lvl4pPr lvl="3" algn="ctr">
              <a:lnSpc>
                <a:spcPct val="90000"/>
              </a:lnSpc>
              <a:spcBef>
                <a:spcPts val="400"/>
              </a:spcBef>
              <a:spcAft>
                <a:spcPts val="0"/>
              </a:spcAft>
              <a:buSzPts val="2000"/>
              <a:buNone/>
              <a:defRPr sz="2000"/>
            </a:lvl4pPr>
            <a:lvl5pPr lvl="4" algn="ctr">
              <a:lnSpc>
                <a:spcPct val="90000"/>
              </a:lnSpc>
              <a:spcBef>
                <a:spcPts val="400"/>
              </a:spcBef>
              <a:spcAft>
                <a:spcPts val="0"/>
              </a:spcAft>
              <a:buSzPts val="2000"/>
              <a:buNone/>
              <a:defRPr sz="2000"/>
            </a:lvl5pPr>
            <a:lvl6pPr lvl="5" algn="ctr">
              <a:lnSpc>
                <a:spcPct val="90000"/>
              </a:lnSpc>
              <a:spcBef>
                <a:spcPts val="400"/>
              </a:spcBef>
              <a:spcAft>
                <a:spcPts val="0"/>
              </a:spcAft>
              <a:buSzPts val="2000"/>
              <a:buNone/>
              <a:defRPr sz="2000"/>
            </a:lvl6pPr>
            <a:lvl7pPr lvl="6" algn="ctr">
              <a:lnSpc>
                <a:spcPct val="90000"/>
              </a:lnSpc>
              <a:spcBef>
                <a:spcPts val="400"/>
              </a:spcBef>
              <a:spcAft>
                <a:spcPts val="0"/>
              </a:spcAft>
              <a:buSzPts val="2000"/>
              <a:buNone/>
              <a:defRPr sz="2000"/>
            </a:lvl7pPr>
            <a:lvl8pPr lvl="7" algn="ctr">
              <a:lnSpc>
                <a:spcPct val="90000"/>
              </a:lnSpc>
              <a:spcBef>
                <a:spcPts val="400"/>
              </a:spcBef>
              <a:spcAft>
                <a:spcPts val="0"/>
              </a:spcAft>
              <a:buSzPts val="2000"/>
              <a:buNone/>
              <a:defRPr sz="2000"/>
            </a:lvl8pPr>
            <a:lvl9pPr lvl="8" algn="ctr">
              <a:lnSpc>
                <a:spcPct val="90000"/>
              </a:lnSpc>
              <a:spcBef>
                <a:spcPts val="400"/>
              </a:spcBef>
              <a:spcAft>
                <a:spcPts val="400"/>
              </a:spcAft>
              <a:buSzPts val="2000"/>
              <a:buNone/>
              <a:defRPr sz="2000"/>
            </a:lvl9pPr>
          </a:lstStyle>
          <a:p/>
        </p:txBody>
      </p:sp>
      <p:sp>
        <p:nvSpPr>
          <p:cNvPr id="19" name="Google Shape;19;p2"/>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22" name="Google Shape;22;p2"/>
          <p:cNvCxnSpPr/>
          <p:nvPr/>
        </p:nvCxnSpPr>
        <p:spPr>
          <a:xfrm>
            <a:off x="1207658" y="4343400"/>
            <a:ext cx="9875520" cy="0"/>
          </a:xfrm>
          <a:prstGeom prst="straightConnector1">
            <a:avLst/>
          </a:prstGeom>
          <a:noFill/>
          <a:ln cap="flat" cmpd="sng" w="9525">
            <a:solidFill>
              <a:srgbClr val="7F7F7F"/>
            </a:solidFill>
            <a:prstDash val="solid"/>
            <a:round/>
            <a:headEnd len="sm" w="sm" type="none"/>
            <a:tailEnd len="sm" w="sm" type="none"/>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 name="Shape 23"/>
        <p:cNvGrpSpPr/>
        <p:nvPr/>
      </p:nvGrpSpPr>
      <p:grpSpPr>
        <a:xfrm>
          <a:off x="0" y="0"/>
          <a:ext cx="0" cy="0"/>
          <a:chOff x="0" y="0"/>
          <a:chExt cx="0" cy="0"/>
        </a:xfrm>
      </p:grpSpPr>
      <p:sp>
        <p:nvSpPr>
          <p:cNvPr id="24" name="Google Shape;24;p3"/>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48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3"/>
          <p:cNvSpPr txBox="1"/>
          <p:nvPr>
            <p:ph idx="1" type="body"/>
          </p:nvPr>
        </p:nvSpPr>
        <p:spPr>
          <a:xfrm>
            <a:off x="1097280" y="1845734"/>
            <a:ext cx="10058400" cy="402336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6" name="Google Shape;26;p3"/>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3"/>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bg>
      <p:bgPr>
        <a:solidFill>
          <a:schemeClr val="lt1"/>
        </a:solidFill>
      </p:bgPr>
    </p:bg>
    <p:spTree>
      <p:nvGrpSpPr>
        <p:cNvPr id="29" name="Shape 29"/>
        <p:cNvGrpSpPr/>
        <p:nvPr/>
      </p:nvGrpSpPr>
      <p:grpSpPr>
        <a:xfrm>
          <a:off x="0" y="0"/>
          <a:ext cx="0" cy="0"/>
          <a:chOff x="0" y="0"/>
          <a:chExt cx="0" cy="0"/>
        </a:xfrm>
      </p:grpSpPr>
      <p:sp>
        <p:nvSpPr>
          <p:cNvPr id="30" name="Google Shape;30;p4"/>
          <p:cNvSpPr/>
          <p:nvPr/>
        </p:nvSpPr>
        <p:spPr>
          <a:xfrm>
            <a:off x="3175" y="6400800"/>
            <a:ext cx="12188825" cy="457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15" y="6334316"/>
            <a:ext cx="12188825" cy="6400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txBox="1"/>
          <p:nvPr>
            <p:ph type="title"/>
          </p:nvPr>
        </p:nvSpPr>
        <p:spPr>
          <a:xfrm>
            <a:off x="1097280" y="758952"/>
            <a:ext cx="10058400" cy="3566160"/>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262626"/>
              </a:buClr>
              <a:buSzPts val="8000"/>
              <a:buFont typeface="Calibri"/>
              <a:buNone/>
              <a:defRPr b="0" sz="8000">
                <a:solidFill>
                  <a:srgbClr val="26262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4"/>
          <p:cNvSpPr txBox="1"/>
          <p:nvPr>
            <p:ph idx="1" type="body"/>
          </p:nvPr>
        </p:nvSpPr>
        <p:spPr>
          <a:xfrm>
            <a:off x="1097280" y="4453128"/>
            <a:ext cx="10058400" cy="1143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4" name="Google Shape;34;p4"/>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37" name="Google Shape;37;p4"/>
          <p:cNvCxnSpPr/>
          <p:nvPr/>
        </p:nvCxnSpPr>
        <p:spPr>
          <a:xfrm>
            <a:off x="1207658" y="4343400"/>
            <a:ext cx="9875520" cy="0"/>
          </a:xfrm>
          <a:prstGeom prst="straightConnector1">
            <a:avLst/>
          </a:prstGeom>
          <a:noFill/>
          <a:ln cap="flat" cmpd="sng" w="9525">
            <a:solidFill>
              <a:srgbClr val="7F7F7F"/>
            </a:solidFill>
            <a:prstDash val="solid"/>
            <a:round/>
            <a:headEnd len="sm" w="sm" type="none"/>
            <a:tailEnd len="sm" w="sm"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97279" y="1845734"/>
            <a:ext cx="4937760" cy="402336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6217920" y="1845735"/>
            <a:ext cx="4937760" cy="402336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97280" y="1846052"/>
            <a:ext cx="4937760" cy="736282"/>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200"/>
              </a:spcBef>
              <a:spcAft>
                <a:spcPts val="0"/>
              </a:spcAft>
              <a:buSzPts val="2000"/>
              <a:buNone/>
              <a:defRPr b="0" sz="2000" cap="none">
                <a:solidFill>
                  <a:schemeClr val="dk2"/>
                </a:solidFill>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97280" y="2582334"/>
            <a:ext cx="4937760" cy="337820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6217920" y="1846052"/>
            <a:ext cx="4937760" cy="736282"/>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200"/>
              </a:spcBef>
              <a:spcAft>
                <a:spcPts val="0"/>
              </a:spcAft>
              <a:buSzPts val="2000"/>
              <a:buNone/>
              <a:defRPr b="0" sz="2000" cap="none">
                <a:solidFill>
                  <a:schemeClr val="dk2"/>
                </a:solidFill>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6217920" y="2582334"/>
            <a:ext cx="4937760" cy="337820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p:nvPr/>
        </p:nvSpPr>
        <p:spPr>
          <a:xfrm>
            <a:off x="3175" y="6400800"/>
            <a:ext cx="12188825" cy="457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8"/>
          <p:cNvSpPr/>
          <p:nvPr/>
        </p:nvSpPr>
        <p:spPr>
          <a:xfrm>
            <a:off x="15" y="6334316"/>
            <a:ext cx="12188825" cy="6400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8"/>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8"/>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solidFill>
                  <a:srgbClr val="FFFFF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8"/>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showMasterSp="0" type="objTx">
  <p:cSld name="OBJECT_WITH_CAPTION_TEXT">
    <p:spTree>
      <p:nvGrpSpPr>
        <p:cNvPr id="65" name="Shape 65"/>
        <p:cNvGrpSpPr/>
        <p:nvPr/>
      </p:nvGrpSpPr>
      <p:grpSpPr>
        <a:xfrm>
          <a:off x="0" y="0"/>
          <a:ext cx="0" cy="0"/>
          <a:chOff x="0" y="0"/>
          <a:chExt cx="0" cy="0"/>
        </a:xfrm>
      </p:grpSpPr>
      <p:sp>
        <p:nvSpPr>
          <p:cNvPr id="66" name="Google Shape;66;p9"/>
          <p:cNvSpPr/>
          <p:nvPr/>
        </p:nvSpPr>
        <p:spPr>
          <a:xfrm>
            <a:off x="16" y="0"/>
            <a:ext cx="4050791" cy="6858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9"/>
          <p:cNvSpPr/>
          <p:nvPr/>
        </p:nvSpPr>
        <p:spPr>
          <a:xfrm>
            <a:off x="4040071" y="0"/>
            <a:ext cx="64008" cy="68580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9"/>
          <p:cNvSpPr txBox="1"/>
          <p:nvPr>
            <p:ph type="title"/>
          </p:nvPr>
        </p:nvSpPr>
        <p:spPr>
          <a:xfrm>
            <a:off x="457200" y="594359"/>
            <a:ext cx="3200400" cy="2286000"/>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FFFFFF"/>
              </a:buClr>
              <a:buSzPts val="3600"/>
              <a:buFont typeface="Calibri"/>
              <a:buNone/>
              <a:defRPr b="0" sz="3600">
                <a:solidFill>
                  <a:srgbClr val="FFFFFF"/>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9"/>
          <p:cNvSpPr txBox="1"/>
          <p:nvPr>
            <p:ph idx="1" type="body"/>
          </p:nvPr>
        </p:nvSpPr>
        <p:spPr>
          <a:xfrm>
            <a:off x="4800600" y="731520"/>
            <a:ext cx="6492240" cy="5257800"/>
          </a:xfrm>
          <a:prstGeom prst="rect">
            <a:avLst/>
          </a:prstGeom>
          <a:noFill/>
          <a:ln>
            <a:noFill/>
          </a:ln>
        </p:spPr>
        <p:txBody>
          <a:bodyPr anchorCtr="0" anchor="t" bIns="45700" lIns="0" spcFirstLastPara="1" rIns="0" wrap="square" tIns="4570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70" name="Google Shape;70;p9"/>
          <p:cNvSpPr txBox="1"/>
          <p:nvPr>
            <p:ph idx="2" type="body"/>
          </p:nvPr>
        </p:nvSpPr>
        <p:spPr>
          <a:xfrm>
            <a:off x="457200" y="2926080"/>
            <a:ext cx="3200400" cy="337912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200"/>
              </a:spcBef>
              <a:spcAft>
                <a:spcPts val="0"/>
              </a:spcAft>
              <a:buSzPts val="1500"/>
              <a:buNone/>
              <a:defRPr sz="1500">
                <a:solidFill>
                  <a:srgbClr val="FFFFFF"/>
                </a:solidFill>
              </a:defRPr>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71" name="Google Shape;71;p9"/>
          <p:cNvSpPr txBox="1"/>
          <p:nvPr>
            <p:ph idx="10" type="dt"/>
          </p:nvPr>
        </p:nvSpPr>
        <p:spPr>
          <a:xfrm>
            <a:off x="465512" y="6459785"/>
            <a:ext cx="26185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9"/>
          <p:cNvSpPr txBox="1"/>
          <p:nvPr>
            <p:ph idx="11" type="ftr"/>
          </p:nvPr>
        </p:nvSpPr>
        <p:spPr>
          <a:xfrm>
            <a:off x="4800600" y="6459785"/>
            <a:ext cx="4648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chemeClr val="dk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9"/>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50">
                <a:solidFill>
                  <a:schemeClr val="dk2"/>
                </a:solidFill>
                <a:latin typeface="Calibri"/>
                <a:ea typeface="Calibri"/>
                <a:cs typeface="Calibri"/>
                <a:sym typeface="Calibri"/>
              </a:defRPr>
            </a:lvl1pPr>
            <a:lvl2pPr indent="0" lvl="1" marL="0" algn="r">
              <a:spcBef>
                <a:spcPts val="0"/>
              </a:spcBef>
              <a:buNone/>
              <a:defRPr sz="1050">
                <a:solidFill>
                  <a:schemeClr val="dk2"/>
                </a:solidFill>
                <a:latin typeface="Calibri"/>
                <a:ea typeface="Calibri"/>
                <a:cs typeface="Calibri"/>
                <a:sym typeface="Calibri"/>
              </a:defRPr>
            </a:lvl2pPr>
            <a:lvl3pPr indent="0" lvl="2" marL="0" algn="r">
              <a:spcBef>
                <a:spcPts val="0"/>
              </a:spcBef>
              <a:buNone/>
              <a:defRPr sz="1050">
                <a:solidFill>
                  <a:schemeClr val="dk2"/>
                </a:solidFill>
                <a:latin typeface="Calibri"/>
                <a:ea typeface="Calibri"/>
                <a:cs typeface="Calibri"/>
                <a:sym typeface="Calibri"/>
              </a:defRPr>
            </a:lvl3pPr>
            <a:lvl4pPr indent="0" lvl="3" marL="0" algn="r">
              <a:spcBef>
                <a:spcPts val="0"/>
              </a:spcBef>
              <a:buNone/>
              <a:defRPr sz="1050">
                <a:solidFill>
                  <a:schemeClr val="dk2"/>
                </a:solidFill>
                <a:latin typeface="Calibri"/>
                <a:ea typeface="Calibri"/>
                <a:cs typeface="Calibri"/>
                <a:sym typeface="Calibri"/>
              </a:defRPr>
            </a:lvl4pPr>
            <a:lvl5pPr indent="0" lvl="4" marL="0" algn="r">
              <a:spcBef>
                <a:spcPts val="0"/>
              </a:spcBef>
              <a:buNone/>
              <a:defRPr sz="1050">
                <a:solidFill>
                  <a:schemeClr val="dk2"/>
                </a:solidFill>
                <a:latin typeface="Calibri"/>
                <a:ea typeface="Calibri"/>
                <a:cs typeface="Calibri"/>
                <a:sym typeface="Calibri"/>
              </a:defRPr>
            </a:lvl5pPr>
            <a:lvl6pPr indent="0" lvl="5" marL="0" algn="r">
              <a:spcBef>
                <a:spcPts val="0"/>
              </a:spcBef>
              <a:buNone/>
              <a:defRPr sz="1050">
                <a:solidFill>
                  <a:schemeClr val="dk2"/>
                </a:solidFill>
                <a:latin typeface="Calibri"/>
                <a:ea typeface="Calibri"/>
                <a:cs typeface="Calibri"/>
                <a:sym typeface="Calibri"/>
              </a:defRPr>
            </a:lvl6pPr>
            <a:lvl7pPr indent="0" lvl="6" marL="0" algn="r">
              <a:spcBef>
                <a:spcPts val="0"/>
              </a:spcBef>
              <a:buNone/>
              <a:defRPr sz="1050">
                <a:solidFill>
                  <a:schemeClr val="dk2"/>
                </a:solidFill>
                <a:latin typeface="Calibri"/>
                <a:ea typeface="Calibri"/>
                <a:cs typeface="Calibri"/>
                <a:sym typeface="Calibri"/>
              </a:defRPr>
            </a:lvl7pPr>
            <a:lvl8pPr indent="0" lvl="7" marL="0" algn="r">
              <a:spcBef>
                <a:spcPts val="0"/>
              </a:spcBef>
              <a:buNone/>
              <a:defRPr sz="1050">
                <a:solidFill>
                  <a:schemeClr val="dk2"/>
                </a:solidFill>
                <a:latin typeface="Calibri"/>
                <a:ea typeface="Calibri"/>
                <a:cs typeface="Calibri"/>
                <a:sym typeface="Calibri"/>
              </a:defRPr>
            </a:lvl8pPr>
            <a:lvl9pPr indent="0" lvl="8" marL="0" algn="r">
              <a:spcBef>
                <a:spcPts val="0"/>
              </a:spcBef>
              <a:buNone/>
              <a:defRPr sz="1050">
                <a:solidFill>
                  <a:schemeClr val="dk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4" name="Shape 74"/>
        <p:cNvGrpSpPr/>
        <p:nvPr/>
      </p:nvGrpSpPr>
      <p:grpSpPr>
        <a:xfrm>
          <a:off x="0" y="0"/>
          <a:ext cx="0" cy="0"/>
          <a:chOff x="0" y="0"/>
          <a:chExt cx="0" cy="0"/>
        </a:xfrm>
      </p:grpSpPr>
      <p:sp>
        <p:nvSpPr>
          <p:cNvPr id="75" name="Google Shape;75;p10"/>
          <p:cNvSpPr/>
          <p:nvPr/>
        </p:nvSpPr>
        <p:spPr>
          <a:xfrm>
            <a:off x="0" y="4953000"/>
            <a:ext cx="12188825" cy="1905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0"/>
          <p:cNvSpPr/>
          <p:nvPr/>
        </p:nvSpPr>
        <p:spPr>
          <a:xfrm>
            <a:off x="15" y="4915076"/>
            <a:ext cx="12188825" cy="6400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0"/>
          <p:cNvSpPr txBox="1"/>
          <p:nvPr>
            <p:ph type="title"/>
          </p:nvPr>
        </p:nvSpPr>
        <p:spPr>
          <a:xfrm>
            <a:off x="1097280" y="5074920"/>
            <a:ext cx="10113264" cy="822960"/>
          </a:xfrm>
          <a:prstGeom prst="rect">
            <a:avLst/>
          </a:prstGeom>
          <a:noFill/>
          <a:ln>
            <a:noFill/>
          </a:ln>
        </p:spPr>
        <p:txBody>
          <a:bodyPr anchorCtr="0" anchor="b" bIns="0" lIns="91425" spcFirstLastPara="1" rIns="91425" wrap="square" tIns="0">
            <a:noAutofit/>
          </a:bodyPr>
          <a:lstStyle>
            <a:lvl1pPr lvl="0" algn="l">
              <a:lnSpc>
                <a:spcPct val="85000"/>
              </a:lnSpc>
              <a:spcBef>
                <a:spcPts val="0"/>
              </a:spcBef>
              <a:spcAft>
                <a:spcPts val="0"/>
              </a:spcAft>
              <a:buClr>
                <a:srgbClr val="FFFFFF"/>
              </a:buClr>
              <a:buSzPts val="3600"/>
              <a:buFont typeface="Calibri"/>
              <a:buNone/>
              <a:defRPr b="0" sz="3600">
                <a:solidFill>
                  <a:srgbClr val="FFFFFF"/>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8" name="Google Shape;78;p10"/>
          <p:cNvPicPr preferRelativeResize="0"/>
          <p:nvPr>
            <p:ph idx="2" type="pic"/>
          </p:nvPr>
        </p:nvPicPr>
        <p:blipFill/>
        <p:spPr>
          <a:xfrm>
            <a:off x="15" y="0"/>
            <a:ext cx="12191985" cy="4915076"/>
          </a:xfrm>
          <a:prstGeom prst="rect">
            <a:avLst/>
          </a:prstGeom>
          <a:blipFill rotWithShape="1">
            <a:blip r:embed="rId2">
              <a:alphaModFix/>
            </a:blip>
            <a:stretch>
              <a:fillRect b="0" l="0" r="0" t="0"/>
            </a:stretch>
          </a:blipFill>
          <a:ln>
            <a:noFill/>
          </a:ln>
        </p:spPr>
      </p:pic>
      <p:sp>
        <p:nvSpPr>
          <p:cNvPr id="79" name="Google Shape;79;p10"/>
          <p:cNvSpPr txBox="1"/>
          <p:nvPr>
            <p:ph idx="1" type="body"/>
          </p:nvPr>
        </p:nvSpPr>
        <p:spPr>
          <a:xfrm>
            <a:off x="1097280" y="5907023"/>
            <a:ext cx="10113264" cy="594360"/>
          </a:xfrm>
          <a:prstGeom prst="rect">
            <a:avLst/>
          </a:prstGeom>
          <a:noFill/>
          <a:ln>
            <a:noFill/>
          </a:ln>
        </p:spPr>
        <p:txBody>
          <a:bodyPr anchorCtr="0" anchor="t" bIns="0" lIns="91425" spcFirstLastPara="1" rIns="91425" wrap="square" tIns="0">
            <a:normAutofit/>
          </a:bodyPr>
          <a:lstStyle>
            <a:lvl1pPr indent="-228600" lvl="0" marL="457200" algn="l">
              <a:lnSpc>
                <a:spcPct val="90000"/>
              </a:lnSpc>
              <a:spcBef>
                <a:spcPts val="0"/>
              </a:spcBef>
              <a:spcAft>
                <a:spcPts val="0"/>
              </a:spcAft>
              <a:buSzPts val="1500"/>
              <a:buNone/>
              <a:defRPr sz="1500">
                <a:solidFill>
                  <a:srgbClr val="FFFFFF"/>
                </a:solidFill>
              </a:defRPr>
            </a:lvl1pPr>
            <a:lvl2pPr indent="-228600" lvl="1" marL="914400" algn="l">
              <a:lnSpc>
                <a:spcPct val="90000"/>
              </a:lnSpc>
              <a:spcBef>
                <a:spcPts val="6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80" name="Google Shape;80;p10"/>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0"/>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0"/>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3" name="Shape 83"/>
        <p:cNvGrpSpPr/>
        <p:nvPr/>
      </p:nvGrpSpPr>
      <p:grpSpPr>
        <a:xfrm>
          <a:off x="0" y="0"/>
          <a:ext cx="0" cy="0"/>
          <a:chOff x="0" y="0"/>
          <a:chExt cx="0" cy="0"/>
        </a:xfrm>
      </p:grpSpPr>
      <p:sp>
        <p:nvSpPr>
          <p:cNvPr id="84" name="Google Shape;84;p11"/>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1"/>
          <p:cNvSpPr txBox="1"/>
          <p:nvPr>
            <p:ph idx="1" type="body"/>
          </p:nvPr>
        </p:nvSpPr>
        <p:spPr>
          <a:xfrm rot="5400000">
            <a:off x="4114800" y="-1171786"/>
            <a:ext cx="4023360" cy="10058400"/>
          </a:xfrm>
          <a:prstGeom prst="rect">
            <a:avLst/>
          </a:prstGeom>
          <a:noFill/>
          <a:ln>
            <a:noFill/>
          </a:ln>
        </p:spPr>
        <p:txBody>
          <a:bodyPr anchorCtr="0" anchor="t" bIns="0" lIns="45700" spcFirstLastPara="1" rIns="45700" wrap="square" tIns="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6" name="Google Shape;86;p11"/>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1"/>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1"/>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9" name="Shape 89"/>
        <p:cNvGrpSpPr/>
        <p:nvPr/>
      </p:nvGrpSpPr>
      <p:grpSpPr>
        <a:xfrm>
          <a:off x="0" y="0"/>
          <a:ext cx="0" cy="0"/>
          <a:chOff x="0" y="0"/>
          <a:chExt cx="0" cy="0"/>
        </a:xfrm>
      </p:grpSpPr>
      <p:sp>
        <p:nvSpPr>
          <p:cNvPr id="90" name="Google Shape;90;p12"/>
          <p:cNvSpPr/>
          <p:nvPr/>
        </p:nvSpPr>
        <p:spPr>
          <a:xfrm>
            <a:off x="3175" y="6400800"/>
            <a:ext cx="12188825" cy="457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2"/>
          <p:cNvSpPr/>
          <p:nvPr/>
        </p:nvSpPr>
        <p:spPr>
          <a:xfrm>
            <a:off x="15" y="6334316"/>
            <a:ext cx="12188825" cy="6400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2"/>
          <p:cNvSpPr txBox="1"/>
          <p:nvPr>
            <p:ph type="title"/>
          </p:nvPr>
        </p:nvSpPr>
        <p:spPr>
          <a:xfrm rot="5400000">
            <a:off x="7160640" y="1979039"/>
            <a:ext cx="5757421" cy="2628900"/>
          </a:xfrm>
          <a:prstGeom prst="rect">
            <a:avLst/>
          </a:prstGeom>
          <a:noFill/>
          <a:ln>
            <a:noFill/>
          </a:ln>
        </p:spPr>
        <p:txBody>
          <a:bodyPr anchorCtr="0" anchor="b" bIns="45700" lIns="91425" spcFirstLastPara="1" rIns="91425" wrap="square" tIns="4570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2"/>
          <p:cNvSpPr txBox="1"/>
          <p:nvPr>
            <p:ph idx="1" type="body"/>
          </p:nvPr>
        </p:nvSpPr>
        <p:spPr>
          <a:xfrm rot="5400000">
            <a:off x="1826639" y="-573661"/>
            <a:ext cx="5757422" cy="7734300"/>
          </a:xfrm>
          <a:prstGeom prst="rect">
            <a:avLst/>
          </a:prstGeom>
          <a:noFill/>
          <a:ln>
            <a:noFill/>
          </a:ln>
        </p:spPr>
        <p:txBody>
          <a:bodyPr anchorCtr="0" anchor="t" bIns="0" lIns="45700" spcFirstLastPara="1" rIns="45700" wrap="square" tIns="0">
            <a:norm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94" name="Google Shape;94;p12"/>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12"/>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12"/>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p:nvPr/>
        </p:nvSpPr>
        <p:spPr>
          <a:xfrm>
            <a:off x="1" y="6400800"/>
            <a:ext cx="12192000" cy="457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7;p1"/>
          <p:cNvSpPr/>
          <p:nvPr/>
        </p:nvSpPr>
        <p:spPr>
          <a:xfrm>
            <a:off x="0" y="6334316"/>
            <a:ext cx="12192001" cy="6599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8;p1"/>
          <p:cNvSpPr txBox="1"/>
          <p:nvPr>
            <p:ph type="title"/>
          </p:nvPr>
        </p:nvSpPr>
        <p:spPr>
          <a:xfrm>
            <a:off x="1097280" y="286603"/>
            <a:ext cx="10058400" cy="1450757"/>
          </a:xfrm>
          <a:prstGeom prst="rect">
            <a:avLst/>
          </a:prstGeom>
          <a:noFill/>
          <a:ln>
            <a:noFill/>
          </a:ln>
        </p:spPr>
        <p:txBody>
          <a:bodyPr anchorCtr="0" anchor="b" bIns="45700" lIns="91425" spcFirstLastPara="1" rIns="91425" wrap="square" tIns="45700">
            <a:normAutofit/>
          </a:bodyPr>
          <a:lstStyle>
            <a:lvl1pPr lvl="0" marR="0" rtl="0" algn="l">
              <a:lnSpc>
                <a:spcPct val="85000"/>
              </a:lnSpc>
              <a:spcBef>
                <a:spcPts val="0"/>
              </a:spcBef>
              <a:spcAft>
                <a:spcPts val="0"/>
              </a:spcAft>
              <a:buClr>
                <a:srgbClr val="3F3F3F"/>
              </a:buClr>
              <a:buSzPts val="4800"/>
              <a:buFont typeface="Calibri"/>
              <a:buNone/>
              <a:defRPr b="0" i="0" sz="4800" u="none" cap="none" strike="noStrike">
                <a:solidFill>
                  <a:srgbClr val="3F3F3F"/>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1"/>
          <p:cNvSpPr txBox="1"/>
          <p:nvPr>
            <p:ph idx="1" type="body"/>
          </p:nvPr>
        </p:nvSpPr>
        <p:spPr>
          <a:xfrm>
            <a:off x="1097280" y="1845734"/>
            <a:ext cx="10058400" cy="4023360"/>
          </a:xfrm>
          <a:prstGeom prst="rect">
            <a:avLst/>
          </a:prstGeom>
          <a:noFill/>
          <a:ln>
            <a:noFill/>
          </a:ln>
        </p:spPr>
        <p:txBody>
          <a:bodyPr anchorCtr="0" anchor="t" bIns="45700" lIns="0" spcFirstLastPara="1" rIns="0" wrap="square" tIns="45700">
            <a:normAutofit/>
          </a:bodyPr>
          <a:lstStyle>
            <a:lvl1pPr indent="-355600" lvl="0" marL="457200" marR="0" rtl="0" algn="l">
              <a:lnSpc>
                <a:spcPct val="90000"/>
              </a:lnSpc>
              <a:spcBef>
                <a:spcPts val="1200"/>
              </a:spcBef>
              <a:spcAft>
                <a:spcPts val="0"/>
              </a:spcAft>
              <a:buClr>
                <a:schemeClr val="accent1"/>
              </a:buClr>
              <a:buSzPts val="2000"/>
              <a:buFont typeface="Calibri"/>
              <a:buChar char=" "/>
              <a:defRPr b="0" i="0" sz="2000" u="none" cap="none" strike="noStrike">
                <a:solidFill>
                  <a:srgbClr val="3F3F3F"/>
                </a:solidFill>
                <a:latin typeface="Calibri"/>
                <a:ea typeface="Calibri"/>
                <a:cs typeface="Calibri"/>
                <a:sym typeface="Calibri"/>
              </a:defRPr>
            </a:lvl1pPr>
            <a:lvl2pPr indent="-342900" lvl="1" marL="914400" marR="0" rtl="0" algn="l">
              <a:lnSpc>
                <a:spcPct val="90000"/>
              </a:lnSpc>
              <a:spcBef>
                <a:spcPts val="200"/>
              </a:spcBef>
              <a:spcAft>
                <a:spcPts val="0"/>
              </a:spcAft>
              <a:buClr>
                <a:schemeClr val="accent1"/>
              </a:buClr>
              <a:buSzPts val="1800"/>
              <a:buFont typeface="Calibri"/>
              <a:buChar char="◦"/>
              <a:defRPr b="0" i="0" sz="1800" u="none" cap="none" strike="noStrike">
                <a:solidFill>
                  <a:srgbClr val="3F3F3F"/>
                </a:solidFill>
                <a:latin typeface="Calibri"/>
                <a:ea typeface="Calibri"/>
                <a:cs typeface="Calibri"/>
                <a:sym typeface="Calibri"/>
              </a:defRPr>
            </a:lvl2pPr>
            <a:lvl3pPr indent="-317500" lvl="2" marL="13716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8pPr>
            <a:lvl9pPr indent="-317500" lvl="8" marL="4114800" marR="0" rtl="0" algn="l">
              <a:lnSpc>
                <a:spcPct val="90000"/>
              </a:lnSpc>
              <a:spcBef>
                <a:spcPts val="400"/>
              </a:spcBef>
              <a:spcAft>
                <a:spcPts val="400"/>
              </a:spcAft>
              <a:buClr>
                <a:schemeClr val="accent1"/>
              </a:buClr>
              <a:buSzPts val="1400"/>
              <a:buFont typeface="Calibri"/>
              <a:buChar char="◦"/>
              <a:defRPr b="0" i="0" sz="1400" u="none" cap="none" strike="noStrike">
                <a:solidFill>
                  <a:srgbClr val="3F3F3F"/>
                </a:solidFill>
                <a:latin typeface="Calibri"/>
                <a:ea typeface="Calibri"/>
                <a:cs typeface="Calibri"/>
                <a:sym typeface="Calibri"/>
              </a:defRPr>
            </a:lvl9pPr>
          </a:lstStyle>
          <a:p/>
        </p:txBody>
      </p:sp>
      <p:sp>
        <p:nvSpPr>
          <p:cNvPr id="10" name="Google Shape;10;p1"/>
          <p:cNvSpPr txBox="1"/>
          <p:nvPr>
            <p:ph idx="10" type="dt"/>
          </p:nvPr>
        </p:nvSpPr>
        <p:spPr>
          <a:xfrm>
            <a:off x="1097280" y="6459785"/>
            <a:ext cx="2472271"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rgbClr val="FFFFFF"/>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1" name="Google Shape;11;p1"/>
          <p:cNvSpPr txBox="1"/>
          <p:nvPr>
            <p:ph idx="11" type="ftr"/>
          </p:nvPr>
        </p:nvSpPr>
        <p:spPr>
          <a:xfrm>
            <a:off x="3686185" y="6459785"/>
            <a:ext cx="4822804"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900" u="none" cap="none" strike="noStrike">
                <a:solidFill>
                  <a:srgbClr val="FFFFFF"/>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9900458" y="6459785"/>
            <a:ext cx="1312025"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050" u="none" cap="none" strike="noStrike">
                <a:solidFill>
                  <a:srgbClr val="FFFFFF"/>
                </a:solidFill>
                <a:latin typeface="Calibri"/>
                <a:ea typeface="Calibri"/>
                <a:cs typeface="Calibri"/>
                <a:sym typeface="Calibri"/>
              </a:defRPr>
            </a:lvl1pPr>
            <a:lvl2pPr indent="0" lvl="1" marL="0" marR="0" rtl="0" algn="r">
              <a:spcBef>
                <a:spcPts val="0"/>
              </a:spcBef>
              <a:buNone/>
              <a:defRPr b="0" i="0" sz="1050" u="none" cap="none" strike="noStrike">
                <a:solidFill>
                  <a:srgbClr val="FFFFFF"/>
                </a:solidFill>
                <a:latin typeface="Calibri"/>
                <a:ea typeface="Calibri"/>
                <a:cs typeface="Calibri"/>
                <a:sym typeface="Calibri"/>
              </a:defRPr>
            </a:lvl2pPr>
            <a:lvl3pPr indent="0" lvl="2" marL="0" marR="0" rtl="0" algn="r">
              <a:spcBef>
                <a:spcPts val="0"/>
              </a:spcBef>
              <a:buNone/>
              <a:defRPr b="0" i="0" sz="1050" u="none" cap="none" strike="noStrike">
                <a:solidFill>
                  <a:srgbClr val="FFFFFF"/>
                </a:solidFill>
                <a:latin typeface="Calibri"/>
                <a:ea typeface="Calibri"/>
                <a:cs typeface="Calibri"/>
                <a:sym typeface="Calibri"/>
              </a:defRPr>
            </a:lvl3pPr>
            <a:lvl4pPr indent="0" lvl="3" marL="0" marR="0" rtl="0" algn="r">
              <a:spcBef>
                <a:spcPts val="0"/>
              </a:spcBef>
              <a:buNone/>
              <a:defRPr b="0" i="0" sz="1050" u="none" cap="none" strike="noStrike">
                <a:solidFill>
                  <a:srgbClr val="FFFFFF"/>
                </a:solidFill>
                <a:latin typeface="Calibri"/>
                <a:ea typeface="Calibri"/>
                <a:cs typeface="Calibri"/>
                <a:sym typeface="Calibri"/>
              </a:defRPr>
            </a:lvl4pPr>
            <a:lvl5pPr indent="0" lvl="4" marL="0" marR="0" rtl="0" algn="r">
              <a:spcBef>
                <a:spcPts val="0"/>
              </a:spcBef>
              <a:buNone/>
              <a:defRPr b="0" i="0" sz="1050" u="none" cap="none" strike="noStrike">
                <a:solidFill>
                  <a:srgbClr val="FFFFFF"/>
                </a:solidFill>
                <a:latin typeface="Calibri"/>
                <a:ea typeface="Calibri"/>
                <a:cs typeface="Calibri"/>
                <a:sym typeface="Calibri"/>
              </a:defRPr>
            </a:lvl5pPr>
            <a:lvl6pPr indent="0" lvl="5" marL="0" marR="0" rtl="0" algn="r">
              <a:spcBef>
                <a:spcPts val="0"/>
              </a:spcBef>
              <a:buNone/>
              <a:defRPr b="0" i="0" sz="1050" u="none" cap="none" strike="noStrike">
                <a:solidFill>
                  <a:srgbClr val="FFFFFF"/>
                </a:solidFill>
                <a:latin typeface="Calibri"/>
                <a:ea typeface="Calibri"/>
                <a:cs typeface="Calibri"/>
                <a:sym typeface="Calibri"/>
              </a:defRPr>
            </a:lvl6pPr>
            <a:lvl7pPr indent="0" lvl="6" marL="0" marR="0" rtl="0" algn="r">
              <a:spcBef>
                <a:spcPts val="0"/>
              </a:spcBef>
              <a:buNone/>
              <a:defRPr b="0" i="0" sz="1050" u="none" cap="none" strike="noStrike">
                <a:solidFill>
                  <a:srgbClr val="FFFFFF"/>
                </a:solidFill>
                <a:latin typeface="Calibri"/>
                <a:ea typeface="Calibri"/>
                <a:cs typeface="Calibri"/>
                <a:sym typeface="Calibri"/>
              </a:defRPr>
            </a:lvl7pPr>
            <a:lvl8pPr indent="0" lvl="7" marL="0" marR="0" rtl="0" algn="r">
              <a:spcBef>
                <a:spcPts val="0"/>
              </a:spcBef>
              <a:buNone/>
              <a:defRPr b="0" i="0" sz="1050" u="none" cap="none" strike="noStrike">
                <a:solidFill>
                  <a:srgbClr val="FFFFFF"/>
                </a:solidFill>
                <a:latin typeface="Calibri"/>
                <a:ea typeface="Calibri"/>
                <a:cs typeface="Calibri"/>
                <a:sym typeface="Calibri"/>
              </a:defRPr>
            </a:lvl8pPr>
            <a:lvl9pPr indent="0" lvl="8" marL="0" marR="0" rtl="0" algn="r">
              <a:spcBef>
                <a:spcPts val="0"/>
              </a:spcBef>
              <a:buNone/>
              <a:defRPr b="0" i="0" sz="1050" u="none" cap="none" strike="noStrike">
                <a:solidFill>
                  <a:srgbClr val="FFFFFF"/>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cxnSp>
        <p:nvCxnSpPr>
          <p:cNvPr id="13" name="Google Shape;13;p1"/>
          <p:cNvCxnSpPr/>
          <p:nvPr/>
        </p:nvCxnSpPr>
        <p:spPr>
          <a:xfrm>
            <a:off x="1193532" y="1737845"/>
            <a:ext cx="9966960" cy="0"/>
          </a:xfrm>
          <a:prstGeom prst="straightConnector1">
            <a:avLst/>
          </a:prstGeom>
          <a:noFill/>
          <a:ln cap="flat" cmpd="sng" w="9525">
            <a:solidFill>
              <a:srgbClr val="7F7F7F"/>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2.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hyperlink" Target="https://eprint.iacr.org/2024/1265.pdf" TargetMode="External"/><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3"/>
          <p:cNvSpPr txBox="1"/>
          <p:nvPr>
            <p:ph type="ctrTitle"/>
          </p:nvPr>
        </p:nvSpPr>
        <p:spPr>
          <a:xfrm>
            <a:off x="1342845" y="484038"/>
            <a:ext cx="9144000" cy="238760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85000"/>
              </a:lnSpc>
              <a:spcBef>
                <a:spcPts val="0"/>
              </a:spcBef>
              <a:spcAft>
                <a:spcPts val="0"/>
              </a:spcAft>
              <a:buClr>
                <a:srgbClr val="1F2328"/>
              </a:buClr>
              <a:buSzPct val="100000"/>
              <a:buFont typeface="Arial"/>
              <a:buNone/>
            </a:pPr>
            <a:r>
              <a:rPr i="0" lang="en-US">
                <a:solidFill>
                  <a:srgbClr val="1F2328"/>
                </a:solidFill>
                <a:latin typeface="Arial"/>
                <a:ea typeface="Arial"/>
                <a:cs typeface="Arial"/>
                <a:sym typeface="Arial"/>
              </a:rPr>
              <a:t>Cryptanalysis on Asymmetric Ciphers — RSA &amp; RSA‑Based Signatures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4"/>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1. Bối cảnh</a:t>
            </a:r>
            <a:endParaRPr/>
          </a:p>
        </p:txBody>
      </p:sp>
      <p:sp>
        <p:nvSpPr>
          <p:cNvPr id="107" name="Google Shape;107;p14"/>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127000" lvl="0" marL="91440" rtl="0" algn="l">
              <a:spcBef>
                <a:spcPts val="0"/>
              </a:spcBef>
              <a:spcAft>
                <a:spcPts val="0"/>
              </a:spcAft>
              <a:buSzPts val="2000"/>
              <a:buChar char=" "/>
            </a:pPr>
            <a:r>
              <a:rPr lang="en-US"/>
              <a:t>RSA là thuật toán mã hóa được sử dụng rộng rãi ở nhiều công nghệ:</a:t>
            </a:r>
            <a:endParaRPr/>
          </a:p>
          <a:p>
            <a:pPr indent="-127000" lvl="0" marL="91440" rtl="0" algn="l">
              <a:spcBef>
                <a:spcPts val="1400"/>
              </a:spcBef>
              <a:spcAft>
                <a:spcPts val="0"/>
              </a:spcAft>
              <a:buSzPts val="2000"/>
              <a:buChar char="-"/>
            </a:pPr>
            <a:r>
              <a:rPr lang="en-US"/>
              <a:t>Giao thức mạng như SSL/TLS, SSH, …</a:t>
            </a:r>
            <a:endParaRPr/>
          </a:p>
          <a:p>
            <a:pPr indent="-127000" lvl="0" marL="91440" rtl="0" algn="l">
              <a:spcBef>
                <a:spcPts val="1400"/>
              </a:spcBef>
              <a:spcAft>
                <a:spcPts val="0"/>
              </a:spcAft>
              <a:buSzPts val="2000"/>
              <a:buChar char="-"/>
            </a:pPr>
            <a:r>
              <a:rPr lang="en-US"/>
              <a:t>Dịch vụ VPN</a:t>
            </a:r>
            <a:endParaRPr/>
          </a:p>
          <a:p>
            <a:pPr indent="-127000" lvl="0" marL="91440" rtl="0" algn="l">
              <a:spcBef>
                <a:spcPts val="1400"/>
              </a:spcBef>
              <a:spcAft>
                <a:spcPts val="0"/>
              </a:spcAft>
              <a:buSzPts val="2000"/>
              <a:buChar char="-"/>
            </a:pPr>
            <a:r>
              <a:rPr lang="en-US"/>
              <a:t>Smart Cards, các thiết bị IoT</a:t>
            </a:r>
            <a:endParaRPr/>
          </a:p>
          <a:p>
            <a:pPr indent="-127000" lvl="0" marL="91440" rtl="0" algn="l">
              <a:spcBef>
                <a:spcPts val="1400"/>
              </a:spcBef>
              <a:spcAft>
                <a:spcPts val="0"/>
              </a:spcAft>
              <a:buSzPts val="2000"/>
              <a:buChar char=" "/>
            </a:pPr>
            <a:r>
              <a:rPr lang="en-US"/>
              <a:t>Vấn đề: tuy phổ biến, RSA vẫn tiềm ẩn rủi ro cao nếu triển khai sai hoặc tham số đầu vào không đạt chuẩn.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5"/>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Rủi ro</a:t>
            </a:r>
            <a:endParaRPr/>
          </a:p>
        </p:txBody>
      </p:sp>
      <p:sp>
        <p:nvSpPr>
          <p:cNvPr id="113" name="Google Shape;113;p15"/>
          <p:cNvSpPr txBox="1"/>
          <p:nvPr>
            <p:ph idx="1" type="body"/>
          </p:nvPr>
        </p:nvSpPr>
        <p:spPr>
          <a:xfrm>
            <a:off x="1097275" y="1845725"/>
            <a:ext cx="6364500" cy="4023300"/>
          </a:xfrm>
          <a:prstGeom prst="rect">
            <a:avLst/>
          </a:prstGeom>
          <a:noFill/>
          <a:ln>
            <a:noFill/>
          </a:ln>
        </p:spPr>
        <p:txBody>
          <a:bodyPr anchorCtr="0" anchor="t" bIns="45700" lIns="0" spcFirstLastPara="1" rIns="0" wrap="square" tIns="45700">
            <a:normAutofit/>
          </a:bodyPr>
          <a:lstStyle/>
          <a:p>
            <a:pPr indent="-152400" lvl="0" marL="91440" rtl="0" algn="l">
              <a:lnSpc>
                <a:spcPct val="90000"/>
              </a:lnSpc>
              <a:spcBef>
                <a:spcPts val="0"/>
              </a:spcBef>
              <a:spcAft>
                <a:spcPts val="0"/>
              </a:spcAft>
              <a:buSzPts val="2400"/>
              <a:buChar char=" "/>
            </a:pPr>
            <a:r>
              <a:rPr lang="en-US" sz="2400"/>
              <a:t> </a:t>
            </a:r>
            <a:r>
              <a:rPr lang="en-US" sz="2400"/>
              <a:t>Nếu có thể phân tích thừa số N và tìm được p,q, hệ thống sẽ gặp những rủi ro sau:</a:t>
            </a:r>
            <a:endParaRPr/>
          </a:p>
          <a:p>
            <a:pPr indent="-152400" lvl="0" marL="91440" rtl="0" algn="l">
              <a:lnSpc>
                <a:spcPct val="90000"/>
              </a:lnSpc>
              <a:spcBef>
                <a:spcPts val="1400"/>
              </a:spcBef>
              <a:spcAft>
                <a:spcPts val="0"/>
              </a:spcAft>
              <a:buSzPts val="2400"/>
              <a:buFont typeface="Calibri"/>
              <a:buChar char="-"/>
            </a:pPr>
            <a:r>
              <a:rPr lang="en-US" sz="2400"/>
              <a:t> </a:t>
            </a:r>
            <a:r>
              <a:rPr lang="en-US" sz="2400"/>
              <a:t>Khôi phục lại được private key</a:t>
            </a:r>
            <a:endParaRPr/>
          </a:p>
          <a:p>
            <a:pPr indent="-152400" lvl="0" marL="91440" rtl="0" algn="l">
              <a:lnSpc>
                <a:spcPct val="90000"/>
              </a:lnSpc>
              <a:spcBef>
                <a:spcPts val="1400"/>
              </a:spcBef>
              <a:spcAft>
                <a:spcPts val="0"/>
              </a:spcAft>
              <a:buSzPts val="2400"/>
              <a:buFont typeface="Calibri"/>
              <a:buChar char="-"/>
            </a:pPr>
            <a:r>
              <a:rPr lang="en-US" sz="2400"/>
              <a:t> </a:t>
            </a:r>
            <a:r>
              <a:rPr lang="en-US" sz="2400"/>
              <a:t>Mất tính bảo mật: dịch lại các dữ liệu như thông tin đăng nhập, các khóa phiên, …</a:t>
            </a:r>
            <a:endParaRPr/>
          </a:p>
          <a:p>
            <a:pPr indent="-152400" lvl="0" marL="91440" rtl="0" algn="l">
              <a:lnSpc>
                <a:spcPct val="90000"/>
              </a:lnSpc>
              <a:spcBef>
                <a:spcPts val="1400"/>
              </a:spcBef>
              <a:spcAft>
                <a:spcPts val="0"/>
              </a:spcAft>
              <a:buSzPts val="2400"/>
              <a:buFont typeface="Calibri"/>
              <a:buChar char="-"/>
            </a:pPr>
            <a:r>
              <a:rPr lang="en-US" sz="2400"/>
              <a:t> </a:t>
            </a:r>
            <a:r>
              <a:rPr lang="en-US" sz="2400"/>
              <a:t>Mất tính tính toàn vẹn, tính xác thực: giả mạo chữ </a:t>
            </a:r>
            <a:r>
              <a:rPr lang="en-US" sz="2400"/>
              <a:t>ký</a:t>
            </a:r>
            <a:endParaRPr sz="2400"/>
          </a:p>
          <a:p>
            <a:pPr indent="-152400" lvl="0" marL="91440" rtl="0" algn="l">
              <a:lnSpc>
                <a:spcPct val="90000"/>
              </a:lnSpc>
              <a:spcBef>
                <a:spcPts val="1400"/>
              </a:spcBef>
              <a:spcAft>
                <a:spcPts val="0"/>
              </a:spcAft>
              <a:buSzPts val="2400"/>
              <a:buFont typeface="Calibri"/>
              <a:buChar char="-"/>
            </a:pPr>
            <a:r>
              <a:rPr lang="en-US" sz="2400"/>
              <a:t> Nếu các cặp khóa được tái sử dụng trên nhiều service của hệ thống thì có thể bị ảnh hưởng</a:t>
            </a:r>
            <a:endParaRPr sz="2400"/>
          </a:p>
        </p:txBody>
      </p:sp>
      <p:pic>
        <p:nvPicPr>
          <p:cNvPr id="114" name="Google Shape;114;p15"/>
          <p:cNvPicPr preferRelativeResize="0"/>
          <p:nvPr/>
        </p:nvPicPr>
        <p:blipFill rotWithShape="1">
          <a:blip r:embed="rId3">
            <a:alphaModFix/>
          </a:blip>
          <a:srcRect b="0" l="3563" r="5582" t="1935"/>
          <a:stretch/>
        </p:blipFill>
        <p:spPr>
          <a:xfrm>
            <a:off x="7461850" y="2171172"/>
            <a:ext cx="4730151" cy="362045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6"/>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Security Goals</a:t>
            </a:r>
            <a:endParaRPr/>
          </a:p>
        </p:txBody>
      </p:sp>
      <p:sp>
        <p:nvSpPr>
          <p:cNvPr id="120" name="Google Shape;120;p16"/>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58750" lvl="0" marL="91440" rtl="0" algn="l">
              <a:lnSpc>
                <a:spcPct val="90000"/>
              </a:lnSpc>
              <a:spcBef>
                <a:spcPts val="0"/>
              </a:spcBef>
              <a:spcAft>
                <a:spcPts val="0"/>
              </a:spcAft>
              <a:buSzPts val="2500"/>
              <a:buChar char=" "/>
            </a:pPr>
            <a:r>
              <a:rPr lang="en-US" sz="2500"/>
              <a:t>- </a:t>
            </a:r>
            <a:r>
              <a:rPr lang="en-US" sz="2500"/>
              <a:t>Bảo vệ dữ liệu: đảm bảo người được phép mới được đọc dữ liệu.</a:t>
            </a:r>
            <a:endParaRPr sz="2500"/>
          </a:p>
          <a:p>
            <a:pPr indent="-158750" lvl="0" marL="91440" rtl="0" algn="l">
              <a:lnSpc>
                <a:spcPct val="90000"/>
              </a:lnSpc>
              <a:spcBef>
                <a:spcPts val="1400"/>
              </a:spcBef>
              <a:spcAft>
                <a:spcPts val="0"/>
              </a:spcAft>
              <a:buSzPts val="2500"/>
              <a:buChar char=" "/>
            </a:pPr>
            <a:r>
              <a:rPr lang="en-US" sz="2500"/>
              <a:t>- Tính toàn vẹn: dữ liệu gốc không bị thay đổi khi được mã hóa.</a:t>
            </a:r>
            <a:endParaRPr sz="2500"/>
          </a:p>
          <a:p>
            <a:pPr indent="-158750" lvl="0" marL="91440" rtl="0" algn="l">
              <a:lnSpc>
                <a:spcPct val="90000"/>
              </a:lnSpc>
              <a:spcBef>
                <a:spcPts val="1400"/>
              </a:spcBef>
              <a:spcAft>
                <a:spcPts val="0"/>
              </a:spcAft>
              <a:buSzPts val="2500"/>
              <a:buChar char=" "/>
            </a:pPr>
            <a:r>
              <a:rPr lang="en-US" sz="2500"/>
              <a:t>- Tính xác thực: biết chắc chắn dữ liệu đến từ đâu, xác định được người gửi.</a:t>
            </a:r>
            <a:endParaRPr sz="2500"/>
          </a:p>
          <a:p>
            <a:pPr indent="-158750" lvl="0" marL="91440" rtl="0" algn="l">
              <a:lnSpc>
                <a:spcPct val="90000"/>
              </a:lnSpc>
              <a:spcBef>
                <a:spcPts val="1400"/>
              </a:spcBef>
              <a:spcAft>
                <a:spcPts val="0"/>
              </a:spcAft>
              <a:buSzPts val="2500"/>
              <a:buChar char=" "/>
            </a:pPr>
            <a:r>
              <a:rPr lang="en-US" sz="2500"/>
              <a:t>- Chống các cuộc tấn công khi triển khai thực tế.</a:t>
            </a:r>
            <a:endParaRPr sz="25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7"/>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26" name="Google Shape;126;p17"/>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Autofit/>
          </a:bodyPr>
          <a:lstStyle/>
          <a:p>
            <a:pPr indent="-177800" lvl="0" marL="91440" rtl="0" algn="l">
              <a:lnSpc>
                <a:spcPct val="150000"/>
              </a:lnSpc>
              <a:spcBef>
                <a:spcPts val="0"/>
              </a:spcBef>
              <a:spcAft>
                <a:spcPts val="0"/>
              </a:spcAft>
              <a:buSzPts val="2800"/>
              <a:buFont typeface="Courier New"/>
              <a:buChar char="o"/>
            </a:pPr>
            <a:r>
              <a:rPr lang="en-US" sz="2800"/>
              <a:t> </a:t>
            </a:r>
            <a:r>
              <a:rPr lang="en-US" sz="2800"/>
              <a:t>RQ1: Trong kịch bản triển khai thực tế (TLS, JWT, code signing), đâu là các điểm yếu phổ biến nhất liên quan tới RSA và chúng dẫn tới hậu quả gì (forgery, key recovery, signature replay)?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8"/>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32" name="Google Shape;132;p18"/>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Autofit/>
          </a:bodyPr>
          <a:lstStyle/>
          <a:p>
            <a:pPr indent="-177800" lvl="0" marL="91440" rtl="0" algn="l">
              <a:lnSpc>
                <a:spcPct val="150000"/>
              </a:lnSpc>
              <a:spcBef>
                <a:spcPts val="0"/>
              </a:spcBef>
              <a:spcAft>
                <a:spcPts val="0"/>
              </a:spcAft>
              <a:buSzPts val="2800"/>
              <a:buFont typeface="Courier New"/>
              <a:buChar char="o"/>
            </a:pPr>
            <a:r>
              <a:rPr lang="en-US" sz="2800"/>
              <a:t> </a:t>
            </a:r>
            <a:r>
              <a:rPr lang="en-US" sz="2800"/>
              <a:t>RQ2: Các tấn công Bleichenbacher (padding oracle) và timing attacks còn khả thi trên các stack hiện đại (OpenSSL/LibreSSL/BoringSSL) khi gặp cấu hình cũ hoặc lỗi không?</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19"/>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38" name="Google Shape;138;p19"/>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150000"/>
              </a:lnSpc>
              <a:spcBef>
                <a:spcPts val="0"/>
              </a:spcBef>
              <a:spcAft>
                <a:spcPts val="0"/>
              </a:spcAft>
              <a:buSzPts val="2800"/>
              <a:buFont typeface="Courier New"/>
              <a:buChar char="o"/>
            </a:pPr>
            <a:r>
              <a:rPr lang="en-US" sz="2800"/>
              <a:t>Giả thuyết: Các vụ compromise thực tế thường xảy ra do: xử lý padding không an toàn (PKCS#1 v1.5), RNG yếu tạo primes dễ đoán, misuse của small exponent. Việc chuyển sang RSASSA-PSS để kí, RSA-OAEP để mã hóa, áp dụng kích thước khóa lớn (≥ 3072bit), sử dụng HSM và library thực hiện constant-time sẽ giảm đáng kể rủi ro.</a:t>
            </a:r>
            <a:endParaRPr sz="28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0"/>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3. Kịch bản triển khai</a:t>
            </a:r>
            <a:endParaRPr/>
          </a:p>
        </p:txBody>
      </p:sp>
      <p:sp>
        <p:nvSpPr>
          <p:cNvPr id="144" name="Google Shape;144;p20"/>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Char char=" "/>
            </a:pPr>
            <a:r>
              <a:rPr lang="en-US" sz="2800"/>
              <a:t>1) Công cụ/Thư viện: OpenSSL, GMP, Docker, Python (pycryptodome)</a:t>
            </a:r>
            <a:endParaRPr/>
          </a:p>
          <a:p>
            <a:pPr indent="-177800" lvl="0" marL="91440" rtl="0" algn="l">
              <a:lnSpc>
                <a:spcPct val="90000"/>
              </a:lnSpc>
              <a:spcBef>
                <a:spcPts val="2700"/>
              </a:spcBef>
              <a:spcAft>
                <a:spcPts val="0"/>
              </a:spcAft>
              <a:buSzPts val="2800"/>
              <a:buChar char=" "/>
            </a:pPr>
            <a:r>
              <a:rPr lang="en-US" sz="2800"/>
              <a:t>2) Môi trường cô lập, chỉ chạy PoC trên hệ thống lab</a:t>
            </a:r>
            <a:endParaRPr/>
          </a:p>
          <a:p>
            <a:pPr indent="-177800" lvl="0" marL="91440" rtl="0" algn="l">
              <a:lnSpc>
                <a:spcPct val="90000"/>
              </a:lnSpc>
              <a:spcBef>
                <a:spcPts val="2700"/>
              </a:spcBef>
              <a:spcAft>
                <a:spcPts val="0"/>
              </a:spcAft>
              <a:buSzPts val="2800"/>
              <a:buChar char=" "/>
            </a:pPr>
            <a:r>
              <a:rPr lang="en-US" sz="2800"/>
              <a:t>3) Data collection &amp; metrics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1"/>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Các attack triển khai</a:t>
            </a:r>
            <a:endParaRPr/>
          </a:p>
        </p:txBody>
      </p:sp>
      <p:sp>
        <p:nvSpPr>
          <p:cNvPr id="150" name="Google Shape;150;p21"/>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Font typeface="Calibri"/>
              <a:buChar char="-"/>
            </a:pPr>
            <a:r>
              <a:rPr lang="en-US" sz="2800"/>
              <a:t> Attack A — Bleichenbacher padding oracle PoC: dựng server TLS-like dùng PKCS#1 v1.5 decryption cho PreMasterSecret, tạo oracle, phục hồi session secret; sau đó vá (uniform error, PSS) và kiểm chứng.</a:t>
            </a:r>
            <a:endParaRPr/>
          </a:p>
          <a:p>
            <a:pPr indent="-177800" lvl="0" marL="91440" rtl="0" algn="l">
              <a:lnSpc>
                <a:spcPct val="90000"/>
              </a:lnSpc>
              <a:spcBef>
                <a:spcPts val="1400"/>
              </a:spcBef>
              <a:spcAft>
                <a:spcPts val="0"/>
              </a:spcAft>
              <a:buSzPts val="2800"/>
              <a:buFont typeface="Calibri"/>
              <a:buChar char="-"/>
            </a:pPr>
            <a:r>
              <a:rPr lang="en-US" sz="2800"/>
              <a:t> Attack B — Timing attack: đo local và remote timing để dò rò rỉ thông tin về d; đánh giá countermeasures (exponent blinding, constant-time lib).</a:t>
            </a:r>
            <a:endParaRPr/>
          </a:p>
          <a:p>
            <a:pPr indent="-177800" lvl="0" marL="91440" rtl="0" algn="l">
              <a:lnSpc>
                <a:spcPct val="90000"/>
              </a:lnSpc>
              <a:spcBef>
                <a:spcPts val="1400"/>
              </a:spcBef>
              <a:spcAft>
                <a:spcPts val="0"/>
              </a:spcAft>
              <a:buSzPts val="2800"/>
              <a:buFont typeface="Calibri"/>
              <a:buChar char="-"/>
            </a:pPr>
            <a:r>
              <a:rPr lang="en-US" sz="2800"/>
              <a:t> Attack C — Wiener / low-d: sinh khóa vulnerable (small d) và dùng thuật toán Wiener để phục hồi private key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2"/>
          <p:cNvSpPr txBox="1"/>
          <p:nvPr>
            <p:ph type="title"/>
          </p:nvPr>
        </p:nvSpPr>
        <p:spPr>
          <a:xfrm>
            <a:off x="1097275" y="286600"/>
            <a:ext cx="103722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sp>
        <p:nvSpPr>
          <p:cNvPr id="156" name="Google Shape;156;p22"/>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Font typeface="Calibri"/>
              <a:buChar char="-"/>
            </a:pPr>
            <a:r>
              <a:rPr lang="en-US" sz="2800"/>
              <a:t> Mục tiêu</a:t>
            </a:r>
            <a:endParaRPr sz="2800"/>
          </a:p>
          <a:p>
            <a:pPr indent="-182880" lvl="1" marL="384048" rtl="0" algn="l">
              <a:lnSpc>
                <a:spcPct val="90000"/>
              </a:lnSpc>
              <a:spcBef>
                <a:spcPts val="400"/>
              </a:spcBef>
              <a:spcAft>
                <a:spcPts val="0"/>
              </a:spcAft>
              <a:buSzPts val="2600"/>
              <a:buFont typeface="Calibri"/>
              <a:buChar char="-"/>
            </a:pPr>
            <a:r>
              <a:rPr lang="en-US" sz="2600"/>
              <a:t> Đánh vào điểm yếu padding của hệ thống</a:t>
            </a:r>
            <a:endParaRPr sz="2600"/>
          </a:p>
          <a:p>
            <a:pPr indent="-182880" lvl="1" marL="384048" rtl="0" algn="l">
              <a:lnSpc>
                <a:spcPct val="90000"/>
              </a:lnSpc>
              <a:spcBef>
                <a:spcPts val="600"/>
              </a:spcBef>
              <a:spcAft>
                <a:spcPts val="0"/>
              </a:spcAft>
              <a:buSzPts val="2600"/>
              <a:buFont typeface="Calibri"/>
              <a:buChar char="-"/>
            </a:pPr>
            <a:r>
              <a:rPr lang="en-US" sz="2600"/>
              <a:t> Không cần private key, chỉ cần tồn tại oracle </a:t>
            </a:r>
            <a:endParaRPr/>
          </a:p>
          <a:p>
            <a:pPr indent="-177800" lvl="0" marL="91440" rtl="0" algn="l">
              <a:lnSpc>
                <a:spcPct val="90000"/>
              </a:lnSpc>
              <a:spcBef>
                <a:spcPts val="1600"/>
              </a:spcBef>
              <a:spcAft>
                <a:spcPts val="0"/>
              </a:spcAft>
              <a:buSzPts val="2800"/>
              <a:buFont typeface="Calibri"/>
              <a:buChar char="-"/>
            </a:pPr>
            <a:r>
              <a:rPr lang="en-US" sz="2800"/>
              <a:t> Điều kiện </a:t>
            </a:r>
            <a:endParaRPr/>
          </a:p>
          <a:p>
            <a:pPr indent="-182880" lvl="1" marL="384048" rtl="0" algn="l">
              <a:lnSpc>
                <a:spcPct val="90000"/>
              </a:lnSpc>
              <a:spcBef>
                <a:spcPts val="400"/>
              </a:spcBef>
              <a:spcAft>
                <a:spcPts val="0"/>
              </a:spcAft>
              <a:buSzPts val="2600"/>
              <a:buFont typeface="Calibri"/>
              <a:buChar char="-"/>
            </a:pPr>
            <a:r>
              <a:rPr lang="en-US" sz="2600"/>
              <a:t> Server sử dụng RSA key exchange + PKCS#1 v1.5</a:t>
            </a:r>
            <a:endParaRPr/>
          </a:p>
          <a:p>
            <a:pPr indent="-182880" lvl="1" marL="384048" rtl="0" algn="l">
              <a:lnSpc>
                <a:spcPct val="90000"/>
              </a:lnSpc>
              <a:spcBef>
                <a:spcPts val="600"/>
              </a:spcBef>
              <a:spcAft>
                <a:spcPts val="0"/>
              </a:spcAft>
              <a:buSzPts val="2600"/>
              <a:buFont typeface="Calibri"/>
              <a:buChar char="-"/>
            </a:pPr>
            <a:r>
              <a:rPr lang="en-US" sz="2600"/>
              <a:t> Server phản hồi khác nhau khi padding hợp và không hợp lệ</a:t>
            </a:r>
            <a:endParaRPr sz="2600"/>
          </a:p>
          <a:p>
            <a:pPr indent="-177800" lvl="0" marL="91440" rtl="0" algn="l">
              <a:lnSpc>
                <a:spcPct val="90000"/>
              </a:lnSpc>
              <a:spcBef>
                <a:spcPts val="1600"/>
              </a:spcBef>
              <a:spcAft>
                <a:spcPts val="0"/>
              </a:spcAft>
              <a:buSzPts val="2800"/>
              <a:buFont typeface="Calibri"/>
              <a:buChar char="-"/>
            </a:pPr>
            <a:r>
              <a:rPr lang="en-US" sz="2800"/>
              <a:t> Attacker được gửi ciphertext tùy ý liên tục và quan sát phản hồi</a:t>
            </a:r>
            <a:endParaRPr sz="28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3"/>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ctr">
              <a:lnSpc>
                <a:spcPct val="85000"/>
              </a:lnSpc>
              <a:spcBef>
                <a:spcPts val="0"/>
              </a:spcBef>
              <a:spcAft>
                <a:spcPts val="0"/>
              </a:spcAft>
              <a:buClr>
                <a:srgbClr val="3F3F3F"/>
              </a:buClr>
              <a:buSzPts val="4800"/>
              <a:buFont typeface="Calibri"/>
              <a:buNone/>
            </a:pPr>
            <a:r>
              <a:rPr lang="en-US"/>
              <a:t>PKCS#1 v1.5 Padding</a:t>
            </a:r>
            <a:endParaRPr/>
          </a:p>
        </p:txBody>
      </p:sp>
      <p:pic>
        <p:nvPicPr>
          <p:cNvPr descr="rsa - Why PS does differ between PKCS1 v1.5 padding for signature ..." id="162" name="Google Shape;162;p23"/>
          <p:cNvPicPr preferRelativeResize="0"/>
          <p:nvPr/>
        </p:nvPicPr>
        <p:blipFill rotWithShape="1">
          <a:blip r:embed="rId3">
            <a:alphaModFix/>
          </a:blip>
          <a:srcRect b="0" l="0" r="0" t="0"/>
          <a:stretch/>
        </p:blipFill>
        <p:spPr>
          <a:xfrm>
            <a:off x="1465772" y="2055243"/>
            <a:ext cx="8915400" cy="38862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4"/>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Padding Oracle là gì?</a:t>
            </a:r>
            <a:endParaRPr/>
          </a:p>
        </p:txBody>
      </p:sp>
      <p:sp>
        <p:nvSpPr>
          <p:cNvPr id="168" name="Google Shape;168;p24"/>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Font typeface="Calibri"/>
              <a:buChar char="-"/>
            </a:pPr>
            <a:r>
              <a:rPr lang="en-US" sz="2800">
                <a:latin typeface="Calibri"/>
                <a:ea typeface="Calibri"/>
                <a:cs typeface="Calibri"/>
                <a:sym typeface="Calibri"/>
              </a:rPr>
              <a:t> Là một thành phần cho phép attacker biết </a:t>
            </a:r>
            <a:r>
              <a:rPr b="1" lang="en-US" sz="2800">
                <a:latin typeface="Calibri"/>
                <a:ea typeface="Calibri"/>
                <a:cs typeface="Calibri"/>
                <a:sym typeface="Calibri"/>
              </a:rPr>
              <a:t>ciphertext sau khi decrypt có vượt qua kiểm tra padding hay không</a:t>
            </a:r>
            <a:r>
              <a:rPr lang="en-US" sz="2800">
                <a:latin typeface="Calibri"/>
                <a:ea typeface="Calibri"/>
                <a:cs typeface="Calibri"/>
                <a:sym typeface="Calibri"/>
              </a:rPr>
              <a:t>, thông qua </a:t>
            </a:r>
            <a:r>
              <a:rPr b="1" lang="en-US" sz="2800">
                <a:latin typeface="Calibri"/>
                <a:ea typeface="Calibri"/>
                <a:cs typeface="Calibri"/>
                <a:sym typeface="Calibri"/>
              </a:rPr>
              <a:t>phản hồi hoặc timing khác nhau</a:t>
            </a:r>
            <a:r>
              <a:rPr lang="en-US" sz="2800">
                <a:latin typeface="Calibri"/>
                <a:ea typeface="Calibri"/>
                <a:cs typeface="Calibri"/>
                <a:sym typeface="Calibri"/>
              </a:rPr>
              <a:t>.</a:t>
            </a:r>
            <a:endParaRPr sz="2800">
              <a:latin typeface="Calibri"/>
              <a:ea typeface="Calibri"/>
              <a:cs typeface="Calibri"/>
              <a:sym typeface="Calibri"/>
            </a:endParaRPr>
          </a:p>
          <a:p>
            <a:pPr indent="-177800" lvl="0" marL="91440" rtl="0" algn="l">
              <a:lnSpc>
                <a:spcPct val="90000"/>
              </a:lnSpc>
              <a:spcBef>
                <a:spcPts val="1400"/>
              </a:spcBef>
              <a:spcAft>
                <a:spcPts val="0"/>
              </a:spcAft>
              <a:buSzPts val="2800"/>
              <a:buFont typeface="Calibri"/>
              <a:buChar char="-"/>
            </a:pPr>
            <a:r>
              <a:rPr lang="en-US" sz="2800">
                <a:latin typeface="Calibri"/>
                <a:ea typeface="Calibri"/>
                <a:cs typeface="Calibri"/>
                <a:sym typeface="Calibri"/>
              </a:rPr>
              <a:t> Khi server thực hiện giải mã RSA hoặc kiểm tra padding PKCS#1 v1.5, server sẽ để lộ kết quả kiểm tra padding:</a:t>
            </a:r>
            <a:endParaRPr/>
          </a:p>
          <a:p>
            <a:pPr indent="-182880" lvl="1" marL="384048" rtl="0" algn="l">
              <a:lnSpc>
                <a:spcPct val="90000"/>
              </a:lnSpc>
              <a:spcBef>
                <a:spcPts val="400"/>
              </a:spcBef>
              <a:spcAft>
                <a:spcPts val="0"/>
              </a:spcAft>
              <a:buSzPts val="2600"/>
              <a:buFont typeface="Calibri"/>
              <a:buChar char="-"/>
            </a:pPr>
            <a:r>
              <a:rPr lang="en-US" sz="2600">
                <a:latin typeface="Calibri"/>
                <a:ea typeface="Calibri"/>
                <a:cs typeface="Calibri"/>
                <a:sym typeface="Calibri"/>
              </a:rPr>
              <a:t>Trả về OK/FAIL</a:t>
            </a:r>
            <a:endParaRPr/>
          </a:p>
          <a:p>
            <a:pPr indent="-182880" lvl="1" marL="384048" rtl="0" algn="l">
              <a:lnSpc>
                <a:spcPct val="90000"/>
              </a:lnSpc>
              <a:spcBef>
                <a:spcPts val="600"/>
              </a:spcBef>
              <a:spcAft>
                <a:spcPts val="0"/>
              </a:spcAft>
              <a:buSzPts val="2600"/>
              <a:buFont typeface="Calibri"/>
              <a:buChar char="-"/>
            </a:pPr>
            <a:r>
              <a:rPr lang="en-US" sz="2600">
                <a:latin typeface="Calibri"/>
                <a:ea typeface="Calibri"/>
                <a:cs typeface="Calibri"/>
                <a:sym typeface="Calibri"/>
              </a:rPr>
              <a:t>Timing khác nhau</a:t>
            </a:r>
            <a:endParaRPr sz="26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5"/>
          <p:cNvSpPr txBox="1"/>
          <p:nvPr>
            <p:ph type="title"/>
          </p:nvPr>
        </p:nvSpPr>
        <p:spPr>
          <a:xfrm>
            <a:off x="1097275" y="286600"/>
            <a:ext cx="106659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pic>
        <p:nvPicPr>
          <p:cNvPr id="174" name="Google Shape;174;p25"/>
          <p:cNvPicPr preferRelativeResize="0"/>
          <p:nvPr/>
        </p:nvPicPr>
        <p:blipFill>
          <a:blip r:embed="rId3">
            <a:alphaModFix/>
          </a:blip>
          <a:stretch>
            <a:fillRect/>
          </a:stretch>
        </p:blipFill>
        <p:spPr>
          <a:xfrm>
            <a:off x="0" y="2379675"/>
            <a:ext cx="12192000" cy="22981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6"/>
          <p:cNvSpPr txBox="1"/>
          <p:nvPr>
            <p:ph type="title"/>
          </p:nvPr>
        </p:nvSpPr>
        <p:spPr>
          <a:xfrm>
            <a:off x="1097275" y="286600"/>
            <a:ext cx="104361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sp>
        <p:nvSpPr>
          <p:cNvPr id="180" name="Google Shape;180;p26"/>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27000" lvl="0" marL="91440" rtl="0" algn="l">
              <a:lnSpc>
                <a:spcPct val="90000"/>
              </a:lnSpc>
              <a:spcBef>
                <a:spcPts val="0"/>
              </a:spcBef>
              <a:spcAft>
                <a:spcPts val="0"/>
              </a:spcAft>
              <a:buSzPts val="2000"/>
              <a:buChar char=" "/>
            </a:pPr>
            <a:r>
              <a:rPr lang="en-US"/>
              <a:t>- Demo Lab:</a:t>
            </a:r>
            <a:endParaRPr/>
          </a:p>
          <a:p>
            <a:pPr indent="-182880" lvl="1" marL="384048" rtl="0" algn="l">
              <a:lnSpc>
                <a:spcPct val="90000"/>
              </a:lnSpc>
              <a:spcBef>
                <a:spcPts val="400"/>
              </a:spcBef>
              <a:spcAft>
                <a:spcPts val="0"/>
              </a:spcAft>
              <a:buSzPts val="1800"/>
              <a:buChar char="◦"/>
            </a:pPr>
            <a:r>
              <a:rPr lang="en-US"/>
              <a:t>Server dùng RSA PCKS#1 v1.5 để gen key và giải mã</a:t>
            </a:r>
            <a:endParaRPr/>
          </a:p>
          <a:p>
            <a:pPr indent="-182880" lvl="1" marL="384048" rtl="0" algn="l">
              <a:lnSpc>
                <a:spcPct val="90000"/>
              </a:lnSpc>
              <a:spcBef>
                <a:spcPts val="600"/>
              </a:spcBef>
              <a:spcAft>
                <a:spcPts val="0"/>
              </a:spcAft>
              <a:buSzPts val="1800"/>
              <a:buChar char="◦"/>
            </a:pPr>
            <a:r>
              <a:rPr lang="en-US"/>
              <a:t>Server trả về OK/FAIL</a:t>
            </a:r>
            <a:endParaRPr/>
          </a:p>
          <a:p>
            <a:pPr indent="-127000" lvl="0" marL="91440" rtl="0" algn="l">
              <a:lnSpc>
                <a:spcPct val="90000"/>
              </a:lnSpc>
              <a:spcBef>
                <a:spcPts val="1600"/>
              </a:spcBef>
              <a:spcAft>
                <a:spcPts val="0"/>
              </a:spcAft>
              <a:buSzPts val="2000"/>
              <a:buChar char=" "/>
            </a:pPr>
            <a:r>
              <a:rPr lang="en-US"/>
              <a:t>- Phục hồi 48 byte premaster secret (plaintext)</a:t>
            </a:r>
            <a:endParaRPr/>
          </a:p>
        </p:txBody>
      </p:sp>
      <p:pic>
        <p:nvPicPr>
          <p:cNvPr id="181" name="Google Shape;181;p26"/>
          <p:cNvPicPr preferRelativeResize="0"/>
          <p:nvPr/>
        </p:nvPicPr>
        <p:blipFill rotWithShape="1">
          <a:blip r:embed="rId3">
            <a:alphaModFix/>
          </a:blip>
          <a:srcRect b="0" l="0" r="0" t="0"/>
          <a:stretch/>
        </p:blipFill>
        <p:spPr>
          <a:xfrm>
            <a:off x="0" y="3797268"/>
            <a:ext cx="7352990" cy="2555257"/>
          </a:xfrm>
          <a:prstGeom prst="rect">
            <a:avLst/>
          </a:prstGeom>
          <a:noFill/>
          <a:ln>
            <a:noFill/>
          </a:ln>
        </p:spPr>
      </p:pic>
      <p:pic>
        <p:nvPicPr>
          <p:cNvPr id="182" name="Google Shape;182;p26"/>
          <p:cNvPicPr preferRelativeResize="0"/>
          <p:nvPr/>
        </p:nvPicPr>
        <p:blipFill rotWithShape="1">
          <a:blip r:embed="rId4">
            <a:alphaModFix/>
          </a:blip>
          <a:srcRect b="0" l="0" r="0" t="0"/>
          <a:stretch/>
        </p:blipFill>
        <p:spPr>
          <a:xfrm>
            <a:off x="7352990" y="2059583"/>
            <a:ext cx="4839010" cy="429294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7"/>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Kết quả - Attack A</a:t>
            </a:r>
            <a:endParaRPr/>
          </a:p>
        </p:txBody>
      </p:sp>
      <p:graphicFrame>
        <p:nvGraphicFramePr>
          <p:cNvPr id="188" name="Google Shape;188;p27"/>
          <p:cNvGraphicFramePr/>
          <p:nvPr/>
        </p:nvGraphicFramePr>
        <p:xfrm>
          <a:off x="847592" y="1837396"/>
          <a:ext cx="3000000" cy="3000000"/>
        </p:xfrm>
        <a:graphic>
          <a:graphicData uri="http://schemas.openxmlformats.org/drawingml/2006/table">
            <a:tbl>
              <a:tblPr>
                <a:noFill/>
                <a:tableStyleId>{043C5A59-9731-4CFF-88FE-2C7CCFD5DE6B}</a:tableStyleId>
              </a:tblPr>
              <a:tblGrid>
                <a:gridCol w="2011350"/>
                <a:gridCol w="2011350"/>
                <a:gridCol w="2011350"/>
                <a:gridCol w="2011350"/>
                <a:gridCol w="2011350"/>
              </a:tblGrid>
              <a:tr h="365700">
                <a:tc>
                  <a:txBody>
                    <a:bodyPr/>
                    <a:lstStyle/>
                    <a:p>
                      <a:pPr indent="0" lvl="0" marL="0" marR="0" rtl="0" algn="l">
                        <a:spcBef>
                          <a:spcPts val="0"/>
                        </a:spcBef>
                        <a:spcAft>
                          <a:spcPts val="0"/>
                        </a:spcAft>
                        <a:buNone/>
                      </a:pPr>
                      <a:r>
                        <a:rPr lang="en-US" sz="1800" u="none" cap="none" strike="noStrike"/>
                        <a:t>Run</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Queries</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Time (s)</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Avg / query (s)</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QPS</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183,346</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360.38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0.001966</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508.76</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2</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194,874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381.57</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0.001958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510.72</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3</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298,513</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576.78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0.001932</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517.55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53,511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107.14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0.002002</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499.44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46,068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101.14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0.002195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455.51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6</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366,681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709.11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0.001934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517.10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7</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582,094</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1152.26</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0.001980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505.18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405,583</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851.15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0.002099</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476.51</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9</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779,375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1722.48</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0.002210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452.47</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65700">
                <a:tc>
                  <a:txBody>
                    <a:bodyPr/>
                    <a:lstStyle/>
                    <a:p>
                      <a:pPr indent="0" lvl="0" marL="0" marR="0" rtl="0" algn="l">
                        <a:spcBef>
                          <a:spcPts val="0"/>
                        </a:spcBef>
                        <a:spcAft>
                          <a:spcPts val="0"/>
                        </a:spcAft>
                        <a:buNone/>
                      </a:pPr>
                      <a:r>
                        <a:rPr lang="en-US" sz="1800"/>
                        <a:t>10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372,417</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821.20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0.002205</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1800"/>
                        <a:t>453.50</a:t>
                      </a:r>
                      <a:endParaRPr/>
                    </a:p>
                  </a:txBody>
                  <a:tcPr marT="45725" marB="45725" marR="91425" marL="914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8"/>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Kết quả - Attack A</a:t>
            </a:r>
            <a:endParaRPr/>
          </a:p>
        </p:txBody>
      </p:sp>
      <p:sp>
        <p:nvSpPr>
          <p:cNvPr id="194" name="Google Shape;194;p28"/>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220980" lvl="1" marL="384048" rtl="0" algn="l">
              <a:lnSpc>
                <a:spcPct val="90000"/>
              </a:lnSpc>
              <a:spcBef>
                <a:spcPts val="0"/>
              </a:spcBef>
              <a:spcAft>
                <a:spcPts val="0"/>
              </a:spcAft>
              <a:buSzPts val="2400"/>
              <a:buFont typeface="Calibri"/>
              <a:buChar char="-"/>
            </a:pPr>
            <a:r>
              <a:rPr lang="en-US" sz="2400">
                <a:latin typeface="Calibri"/>
                <a:ea typeface="Calibri"/>
                <a:cs typeface="Calibri"/>
                <a:sym typeface="Calibri"/>
              </a:rPr>
              <a:t>Số oracle queries trung bình≈ 327,846 queries / run</a:t>
            </a:r>
            <a:endParaRPr sz="2400"/>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Thời gian tấn công trung bình≈ 678.72 giây ≈ 11.31 phút</a:t>
            </a:r>
            <a:endParaRPr sz="2400">
              <a:latin typeface="Calibri"/>
              <a:ea typeface="Calibri"/>
              <a:cs typeface="Calibri"/>
              <a:sym typeface="Calibri"/>
            </a:endParaRPr>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Thời gian trung bình / query≈ 0.002048 giây ≈ 2.05 ms</a:t>
            </a:r>
            <a:endParaRPr sz="2400">
              <a:latin typeface="Calibri"/>
              <a:ea typeface="Calibri"/>
              <a:cs typeface="Calibri"/>
              <a:sym typeface="Calibri"/>
            </a:endParaRPr>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Throughput (QPS) trung bình≈ 489.82 queries / second</a:t>
            </a:r>
            <a:endParaRPr sz="2400"/>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Avg time / query:Rất ổn định: ~1.93–2.21 ms -&gt; chứng minh uniform timing path</a:t>
            </a:r>
            <a:endParaRPr sz="2400">
              <a:latin typeface="Calibri"/>
              <a:ea typeface="Calibri"/>
              <a:cs typeface="Calibri"/>
              <a:sym typeface="Calibri"/>
            </a:endParaRPr>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QPS: ~450–520 QPS</a:t>
            </a:r>
            <a:endParaRPr sz="2400"/>
          </a:p>
          <a:p>
            <a:pPr indent="-220980" lvl="1" marL="384048" rtl="0" algn="l">
              <a:lnSpc>
                <a:spcPct val="90000"/>
              </a:lnSpc>
              <a:spcBef>
                <a:spcPts val="600"/>
              </a:spcBef>
              <a:spcAft>
                <a:spcPts val="0"/>
              </a:spcAft>
              <a:buSzPts val="2400"/>
              <a:buFont typeface="Calibri"/>
              <a:buChar char="-"/>
            </a:pPr>
            <a:r>
              <a:rPr lang="en-US" sz="2400">
                <a:latin typeface="Calibri"/>
                <a:ea typeface="Calibri"/>
                <a:cs typeface="Calibri"/>
                <a:sym typeface="Calibri"/>
              </a:rPr>
              <a:t>Queries:</a:t>
            </a:r>
            <a:endParaRPr sz="2400">
              <a:latin typeface="Calibri"/>
              <a:ea typeface="Calibri"/>
              <a:cs typeface="Calibri"/>
              <a:sym typeface="Calibri"/>
            </a:endParaRPr>
          </a:p>
          <a:p>
            <a:pPr indent="-220980" lvl="2" marL="566928" rtl="0" algn="l">
              <a:lnSpc>
                <a:spcPct val="90000"/>
              </a:lnSpc>
              <a:spcBef>
                <a:spcPts val="600"/>
              </a:spcBef>
              <a:spcAft>
                <a:spcPts val="0"/>
              </a:spcAft>
              <a:buSzPts val="2000"/>
              <a:buFont typeface="Calibri"/>
              <a:buChar char="-"/>
            </a:pPr>
            <a:r>
              <a:rPr lang="en-US" sz="2000">
                <a:latin typeface="Calibri"/>
                <a:ea typeface="Calibri"/>
                <a:cs typeface="Calibri"/>
                <a:sym typeface="Calibri"/>
              </a:rPr>
              <a:t>Min: 46k</a:t>
            </a:r>
            <a:endParaRPr sz="2000">
              <a:latin typeface="Calibri"/>
              <a:ea typeface="Calibri"/>
              <a:cs typeface="Calibri"/>
              <a:sym typeface="Calibri"/>
            </a:endParaRPr>
          </a:p>
          <a:p>
            <a:pPr indent="-220980" lvl="2" marL="566928" rtl="0" algn="l">
              <a:lnSpc>
                <a:spcPct val="90000"/>
              </a:lnSpc>
              <a:spcBef>
                <a:spcPts val="600"/>
              </a:spcBef>
              <a:spcAft>
                <a:spcPts val="0"/>
              </a:spcAft>
              <a:buSzPts val="2000"/>
              <a:buFont typeface="Calibri"/>
              <a:buChar char="-"/>
            </a:pPr>
            <a:r>
              <a:rPr lang="en-US" sz="2000">
                <a:latin typeface="Calibri"/>
                <a:ea typeface="Calibri"/>
                <a:cs typeface="Calibri"/>
                <a:sym typeface="Calibri"/>
              </a:rPr>
              <a:t>Max: 779k -&gt; dao động lớn (phụ thuộc vào việc đoán s0 và độ hẹp khoảng M)</a:t>
            </a:r>
            <a:endParaRPr sz="20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9"/>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Mitigation - Attack A</a:t>
            </a:r>
            <a:endParaRPr/>
          </a:p>
        </p:txBody>
      </p:sp>
      <p:pic>
        <p:nvPicPr>
          <p:cNvPr id="200" name="Google Shape;200;p29"/>
          <p:cNvPicPr preferRelativeResize="0"/>
          <p:nvPr/>
        </p:nvPicPr>
        <p:blipFill rotWithShape="1">
          <a:blip r:embed="rId3">
            <a:alphaModFix/>
          </a:blip>
          <a:srcRect b="0" l="0" r="0" t="0"/>
          <a:stretch/>
        </p:blipFill>
        <p:spPr>
          <a:xfrm>
            <a:off x="5830414" y="2264475"/>
            <a:ext cx="5915851" cy="2419688"/>
          </a:xfrm>
          <a:prstGeom prst="rect">
            <a:avLst/>
          </a:prstGeom>
          <a:noFill/>
          <a:ln>
            <a:noFill/>
          </a:ln>
        </p:spPr>
      </p:pic>
      <p:pic>
        <p:nvPicPr>
          <p:cNvPr id="201" name="Google Shape;201;p29"/>
          <p:cNvPicPr preferRelativeResize="0"/>
          <p:nvPr/>
        </p:nvPicPr>
        <p:blipFill>
          <a:blip r:embed="rId4">
            <a:alphaModFix/>
          </a:blip>
          <a:stretch>
            <a:fillRect/>
          </a:stretch>
        </p:blipFill>
        <p:spPr>
          <a:xfrm>
            <a:off x="152400" y="1866684"/>
            <a:ext cx="5525614" cy="396786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0"/>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B – Timing Attack on RSA</a:t>
            </a:r>
            <a:endParaRPr/>
          </a:p>
        </p:txBody>
      </p:sp>
      <p:sp>
        <p:nvSpPr>
          <p:cNvPr id="207" name="Google Shape;207;p30"/>
          <p:cNvSpPr txBox="1"/>
          <p:nvPr>
            <p:ph idx="1" type="body"/>
          </p:nvPr>
        </p:nvSpPr>
        <p:spPr>
          <a:xfrm>
            <a:off x="1097280" y="1845734"/>
            <a:ext cx="10058400" cy="2524200"/>
          </a:xfrm>
          <a:prstGeom prst="rect">
            <a:avLst/>
          </a:prstGeom>
          <a:noFill/>
          <a:ln>
            <a:noFill/>
          </a:ln>
        </p:spPr>
        <p:txBody>
          <a:bodyPr anchorCtr="0" anchor="ctr" bIns="45700" lIns="91425" spcFirstLastPara="1" rIns="91425" wrap="square" tIns="45700">
            <a:spAutoFit/>
          </a:bodyPr>
          <a:lstStyle/>
          <a:p>
            <a:pPr indent="-177800" lvl="0" marL="0" marR="0" rtl="0" algn="l">
              <a:lnSpc>
                <a:spcPct val="100000"/>
              </a:lnSpc>
              <a:spcBef>
                <a:spcPts val="0"/>
              </a:spcBef>
              <a:spcAft>
                <a:spcPts val="0"/>
              </a:spcAft>
              <a:buClr>
                <a:schemeClr val="dk1"/>
              </a:buClr>
              <a:buSzPts val="2800"/>
              <a:buFont typeface="Calibri"/>
              <a:buChar char="•"/>
            </a:pPr>
            <a:r>
              <a:rPr b="0" i="0" lang="en-US" sz="2800" u="none" cap="none" strike="noStrike">
                <a:solidFill>
                  <a:schemeClr val="dk1"/>
                </a:solidFill>
                <a:latin typeface="Calibri"/>
                <a:ea typeface="Calibri"/>
                <a:cs typeface="Calibri"/>
                <a:sym typeface="Calibri"/>
              </a:rPr>
              <a:t>Loại tấn công: </a:t>
            </a:r>
            <a:r>
              <a:rPr b="1" i="0" lang="en-US" sz="2800" u="none" cap="none" strike="noStrike">
                <a:solidFill>
                  <a:schemeClr val="dk1"/>
                </a:solidFill>
                <a:latin typeface="Calibri"/>
                <a:ea typeface="Calibri"/>
                <a:cs typeface="Calibri"/>
                <a:sym typeface="Calibri"/>
              </a:rPr>
              <a:t>Side-channel attack</a:t>
            </a:r>
            <a:endParaRPr b="0" i="0" sz="2800" u="none" cap="none" strike="noStrike">
              <a:solidFill>
                <a:schemeClr val="dk1"/>
              </a:solidFill>
              <a:latin typeface="Calibri"/>
              <a:ea typeface="Calibri"/>
              <a:cs typeface="Calibri"/>
              <a:sym typeface="Calibri"/>
            </a:endParaRPr>
          </a:p>
          <a:p>
            <a:pPr indent="-177800" lvl="0" marL="0" marR="0" rtl="0" algn="l">
              <a:lnSpc>
                <a:spcPct val="100000"/>
              </a:lnSpc>
              <a:spcBef>
                <a:spcPts val="0"/>
              </a:spcBef>
              <a:spcAft>
                <a:spcPts val="0"/>
              </a:spcAft>
              <a:buClr>
                <a:schemeClr val="dk1"/>
              </a:buClr>
              <a:buSzPts val="2800"/>
              <a:buFont typeface="Calibri"/>
              <a:buChar char="•"/>
            </a:pPr>
            <a:r>
              <a:rPr b="0" i="0" lang="en-US" sz="2800" u="none" cap="none" strike="noStrike">
                <a:solidFill>
                  <a:schemeClr val="dk1"/>
                </a:solidFill>
                <a:latin typeface="Calibri"/>
                <a:ea typeface="Calibri"/>
                <a:cs typeface="Calibri"/>
                <a:sym typeface="Calibri"/>
              </a:rPr>
              <a:t>Không phá vỡ giả định toán học của RSA</a:t>
            </a:r>
            <a:endParaRPr/>
          </a:p>
          <a:p>
            <a:pPr indent="-177800" lvl="0" marL="0" marR="0" rtl="0" algn="l">
              <a:lnSpc>
                <a:spcPct val="100000"/>
              </a:lnSpc>
              <a:spcBef>
                <a:spcPts val="0"/>
              </a:spcBef>
              <a:spcAft>
                <a:spcPts val="0"/>
              </a:spcAft>
              <a:buClr>
                <a:schemeClr val="dk1"/>
              </a:buClr>
              <a:buSzPts val="2800"/>
              <a:buFont typeface="Calibri"/>
              <a:buChar char="•"/>
            </a:pPr>
            <a:r>
              <a:rPr b="0" i="0" lang="en-US" sz="2800" u="none" cap="none" strike="noStrike">
                <a:solidFill>
                  <a:schemeClr val="dk1"/>
                </a:solidFill>
                <a:latin typeface="Calibri"/>
                <a:ea typeface="Calibri"/>
                <a:cs typeface="Calibri"/>
                <a:sym typeface="Calibri"/>
              </a:rPr>
              <a:t>Khai thác </a:t>
            </a:r>
            <a:r>
              <a:rPr b="1" i="0" lang="en-US" sz="2800" u="none" cap="none" strike="noStrike">
                <a:solidFill>
                  <a:schemeClr val="dk1"/>
                </a:solidFill>
                <a:latin typeface="Calibri"/>
                <a:ea typeface="Calibri"/>
                <a:cs typeface="Calibri"/>
                <a:sym typeface="Calibri"/>
              </a:rPr>
              <a:t>rò rỉ thời gian thực thi</a:t>
            </a:r>
            <a:r>
              <a:rPr b="0" i="0" lang="en-US" sz="2800" u="none" cap="none" strike="noStrike">
                <a:solidFill>
                  <a:schemeClr val="dk1"/>
                </a:solidFill>
                <a:latin typeface="Calibri"/>
                <a:ea typeface="Calibri"/>
                <a:cs typeface="Calibri"/>
                <a:sym typeface="Calibri"/>
              </a:rPr>
              <a:t> trong quá trình:</a:t>
            </a:r>
            <a:endParaRPr/>
          </a:p>
          <a:p>
            <a:pPr indent="-177800" lvl="0" marL="0" marR="0" rtl="0" algn="l">
              <a:lnSpc>
                <a:spcPct val="100000"/>
              </a:lnSpc>
              <a:spcBef>
                <a:spcPts val="0"/>
              </a:spcBef>
              <a:spcAft>
                <a:spcPts val="0"/>
              </a:spcAft>
              <a:buClr>
                <a:schemeClr val="dk1"/>
              </a:buClr>
              <a:buSzPts val="2800"/>
              <a:buFont typeface="Calibri"/>
              <a:buChar char="•"/>
            </a:pPr>
            <a:r>
              <a:rPr b="0" i="0" lang="en-US" sz="2800" u="none" cap="none" strike="noStrike">
                <a:solidFill>
                  <a:schemeClr val="dk1"/>
                </a:solidFill>
                <a:latin typeface="Calibri"/>
                <a:ea typeface="Calibri"/>
                <a:cs typeface="Calibri"/>
                <a:sym typeface="Calibri"/>
              </a:rPr>
              <a:t>RSA signing</a:t>
            </a:r>
            <a:endParaRPr/>
          </a:p>
          <a:p>
            <a:pPr indent="-177800" lvl="0" marL="0" marR="0" rtl="0" algn="l">
              <a:lnSpc>
                <a:spcPct val="100000"/>
              </a:lnSpc>
              <a:spcBef>
                <a:spcPts val="0"/>
              </a:spcBef>
              <a:spcAft>
                <a:spcPts val="0"/>
              </a:spcAft>
              <a:buClr>
                <a:schemeClr val="dk1"/>
              </a:buClr>
              <a:buSzPts val="2800"/>
              <a:buFont typeface="Calibri"/>
              <a:buChar char="•"/>
            </a:pPr>
            <a:r>
              <a:rPr b="0" i="0" lang="en-US" sz="2800" u="none" cap="none" strike="noStrike">
                <a:solidFill>
                  <a:schemeClr val="dk1"/>
                </a:solidFill>
                <a:latin typeface="Calibri"/>
                <a:ea typeface="Calibri"/>
                <a:cs typeface="Calibri"/>
                <a:sym typeface="Calibri"/>
              </a:rPr>
              <a:t>RSA decryption</a:t>
            </a:r>
            <a:endParaRPr/>
          </a:p>
          <a:p>
            <a:pPr indent="0" lvl="0" marL="0" marR="0" rtl="0" algn="l">
              <a:lnSpc>
                <a:spcPct val="100000"/>
              </a:lnSpc>
              <a:spcBef>
                <a:spcPts val="0"/>
              </a:spcBef>
              <a:spcAft>
                <a:spcPts val="0"/>
              </a:spcAft>
              <a:buClr>
                <a:srgbClr val="3F3F3F"/>
              </a:buClr>
              <a:buSzPts val="1800"/>
              <a:buFont typeface="Calibri"/>
              <a:buNone/>
            </a:pPr>
            <a:r>
              <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1"/>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B – Timing Attack on RSA</a:t>
            </a:r>
            <a:endParaRPr/>
          </a:p>
        </p:txBody>
      </p:sp>
      <p:sp>
        <p:nvSpPr>
          <p:cNvPr id="213" name="Google Shape;213;p31"/>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Char char=" "/>
            </a:pPr>
            <a:r>
              <a:rPr lang="en-US" sz="2800">
                <a:latin typeface="Calibri"/>
                <a:ea typeface="Calibri"/>
                <a:cs typeface="Calibri"/>
                <a:sym typeface="Calibri"/>
              </a:rPr>
              <a:t>- Biết public key (𝑁,𝑒)</a:t>
            </a:r>
            <a:endParaRPr sz="2800">
              <a:latin typeface="Calibri"/>
              <a:ea typeface="Calibri"/>
              <a:cs typeface="Calibri"/>
              <a:sym typeface="Calibri"/>
            </a:endParaRPr>
          </a:p>
          <a:p>
            <a:pPr indent="-177800" lvl="0" marL="91440" rtl="0" algn="l">
              <a:lnSpc>
                <a:spcPct val="90000"/>
              </a:lnSpc>
              <a:spcBef>
                <a:spcPts val="1400"/>
              </a:spcBef>
              <a:spcAft>
                <a:spcPts val="0"/>
              </a:spcAft>
              <a:buSzPts val="2800"/>
              <a:buChar char=" "/>
            </a:pPr>
            <a:r>
              <a:rPr lang="en-US" sz="2800">
                <a:latin typeface="Calibri"/>
                <a:ea typeface="Calibri"/>
                <a:cs typeface="Calibri"/>
                <a:sym typeface="Calibri"/>
              </a:rPr>
              <a:t>- Có quyền gửi nhiều message / ciphertext tuỳ ý</a:t>
            </a:r>
            <a:endParaRPr sz="2800">
              <a:latin typeface="Calibri"/>
              <a:ea typeface="Calibri"/>
              <a:cs typeface="Calibri"/>
              <a:sym typeface="Calibri"/>
            </a:endParaRPr>
          </a:p>
          <a:p>
            <a:pPr indent="-177800" lvl="0" marL="91440" rtl="0" algn="l">
              <a:lnSpc>
                <a:spcPct val="90000"/>
              </a:lnSpc>
              <a:spcBef>
                <a:spcPts val="1400"/>
              </a:spcBef>
              <a:spcAft>
                <a:spcPts val="0"/>
              </a:spcAft>
              <a:buSzPts val="2800"/>
              <a:buChar char=" "/>
            </a:pPr>
            <a:r>
              <a:rPr lang="en-US" sz="2800">
                <a:latin typeface="Calibri"/>
                <a:ea typeface="Calibri"/>
                <a:cs typeface="Calibri"/>
                <a:sym typeface="Calibri"/>
              </a:rPr>
              <a:t>- Đo được thời gian xử lý 𝑇</a:t>
            </a:r>
            <a:r>
              <a:rPr lang="en-US" sz="1800">
                <a:latin typeface="Calibri"/>
                <a:ea typeface="Calibri"/>
                <a:cs typeface="Calibri"/>
                <a:sym typeface="Calibri"/>
              </a:rPr>
              <a:t>𝑖</a:t>
            </a:r>
            <a:r>
              <a:rPr lang="en-US" sz="2800">
                <a:latin typeface="Calibri"/>
                <a:ea typeface="Calibri"/>
                <a:cs typeface="Calibri"/>
                <a:sym typeface="Calibri"/>
              </a:rPr>
              <a:t> của mỗi lần ký / giải mã</a:t>
            </a:r>
            <a:endParaRPr sz="2800">
              <a:latin typeface="Calibri"/>
              <a:ea typeface="Calibri"/>
              <a:cs typeface="Calibri"/>
              <a:sym typeface="Calibri"/>
            </a:endParaRPr>
          </a:p>
          <a:p>
            <a:pPr indent="-177800" lvl="0" marL="91440" rtl="0" algn="l">
              <a:lnSpc>
                <a:spcPct val="90000"/>
              </a:lnSpc>
              <a:spcBef>
                <a:spcPts val="1400"/>
              </a:spcBef>
              <a:spcAft>
                <a:spcPts val="0"/>
              </a:spcAft>
              <a:buSzPts val="2800"/>
              <a:buChar char=" "/>
            </a:pPr>
            <a:r>
              <a:rPr lang="en-US" sz="2800">
                <a:latin typeface="Calibri"/>
                <a:ea typeface="Calibri"/>
                <a:cs typeface="Calibri"/>
                <a:sym typeface="Calibri"/>
              </a:rPr>
              <a:t>- Mục tiêu:</a:t>
            </a:r>
            <a:endParaRPr/>
          </a:p>
          <a:p>
            <a:pPr indent="-182880" lvl="1" marL="384048" rtl="0" algn="l">
              <a:lnSpc>
                <a:spcPct val="90000"/>
              </a:lnSpc>
              <a:spcBef>
                <a:spcPts val="400"/>
              </a:spcBef>
              <a:spcAft>
                <a:spcPts val="0"/>
              </a:spcAft>
              <a:buSzPts val="2600"/>
              <a:buChar char="◦"/>
            </a:pPr>
            <a:r>
              <a:rPr lang="en-US" sz="2600">
                <a:latin typeface="Calibri"/>
                <a:ea typeface="Calibri"/>
                <a:cs typeface="Calibri"/>
                <a:sym typeface="Calibri"/>
              </a:rPr>
              <a:t>Khôi phục private exponent 𝑑 từng bit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2"/>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Điều kiện</a:t>
            </a:r>
            <a:endParaRPr/>
          </a:p>
        </p:txBody>
      </p:sp>
      <p:sp>
        <p:nvSpPr>
          <p:cNvPr id="219" name="Google Shape;219;p32"/>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Biết public key (𝑁,𝑒)</a:t>
            </a:r>
            <a:endParaRPr sz="2800">
              <a:solidFill>
                <a:srgbClr val="404040"/>
              </a:solidFill>
            </a:endParaRPr>
          </a:p>
          <a:p>
            <a:pPr indent="0" lvl="0" marL="0" rtl="0" algn="l">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Có quyền gửi nhiều message / ciphertext tuỳ ý</a:t>
            </a:r>
            <a:endParaRPr sz="2800">
              <a:solidFill>
                <a:srgbClr val="404040"/>
              </a:solidFill>
            </a:endParaRPr>
          </a:p>
          <a:p>
            <a:pPr indent="0" lvl="0" marL="0" rtl="0" algn="l">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Đo được thời gian xử lý 𝑇</a:t>
            </a:r>
            <a:r>
              <a:rPr lang="en-US" sz="1800">
                <a:solidFill>
                  <a:srgbClr val="404040"/>
                </a:solidFill>
              </a:rPr>
              <a:t>𝑖</a:t>
            </a:r>
            <a:r>
              <a:rPr lang="en-US" sz="2800">
                <a:solidFill>
                  <a:srgbClr val="404040"/>
                </a:solidFill>
              </a:rPr>
              <a:t> của mỗi lần ký / giải mã</a:t>
            </a:r>
            <a:endParaRPr sz="2800">
              <a:solidFill>
                <a:srgbClr val="404040"/>
              </a:solidFill>
            </a:endParaRPr>
          </a:p>
          <a:p>
            <a:pPr indent="0" lvl="0" marL="0" rtl="0" algn="l">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Mục tiêu:</a:t>
            </a:r>
            <a:endParaRPr sz="2800">
              <a:solidFill>
                <a:srgbClr val="404040"/>
              </a:solidFill>
            </a:endParaRPr>
          </a:p>
          <a:p>
            <a:pPr indent="0" lvl="0" marL="0" rtl="0" algn="l">
              <a:spcBef>
                <a:spcPts val="200"/>
              </a:spcBef>
              <a:spcAft>
                <a:spcPts val="0"/>
              </a:spcAft>
              <a:buClr>
                <a:schemeClr val="dk1"/>
              </a:buClr>
              <a:buSzPts val="1100"/>
              <a:buFont typeface="Arial"/>
              <a:buNone/>
            </a:pPr>
            <a:r>
              <a:rPr lang="en-US" sz="2600">
                <a:solidFill>
                  <a:srgbClr val="E48312"/>
                </a:solidFill>
              </a:rPr>
              <a:t>◦</a:t>
            </a:r>
            <a:r>
              <a:rPr lang="en-US" sz="2600">
                <a:solidFill>
                  <a:srgbClr val="404040"/>
                </a:solidFill>
              </a:rPr>
              <a:t>Khôi phục private exponent 𝑑 từng bit</a:t>
            </a:r>
            <a:endParaRPr sz="2600">
              <a:solidFill>
                <a:srgbClr val="404040"/>
              </a:solidFill>
            </a:endParaRPr>
          </a:p>
          <a:p>
            <a:pPr indent="0" lvl="0" marL="0" rtl="0" algn="l">
              <a:spcBef>
                <a:spcPts val="1200"/>
              </a:spcBef>
              <a:spcAft>
                <a:spcPts val="20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3"/>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Decryption/Signing</a:t>
            </a:r>
            <a:endParaRPr/>
          </a:p>
        </p:txBody>
      </p:sp>
      <p:pic>
        <p:nvPicPr>
          <p:cNvPr id="225" name="Google Shape;225;p33"/>
          <p:cNvPicPr preferRelativeResize="0"/>
          <p:nvPr/>
        </p:nvPicPr>
        <p:blipFill>
          <a:blip r:embed="rId3">
            <a:alphaModFix/>
          </a:blip>
          <a:stretch>
            <a:fillRect/>
          </a:stretch>
        </p:blipFill>
        <p:spPr>
          <a:xfrm>
            <a:off x="152400" y="1889803"/>
            <a:ext cx="11887201" cy="3768683"/>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4"/>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Square and Multiply</a:t>
            </a:r>
            <a:endParaRPr/>
          </a:p>
        </p:txBody>
      </p:sp>
      <p:pic>
        <p:nvPicPr>
          <p:cNvPr id="231" name="Google Shape;231;p34"/>
          <p:cNvPicPr preferRelativeResize="0"/>
          <p:nvPr/>
        </p:nvPicPr>
        <p:blipFill>
          <a:blip r:embed="rId3">
            <a:alphaModFix/>
          </a:blip>
          <a:stretch>
            <a:fillRect/>
          </a:stretch>
        </p:blipFill>
        <p:spPr>
          <a:xfrm>
            <a:off x="152400" y="1889803"/>
            <a:ext cx="11887198" cy="375016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5"/>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Thu thập dữ liệu và thống kê</a:t>
            </a:r>
            <a:endParaRPr/>
          </a:p>
        </p:txBody>
      </p:sp>
      <p:pic>
        <p:nvPicPr>
          <p:cNvPr id="237" name="Google Shape;237;p35"/>
          <p:cNvPicPr preferRelativeResize="0"/>
          <p:nvPr/>
        </p:nvPicPr>
        <p:blipFill>
          <a:blip r:embed="rId3">
            <a:alphaModFix/>
          </a:blip>
          <a:stretch>
            <a:fillRect/>
          </a:stretch>
        </p:blipFill>
        <p:spPr>
          <a:xfrm>
            <a:off x="152400" y="1889803"/>
            <a:ext cx="11887199" cy="433847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6"/>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Kết quả attack B</a:t>
            </a:r>
            <a:endParaRPr/>
          </a:p>
        </p:txBody>
      </p:sp>
      <p:pic>
        <p:nvPicPr>
          <p:cNvPr id="243" name="Google Shape;243;p36"/>
          <p:cNvPicPr preferRelativeResize="0"/>
          <p:nvPr/>
        </p:nvPicPr>
        <p:blipFill>
          <a:blip r:embed="rId3">
            <a:alphaModFix/>
          </a:blip>
          <a:stretch>
            <a:fillRect/>
          </a:stretch>
        </p:blipFill>
        <p:spPr>
          <a:xfrm>
            <a:off x="174125" y="1895700"/>
            <a:ext cx="11471402" cy="42406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7"/>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Mitigation - Attack B</a:t>
            </a:r>
            <a:endParaRPr/>
          </a:p>
        </p:txBody>
      </p:sp>
      <p:sp>
        <p:nvSpPr>
          <p:cNvPr id="249" name="Google Shape;249;p37"/>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rPr lang="en-US" sz="2400"/>
              <a:t>Giải pháp hạn chế rủi ro: </a:t>
            </a:r>
            <a:endParaRPr sz="2400"/>
          </a:p>
          <a:p>
            <a:pPr indent="-425450" lvl="0" marL="457200" rtl="0" algn="l">
              <a:spcBef>
                <a:spcPts val="1200"/>
              </a:spcBef>
              <a:spcAft>
                <a:spcPts val="0"/>
              </a:spcAft>
              <a:buSzPts val="3100"/>
              <a:buChar char="-"/>
            </a:pPr>
            <a:r>
              <a:rPr lang="en-US" sz="2400">
                <a:solidFill>
                  <a:schemeClr val="dk1"/>
                </a:solidFill>
              </a:rPr>
              <a:t>Constant-time implementation: bảo đảm thời gian chạy không phụ thuộc vào dữ liệu bí mật (bit của </a:t>
            </a:r>
            <a:r>
              <a:rPr lang="en-US" sz="2400">
                <a:solidFill>
                  <a:srgbClr val="188038"/>
                </a:solidFill>
              </a:rPr>
              <a:t>d</a:t>
            </a:r>
            <a:r>
              <a:rPr lang="en-US" sz="2400">
                <a:solidFill>
                  <a:schemeClr val="dk1"/>
                </a:solidFill>
              </a:rPr>
              <a:t>, giá trị trung gian).</a:t>
            </a:r>
            <a:endParaRPr sz="2400">
              <a:solidFill>
                <a:schemeClr val="dk1"/>
              </a:solidFill>
            </a:endParaRPr>
          </a:p>
          <a:p>
            <a:pPr indent="-463550" lvl="0" marL="457200" rtl="0" algn="l">
              <a:spcBef>
                <a:spcPts val="0"/>
              </a:spcBef>
              <a:spcAft>
                <a:spcPts val="0"/>
              </a:spcAft>
              <a:buClr>
                <a:schemeClr val="dk1"/>
              </a:buClr>
              <a:buSzPts val="3700"/>
              <a:buChar char="-"/>
            </a:pPr>
            <a:r>
              <a:rPr lang="en-US" sz="2400">
                <a:solidFill>
                  <a:schemeClr val="dk1"/>
                </a:solidFill>
              </a:rPr>
              <a:t>Blinding (message/exponent blinding)</a:t>
            </a:r>
            <a:r>
              <a:rPr b="1" lang="en-US" sz="2400">
                <a:solidFill>
                  <a:schemeClr val="dk1"/>
                </a:solidFill>
              </a:rPr>
              <a:t>:</a:t>
            </a:r>
            <a:r>
              <a:rPr lang="en-US" sz="2400">
                <a:solidFill>
                  <a:schemeClr val="dk1"/>
                </a:solidFill>
              </a:rPr>
              <a:t> ngẫu nhiên hoá đầu vào hoặc số mũ khi tính toán private-key ops (RSA/ECC) để che tương quan giữa thời gian và secret; </a:t>
            </a:r>
            <a:endParaRPr sz="3700">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38"/>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Trả lời câu hỏi RQ2</a:t>
            </a:r>
            <a:endParaRPr/>
          </a:p>
        </p:txBody>
      </p:sp>
      <p:sp>
        <p:nvSpPr>
          <p:cNvPr id="255" name="Google Shape;255;p38"/>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30479" lvl="1" marL="384048" rtl="0" algn="l">
              <a:lnSpc>
                <a:spcPct val="90000"/>
              </a:lnSpc>
              <a:spcBef>
                <a:spcPts val="0"/>
              </a:spcBef>
              <a:spcAft>
                <a:spcPts val="0"/>
              </a:spcAft>
              <a:buSzPts val="2400"/>
              <a:buFont typeface="Calibri"/>
              <a:buNone/>
            </a:pPr>
            <a:r>
              <a:rPr i="1" lang="en-US" sz="2400"/>
              <a:t>RQ2: Các tấn công Bleichenbacher (padding oracle) và timing attacks còn khả thi trên các stack hiện đại (OpenSSL / LibreSSL / BoringSSL) khi gặp cấu hình cũ hoặc lỗi không?</a:t>
            </a:r>
            <a:endParaRPr i="1" sz="2400"/>
          </a:p>
          <a:p>
            <a:pPr indent="-30479" lvl="1" marL="384048" rtl="0" algn="l">
              <a:lnSpc>
                <a:spcPct val="90000"/>
              </a:lnSpc>
              <a:spcBef>
                <a:spcPts val="0"/>
              </a:spcBef>
              <a:spcAft>
                <a:spcPts val="0"/>
              </a:spcAft>
              <a:buSzPts val="2400"/>
              <a:buFont typeface="Calibri"/>
              <a:buNone/>
            </a:pPr>
            <a:r>
              <a:rPr lang="en-US" sz="2400"/>
              <a:t>-&gt; Có, nhưng chỉ trong trường hợp triển khai sai:</a:t>
            </a:r>
            <a:endParaRPr sz="2400"/>
          </a:p>
          <a:p>
            <a:pPr indent="-30479" lvl="1" marL="384048" rtl="0" algn="l">
              <a:lnSpc>
                <a:spcPct val="90000"/>
              </a:lnSpc>
              <a:spcBef>
                <a:spcPts val="0"/>
              </a:spcBef>
              <a:spcAft>
                <a:spcPts val="0"/>
              </a:spcAft>
              <a:buSzPts val="2400"/>
              <a:buFont typeface="Calibri"/>
              <a:buNone/>
            </a:pPr>
            <a:r>
              <a:rPr lang="en-US" sz="2400"/>
              <a:t>- Hệ thống sử dụng RSA PKCS#1 v1.5 cho RSA Encryption</a:t>
            </a:r>
            <a:endParaRPr sz="2400"/>
          </a:p>
          <a:p>
            <a:pPr indent="-30479" lvl="1" marL="384048" rtl="0" algn="l">
              <a:lnSpc>
                <a:spcPct val="90000"/>
              </a:lnSpc>
              <a:spcBef>
                <a:spcPts val="0"/>
              </a:spcBef>
              <a:spcAft>
                <a:spcPts val="0"/>
              </a:spcAft>
              <a:buSzPts val="2400"/>
              <a:buFont typeface="Calibri"/>
              <a:buNone/>
            </a:pPr>
            <a:r>
              <a:rPr lang="en-US" sz="2400"/>
              <a:t>- Vẫn còn bật RSA key exchange (TLS ≤ 1.3)</a:t>
            </a:r>
            <a:endParaRPr sz="2400"/>
          </a:p>
          <a:p>
            <a:pPr indent="-30479" lvl="1" marL="384048" rtl="0" algn="l">
              <a:lnSpc>
                <a:spcPct val="90000"/>
              </a:lnSpc>
              <a:spcBef>
                <a:spcPts val="0"/>
              </a:spcBef>
              <a:spcAft>
                <a:spcPts val="0"/>
              </a:spcAft>
              <a:buSzPts val="2400"/>
              <a:buFont typeface="Calibri"/>
              <a:buNone/>
            </a:pPr>
            <a:r>
              <a:rPr lang="en-US" sz="2400"/>
              <a:t>- Có tồn tại padding/timing oracle</a:t>
            </a:r>
            <a:endParaRPr sz="24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39"/>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Attack C – Wiener’s Attack / low d</a:t>
            </a:r>
            <a:endParaRPr/>
          </a:p>
        </p:txBody>
      </p:sp>
      <p:sp>
        <p:nvSpPr>
          <p:cNvPr id="261" name="Google Shape;261;p39"/>
          <p:cNvSpPr txBox="1"/>
          <p:nvPr>
            <p:ph idx="1" type="body"/>
          </p:nvPr>
        </p:nvSpPr>
        <p:spPr>
          <a:xfrm>
            <a:off x="1097280" y="1845734"/>
            <a:ext cx="10058400" cy="4023300"/>
          </a:xfrm>
          <a:prstGeom prst="rect">
            <a:avLst/>
          </a:prstGeom>
          <a:noFill/>
          <a:ln>
            <a:noFill/>
          </a:ln>
        </p:spPr>
        <p:txBody>
          <a:bodyPr anchorCtr="0" anchor="t" bIns="45700" lIns="0" spcFirstLastPara="1" rIns="0" wrap="square" tIns="45700">
            <a:normAutofit/>
          </a:bodyPr>
          <a:lstStyle/>
          <a:p>
            <a:pPr indent="-177800" lvl="0" marL="91440" rtl="0" algn="l">
              <a:lnSpc>
                <a:spcPct val="90000"/>
              </a:lnSpc>
              <a:spcBef>
                <a:spcPts val="0"/>
              </a:spcBef>
              <a:spcAft>
                <a:spcPts val="0"/>
              </a:spcAft>
              <a:buSzPts val="2800"/>
              <a:buChar char=" "/>
            </a:pPr>
            <a:r>
              <a:rPr lang="en-US" sz="2800"/>
              <a:t>- Khai thác cấu hình RSA </a:t>
            </a:r>
            <a:r>
              <a:rPr b="1" lang="en-US" sz="2800"/>
              <a:t>không an toàn </a:t>
            </a:r>
            <a:r>
              <a:rPr lang="en-US" sz="2800"/>
              <a:t>khi </a:t>
            </a:r>
            <a:r>
              <a:rPr b="1" lang="en-US" sz="2800"/>
              <a:t>private exponent 𝑑 quá nhỏ</a:t>
            </a:r>
            <a:r>
              <a:rPr lang="en-US" sz="2800"/>
              <a:t>, cho phép:</a:t>
            </a:r>
            <a:endParaRPr/>
          </a:p>
          <a:p>
            <a:pPr indent="-182880" lvl="1" marL="384048" rtl="0" algn="l">
              <a:lnSpc>
                <a:spcPct val="90000"/>
              </a:lnSpc>
              <a:spcBef>
                <a:spcPts val="400"/>
              </a:spcBef>
              <a:spcAft>
                <a:spcPts val="0"/>
              </a:spcAft>
              <a:buSzPts val="2800"/>
              <a:buChar char="◦"/>
            </a:pPr>
            <a:r>
              <a:rPr lang="en-US" sz="2800"/>
              <a:t>Khôi phục private key</a:t>
            </a:r>
            <a:endParaRPr/>
          </a:p>
          <a:p>
            <a:pPr indent="-182880" lvl="1" marL="384048" rtl="0" algn="l">
              <a:lnSpc>
                <a:spcPct val="90000"/>
              </a:lnSpc>
              <a:spcBef>
                <a:spcPts val="600"/>
              </a:spcBef>
              <a:spcAft>
                <a:spcPts val="0"/>
              </a:spcAft>
              <a:buSzPts val="2800"/>
              <a:buChar char="◦"/>
            </a:pPr>
            <a:r>
              <a:rPr lang="en-US" sz="2800"/>
              <a:t>Chỉ cần khóa công khai (N,e)</a:t>
            </a:r>
            <a:endParaRPr/>
          </a:p>
          <a:p>
            <a:pPr indent="0" lvl="1" marL="201168" rtl="0" algn="l">
              <a:lnSpc>
                <a:spcPct val="90000"/>
              </a:lnSpc>
              <a:spcBef>
                <a:spcPts val="600"/>
              </a:spcBef>
              <a:spcAft>
                <a:spcPts val="0"/>
              </a:spcAft>
              <a:buSzPts val="2800"/>
              <a:buNone/>
            </a:pPr>
            <a:r>
              <a:rPr lang="en-US" sz="2800"/>
              <a:t>=&gt; Dẫn tới forgery chữ kí số và Broken Access Control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0"/>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Điều kiện</a:t>
            </a:r>
            <a:endParaRPr/>
          </a:p>
        </p:txBody>
      </p:sp>
      <p:sp>
        <p:nvSpPr>
          <p:cNvPr id="267" name="Google Shape;267;p40"/>
          <p:cNvSpPr txBox="1"/>
          <p:nvPr>
            <p:ph idx="1" type="body"/>
          </p:nvPr>
        </p:nvSpPr>
        <p:spPr>
          <a:xfrm>
            <a:off x="1097275" y="1969343"/>
            <a:ext cx="12192000" cy="3783900"/>
          </a:xfrm>
          <a:prstGeom prst="rect">
            <a:avLst/>
          </a:prstGeom>
          <a:blipFill rotWithShape="1">
            <a:blip r:embed="rId3">
              <a:alphaModFix/>
            </a:blip>
            <a:stretch>
              <a:fillRect b="0" l="-1249" r="0" t="-3379"/>
            </a:stretch>
          </a:blipFill>
          <a:ln>
            <a:noFill/>
          </a:ln>
        </p:spPr>
        <p:txBody>
          <a:bodyPr anchorCtr="0" anchor="t" bIns="45700" lIns="0" spcFirstLastPara="1" rIns="0" wrap="square" tIns="45700">
            <a:normAutofit/>
          </a:bodyPr>
          <a:lstStyle/>
          <a:p>
            <a:pPr indent="-127000" lvl="0" marL="91440" rtl="0" algn="l">
              <a:lnSpc>
                <a:spcPct val="90000"/>
              </a:lnSpc>
              <a:spcBef>
                <a:spcPts val="0"/>
              </a:spcBef>
              <a:spcAft>
                <a:spcPts val="0"/>
              </a:spcAft>
              <a:buSzPts val="2000"/>
              <a:buChar char=" "/>
            </a:pPr>
            <a:r>
              <a:rPr lang="en-US"/>
              <a:t>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1"/>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Ý tưởng</a:t>
            </a:r>
            <a:endParaRPr/>
          </a:p>
        </p:txBody>
      </p:sp>
      <p:sp>
        <p:nvSpPr>
          <p:cNvPr id="273" name="Google Shape;273;p41"/>
          <p:cNvSpPr txBox="1"/>
          <p:nvPr>
            <p:ph idx="1" type="body"/>
          </p:nvPr>
        </p:nvSpPr>
        <p:spPr>
          <a:xfrm>
            <a:off x="1097275" y="1868300"/>
            <a:ext cx="7875000" cy="4597800"/>
          </a:xfrm>
          <a:prstGeom prst="rect">
            <a:avLst/>
          </a:prstGeom>
          <a:blipFill rotWithShape="1">
            <a:blip r:embed="rId3">
              <a:alphaModFix/>
            </a:blip>
            <a:stretch>
              <a:fillRect b="0" l="-589" r="0" t="-1949"/>
            </a:stretch>
          </a:blipFill>
          <a:ln>
            <a:noFill/>
          </a:ln>
        </p:spPr>
        <p:txBody>
          <a:bodyPr anchorCtr="0" anchor="t" bIns="45700" lIns="0" spcFirstLastPara="1" rIns="0" wrap="square" tIns="45700">
            <a:normAutofit/>
          </a:bodyPr>
          <a:lstStyle/>
          <a:p>
            <a:pPr indent="-127000" lvl="0" marL="91440" rtl="0" algn="l">
              <a:lnSpc>
                <a:spcPct val="90000"/>
              </a:lnSpc>
              <a:spcBef>
                <a:spcPts val="0"/>
              </a:spcBef>
              <a:spcAft>
                <a:spcPts val="0"/>
              </a:spcAft>
              <a:buSzPts val="2000"/>
              <a:buChar char=" "/>
            </a:pPr>
            <a:r>
              <a:rPr lang="en-US"/>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2"/>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Ý tưởng</a:t>
            </a:r>
            <a:endParaRPr/>
          </a:p>
        </p:txBody>
      </p:sp>
      <p:sp>
        <p:nvSpPr>
          <p:cNvPr id="279" name="Google Shape;279;p42"/>
          <p:cNvSpPr txBox="1"/>
          <p:nvPr/>
        </p:nvSpPr>
        <p:spPr>
          <a:xfrm>
            <a:off x="1097280" y="1861509"/>
            <a:ext cx="6589500" cy="4364700"/>
          </a:xfrm>
          <a:prstGeom prst="rect">
            <a:avLst/>
          </a:prstGeom>
          <a:blipFill rotWithShape="1">
            <a:blip r:embed="rId3">
              <a:alphaModFix/>
            </a:blip>
            <a:stretch>
              <a:fillRect b="0" l="-1019" r="0" t="-139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800" u="none" cap="none" strike="noStrike">
                <a:latin typeface="Calibri"/>
                <a:ea typeface="Calibri"/>
                <a:cs typeface="Calibri"/>
                <a:sym typeface="Calibri"/>
              </a:rPr>
              <a:t> </a:t>
            </a:r>
            <a:endParaRPr/>
          </a:p>
        </p:txBody>
      </p:sp>
      <p:pic>
        <p:nvPicPr>
          <p:cNvPr id="280" name="Google Shape;280;p42"/>
          <p:cNvPicPr preferRelativeResize="0"/>
          <p:nvPr>
            <p:ph idx="1" type="body"/>
          </p:nvPr>
        </p:nvPicPr>
        <p:blipFill rotWithShape="1">
          <a:blip r:embed="rId4">
            <a:alphaModFix/>
          </a:blip>
          <a:srcRect b="0" l="0" r="0" t="0"/>
          <a:stretch/>
        </p:blipFill>
        <p:spPr>
          <a:xfrm>
            <a:off x="0" y="4908311"/>
            <a:ext cx="12192000" cy="14991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3"/>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85000"/>
              </a:lnSpc>
              <a:spcBef>
                <a:spcPts val="0"/>
              </a:spcBef>
              <a:spcAft>
                <a:spcPts val="0"/>
              </a:spcAft>
              <a:buClr>
                <a:srgbClr val="3F3F3F"/>
              </a:buClr>
              <a:buSzPts val="4800"/>
              <a:buFont typeface="Calibri"/>
              <a:buNone/>
            </a:pPr>
            <a:r>
              <a:rPr lang="en-US"/>
              <a:t>Kết quả - Attack C</a:t>
            </a:r>
            <a:endParaRPr/>
          </a:p>
        </p:txBody>
      </p:sp>
      <p:pic>
        <p:nvPicPr>
          <p:cNvPr id="286" name="Google Shape;286;p43"/>
          <p:cNvPicPr preferRelativeResize="0"/>
          <p:nvPr>
            <p:ph idx="1" type="body"/>
          </p:nvPr>
        </p:nvPicPr>
        <p:blipFill rotWithShape="1">
          <a:blip r:embed="rId3">
            <a:alphaModFix/>
          </a:blip>
          <a:srcRect b="0" l="0" r="0" t="0"/>
          <a:stretch/>
        </p:blipFill>
        <p:spPr>
          <a:xfrm>
            <a:off x="3804777" y="1855703"/>
            <a:ext cx="8387100" cy="4024200"/>
          </a:xfrm>
          <a:prstGeom prst="rect">
            <a:avLst/>
          </a:prstGeom>
          <a:noFill/>
          <a:ln>
            <a:noFill/>
          </a:ln>
        </p:spPr>
      </p:pic>
      <p:sp>
        <p:nvSpPr>
          <p:cNvPr id="287" name="Google Shape;287;p43"/>
          <p:cNvSpPr txBox="1"/>
          <p:nvPr/>
        </p:nvSpPr>
        <p:spPr>
          <a:xfrm>
            <a:off x="0" y="1940625"/>
            <a:ext cx="3663600" cy="4023300"/>
          </a:xfrm>
          <a:prstGeom prst="rect">
            <a:avLst/>
          </a:prstGeom>
          <a:noFill/>
          <a:ln>
            <a:noFill/>
          </a:ln>
        </p:spPr>
        <p:txBody>
          <a:bodyPr anchorCtr="0" anchor="t" bIns="45700" lIns="0" spcFirstLastPara="1" rIns="0" wrap="square" tIns="45700">
            <a:normAutofit/>
          </a:bodyPr>
          <a:lstStyle/>
          <a:p>
            <a:pPr indent="-182880" lvl="1" marL="384048" marR="0" rtl="0" algn="l">
              <a:lnSpc>
                <a:spcPct val="90000"/>
              </a:lnSpc>
              <a:spcBef>
                <a:spcPts val="0"/>
              </a:spcBef>
              <a:spcAft>
                <a:spcPts val="0"/>
              </a:spcAft>
              <a:buClr>
                <a:schemeClr val="accent1"/>
              </a:buClr>
              <a:buSzPts val="2400"/>
              <a:buFont typeface="Noto Sans Symbols"/>
              <a:buChar char="⇒"/>
            </a:pPr>
            <a:r>
              <a:rPr b="0" i="0" lang="en-US" sz="2400" u="none" cap="none" strike="noStrike">
                <a:solidFill>
                  <a:srgbClr val="3F3F3F"/>
                </a:solidFill>
                <a:latin typeface="Calibri"/>
                <a:ea typeface="Calibri"/>
                <a:cs typeface="Calibri"/>
                <a:sym typeface="Calibri"/>
              </a:rPr>
              <a:t>Tốn khoảng 0.02s để attack thành công</a:t>
            </a:r>
            <a:endParaRPr b="0" i="0" sz="2400" u="none" cap="none" strike="noStrike">
              <a:solidFill>
                <a:srgbClr val="3F3F3F"/>
              </a:solidFill>
              <a:latin typeface="Calibri"/>
              <a:ea typeface="Calibri"/>
              <a:cs typeface="Calibri"/>
              <a:sym typeface="Calibri"/>
            </a:endParaRPr>
          </a:p>
          <a:p>
            <a:pPr indent="0" lvl="1" marL="201168" marR="0" rtl="0" algn="l">
              <a:lnSpc>
                <a:spcPct val="90000"/>
              </a:lnSpc>
              <a:spcBef>
                <a:spcPts val="600"/>
              </a:spcBef>
              <a:spcAft>
                <a:spcPts val="0"/>
              </a:spcAft>
              <a:buClr>
                <a:schemeClr val="accent1"/>
              </a:buClr>
              <a:buSzPts val="1800"/>
              <a:buFont typeface="Calibri"/>
              <a:buNone/>
            </a:pPr>
            <a:r>
              <a:rPr b="0" i="0" lang="en-US" sz="1800" u="none" cap="none" strike="noStrike">
                <a:solidFill>
                  <a:srgbClr val="3F3F3F"/>
                </a:solidFill>
                <a:latin typeface="Calibri"/>
                <a:ea typeface="Calibri"/>
                <a:cs typeface="Calibri"/>
                <a:sym typeface="Calibri"/>
              </a:rPr>
              <a:t>- Qua đó chứng minh rằng</a:t>
            </a:r>
            <a:r>
              <a:rPr lang="en-US" sz="1800">
                <a:solidFill>
                  <a:srgbClr val="3F3F3F"/>
                </a:solidFill>
                <a:latin typeface="Calibri"/>
                <a:ea typeface="Calibri"/>
                <a:cs typeface="Calibri"/>
                <a:sym typeface="Calibri"/>
              </a:rPr>
              <a:t>:</a:t>
            </a:r>
            <a:r>
              <a:rPr b="0" i="0" lang="en-US" sz="1800" u="none" cap="none" strike="noStrike">
                <a:solidFill>
                  <a:srgbClr val="3F3F3F"/>
                </a:solidFill>
                <a:latin typeface="Calibri"/>
                <a:ea typeface="Calibri"/>
                <a:cs typeface="Calibri"/>
                <a:sym typeface="Calibri"/>
              </a:rPr>
              <a:t> </a:t>
            </a:r>
            <a:endParaRPr b="0" i="0" sz="1800" u="none" cap="none" strike="noStrike">
              <a:solidFill>
                <a:srgbClr val="3F3F3F"/>
              </a:solidFill>
              <a:latin typeface="Calibri"/>
              <a:ea typeface="Calibri"/>
              <a:cs typeface="Calibri"/>
              <a:sym typeface="Calibri"/>
            </a:endParaRPr>
          </a:p>
          <a:p>
            <a:pPr indent="0" lvl="1" marL="201168" marR="0" rtl="0" algn="l">
              <a:lnSpc>
                <a:spcPct val="90000"/>
              </a:lnSpc>
              <a:spcBef>
                <a:spcPts val="600"/>
              </a:spcBef>
              <a:spcAft>
                <a:spcPts val="0"/>
              </a:spcAft>
              <a:buClr>
                <a:schemeClr val="accent1"/>
              </a:buClr>
              <a:buSzPts val="1800"/>
              <a:buFont typeface="Calibri"/>
              <a:buNone/>
            </a:pPr>
            <a:r>
              <a:rPr lang="en-US" sz="1800">
                <a:solidFill>
                  <a:srgbClr val="3F3F3F"/>
                </a:solidFill>
                <a:latin typeface="Calibri"/>
                <a:ea typeface="Calibri"/>
                <a:cs typeface="Calibri"/>
                <a:sym typeface="Calibri"/>
              </a:rPr>
              <a:t>G</a:t>
            </a:r>
            <a:r>
              <a:rPr b="0" i="0" lang="en-US" sz="1800" u="none" cap="none" strike="noStrike">
                <a:solidFill>
                  <a:srgbClr val="3F3F3F"/>
                </a:solidFill>
                <a:latin typeface="Calibri"/>
                <a:ea typeface="Calibri"/>
                <a:cs typeface="Calibri"/>
                <a:sym typeface="Calibri"/>
              </a:rPr>
              <a:t>iả thuyết small exponent misue là nguyên nhân compromise thực tế, có thể dẫn đến cơ chế xác thực không còn đáng tin</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4"/>
          <p:cNvSpPr txBox="1"/>
          <p:nvPr>
            <p:ph type="title"/>
          </p:nvPr>
        </p:nvSpPr>
        <p:spPr>
          <a:xfrm>
            <a:off x="1097280" y="286603"/>
            <a:ext cx="10058400" cy="1450800"/>
          </a:xfrm>
          <a:prstGeom prst="rect">
            <a:avLst/>
          </a:prstGeom>
          <a:noFill/>
          <a:ln>
            <a:noFill/>
          </a:ln>
        </p:spPr>
        <p:txBody>
          <a:bodyPr anchorCtr="0" anchor="b" bIns="45700" lIns="91425" spcFirstLastPara="1" rIns="91425" wrap="square" tIns="45700">
            <a:normAutofit/>
          </a:bodyPr>
          <a:lstStyle/>
          <a:p>
            <a:pPr indent="0" lvl="0" marL="0" rtl="0" algn="l">
              <a:lnSpc>
                <a:spcPct val="102000"/>
              </a:lnSpc>
              <a:spcBef>
                <a:spcPts val="0"/>
              </a:spcBef>
              <a:spcAft>
                <a:spcPts val="0"/>
              </a:spcAft>
              <a:buClr>
                <a:schemeClr val="dk1"/>
              </a:buClr>
              <a:buSzPts val="1100"/>
              <a:buFont typeface="Arial"/>
              <a:buNone/>
            </a:pPr>
            <a:r>
              <a:rPr lang="en-US">
                <a:solidFill>
                  <a:srgbClr val="3F3F3F"/>
                </a:solidFill>
              </a:rPr>
              <a:t>Mitigation - Attack C</a:t>
            </a:r>
            <a:endParaRPr/>
          </a:p>
        </p:txBody>
      </p:sp>
      <p:pic>
        <p:nvPicPr>
          <p:cNvPr id="293" name="Google Shape;293;p44"/>
          <p:cNvPicPr preferRelativeResize="0"/>
          <p:nvPr/>
        </p:nvPicPr>
        <p:blipFill rotWithShape="1">
          <a:blip r:embed="rId3">
            <a:alphaModFix/>
          </a:blip>
          <a:srcRect b="0" l="0" r="0" t="0"/>
          <a:stretch/>
        </p:blipFill>
        <p:spPr>
          <a:xfrm>
            <a:off x="0" y="4724584"/>
            <a:ext cx="12191999" cy="1542681"/>
          </a:xfrm>
          <a:prstGeom prst="rect">
            <a:avLst/>
          </a:prstGeom>
          <a:noFill/>
          <a:ln>
            <a:noFill/>
          </a:ln>
        </p:spPr>
      </p:pic>
      <p:sp>
        <p:nvSpPr>
          <p:cNvPr id="294" name="Google Shape;294;p44"/>
          <p:cNvSpPr txBox="1"/>
          <p:nvPr>
            <p:ph idx="1" type="body"/>
          </p:nvPr>
        </p:nvSpPr>
        <p:spPr>
          <a:xfrm>
            <a:off x="0" y="1838487"/>
            <a:ext cx="6459900" cy="658800"/>
          </a:xfrm>
          <a:prstGeom prst="rect">
            <a:avLst/>
          </a:prstGeom>
          <a:noFill/>
          <a:ln>
            <a:noFill/>
          </a:ln>
        </p:spPr>
        <p:txBody>
          <a:bodyPr anchorCtr="0" anchor="t" bIns="45700" lIns="0" spcFirstLastPara="1" rIns="0" wrap="square" tIns="45700">
            <a:normAutofit/>
          </a:bodyPr>
          <a:lstStyle/>
          <a:p>
            <a:pPr indent="-127000" lvl="0" marL="91440" rtl="0" algn="l">
              <a:lnSpc>
                <a:spcPct val="90000"/>
              </a:lnSpc>
              <a:spcBef>
                <a:spcPts val="0"/>
              </a:spcBef>
              <a:spcAft>
                <a:spcPts val="0"/>
              </a:spcAft>
              <a:buSzPts val="2000"/>
              <a:buChar char=" "/>
            </a:pPr>
            <a:r>
              <a:rPr b="1" lang="en-US"/>
              <a:t>- D bits trước khi vá:</a:t>
            </a:r>
            <a:endParaRPr/>
          </a:p>
        </p:txBody>
      </p:sp>
      <p:pic>
        <p:nvPicPr>
          <p:cNvPr id="295" name="Google Shape;295;p44"/>
          <p:cNvPicPr preferRelativeResize="0"/>
          <p:nvPr/>
        </p:nvPicPr>
        <p:blipFill rotWithShape="1">
          <a:blip r:embed="rId4">
            <a:alphaModFix/>
          </a:blip>
          <a:srcRect b="0" l="0" r="0" t="0"/>
          <a:stretch/>
        </p:blipFill>
        <p:spPr>
          <a:xfrm>
            <a:off x="0" y="2276596"/>
            <a:ext cx="8935967" cy="1651042"/>
          </a:xfrm>
          <a:prstGeom prst="rect">
            <a:avLst/>
          </a:prstGeom>
          <a:noFill/>
          <a:ln>
            <a:noFill/>
          </a:ln>
        </p:spPr>
      </p:pic>
      <p:sp>
        <p:nvSpPr>
          <p:cNvPr id="296" name="Google Shape;296;p44"/>
          <p:cNvSpPr txBox="1"/>
          <p:nvPr/>
        </p:nvSpPr>
        <p:spPr>
          <a:xfrm>
            <a:off x="0" y="4365747"/>
            <a:ext cx="6459900" cy="658800"/>
          </a:xfrm>
          <a:prstGeom prst="rect">
            <a:avLst/>
          </a:prstGeom>
          <a:noFill/>
          <a:ln>
            <a:noFill/>
          </a:ln>
        </p:spPr>
        <p:txBody>
          <a:bodyPr anchorCtr="0" anchor="t" bIns="45700" lIns="0" spcFirstLastPara="1" rIns="0" wrap="square" tIns="45700">
            <a:normAutofit/>
          </a:bodyPr>
          <a:lstStyle/>
          <a:p>
            <a:pPr indent="-127000" lvl="0" marL="91440" marR="0" rtl="0" algn="l">
              <a:lnSpc>
                <a:spcPct val="90000"/>
              </a:lnSpc>
              <a:spcBef>
                <a:spcPts val="0"/>
              </a:spcBef>
              <a:spcAft>
                <a:spcPts val="0"/>
              </a:spcAft>
              <a:buClr>
                <a:schemeClr val="accent1"/>
              </a:buClr>
              <a:buSzPts val="2000"/>
              <a:buFont typeface="Calibri"/>
              <a:buChar char=" "/>
            </a:pPr>
            <a:r>
              <a:rPr b="1" lang="en-US" sz="2000">
                <a:solidFill>
                  <a:srgbClr val="3F3F3F"/>
                </a:solidFill>
                <a:latin typeface="Calibri"/>
                <a:ea typeface="Calibri"/>
                <a:cs typeface="Calibri"/>
                <a:sym typeface="Calibri"/>
              </a:rPr>
              <a:t>- D bits sau khi vá:</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5"/>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Fault attack: mở rộng</a:t>
            </a:r>
            <a:endParaRPr/>
          </a:p>
        </p:txBody>
      </p:sp>
      <p:pic>
        <p:nvPicPr>
          <p:cNvPr id="302" name="Google Shape;302;p45"/>
          <p:cNvPicPr preferRelativeResize="0"/>
          <p:nvPr/>
        </p:nvPicPr>
        <p:blipFill>
          <a:blip r:embed="rId3">
            <a:alphaModFix/>
          </a:blip>
          <a:stretch>
            <a:fillRect/>
          </a:stretch>
        </p:blipFill>
        <p:spPr>
          <a:xfrm>
            <a:off x="152400" y="1813278"/>
            <a:ext cx="11887200" cy="4128068"/>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46"/>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solidFill>
                  <a:srgbClr val="404040"/>
                </a:solidFill>
                <a:latin typeface="Arial"/>
                <a:ea typeface="Arial"/>
                <a:cs typeface="Arial"/>
                <a:sym typeface="Arial"/>
              </a:rPr>
              <a:t>Bellcore Attack</a:t>
            </a:r>
            <a:endParaRPr/>
          </a:p>
        </p:txBody>
      </p:sp>
      <p:pic>
        <p:nvPicPr>
          <p:cNvPr id="308" name="Google Shape;308;p46"/>
          <p:cNvPicPr preferRelativeResize="0"/>
          <p:nvPr/>
        </p:nvPicPr>
        <p:blipFill>
          <a:blip r:embed="rId3">
            <a:alphaModFix/>
          </a:blip>
          <a:stretch>
            <a:fillRect/>
          </a:stretch>
        </p:blipFill>
        <p:spPr>
          <a:xfrm>
            <a:off x="152400" y="1889803"/>
            <a:ext cx="11887203" cy="44968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7"/>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Modulus Fault</a:t>
            </a:r>
            <a:endParaRPr/>
          </a:p>
        </p:txBody>
      </p:sp>
      <p:sp>
        <p:nvSpPr>
          <p:cNvPr id="314" name="Google Shape;314;p47"/>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381000" lvl="0" marL="457200" rtl="0" algn="l">
              <a:spcBef>
                <a:spcPts val="1200"/>
              </a:spcBef>
              <a:spcAft>
                <a:spcPts val="0"/>
              </a:spcAft>
              <a:buSzPts val="2400"/>
              <a:buChar char="-"/>
            </a:pPr>
            <a:r>
              <a:rPr lang="en-US" sz="2400"/>
              <a:t>Một trường hợp khác có thể xảy ra đó là việc tính chữ kí bị lỗi ở bước lấy modulo. </a:t>
            </a:r>
            <a:endParaRPr sz="2400"/>
          </a:p>
          <a:p>
            <a:pPr indent="-381000" lvl="0" marL="457200" rtl="0" algn="l">
              <a:spcBef>
                <a:spcPts val="0"/>
              </a:spcBef>
              <a:spcAft>
                <a:spcPts val="0"/>
              </a:spcAft>
              <a:buSzPts val="2400"/>
              <a:buChar char="-"/>
            </a:pPr>
            <a:r>
              <a:rPr lang="en-US" sz="2400"/>
              <a:t>Bằng cách thu thập các chữ kí lỗi, ta có thể tạo ra được một tổ hợp tuyến tính của các thành phần trong bước tính CRT </a:t>
            </a:r>
            <a:endParaRPr sz="2400"/>
          </a:p>
          <a:p>
            <a:pPr indent="-381000" lvl="0" marL="457200" rtl="0" algn="l">
              <a:spcBef>
                <a:spcPts val="0"/>
              </a:spcBef>
              <a:spcAft>
                <a:spcPts val="0"/>
              </a:spcAft>
              <a:buSzPts val="2400"/>
              <a:buChar char="-"/>
            </a:pPr>
            <a:r>
              <a:t/>
            </a:r>
            <a:endParaRPr sz="2400"/>
          </a:p>
          <a:p>
            <a:pPr indent="0" lvl="0" marL="0" rtl="0" algn="l">
              <a:spcBef>
                <a:spcPts val="1200"/>
              </a:spcBef>
              <a:spcAft>
                <a:spcPts val="200"/>
              </a:spcAft>
              <a:buNone/>
            </a:pPr>
            <a:r>
              <a:t/>
            </a:r>
            <a:endParaRPr sz="2400"/>
          </a:p>
        </p:txBody>
      </p:sp>
      <p:pic>
        <p:nvPicPr>
          <p:cNvPr id="315" name="Google Shape;315;p47"/>
          <p:cNvPicPr preferRelativeResize="0"/>
          <p:nvPr/>
        </p:nvPicPr>
        <p:blipFill>
          <a:blip r:embed="rId3">
            <a:alphaModFix/>
          </a:blip>
          <a:stretch>
            <a:fillRect/>
          </a:stretch>
        </p:blipFill>
        <p:spPr>
          <a:xfrm>
            <a:off x="3180475" y="3599150"/>
            <a:ext cx="5599650" cy="1786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48"/>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Modulus Fault</a:t>
            </a:r>
            <a:endParaRPr/>
          </a:p>
        </p:txBody>
      </p:sp>
      <p:sp>
        <p:nvSpPr>
          <p:cNvPr id="321" name="Google Shape;321;p48"/>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368300" lvl="0" marL="457200" rtl="0" algn="l">
              <a:spcBef>
                <a:spcPts val="1200"/>
              </a:spcBef>
              <a:spcAft>
                <a:spcPts val="0"/>
              </a:spcAft>
              <a:buSzPts val="2200"/>
              <a:buChar char="-"/>
            </a:pPr>
            <a:r>
              <a:rPr lang="en-US" sz="2400"/>
              <a:t>Hướng tấn công: Thu thập nhiều chữ kí lỗi và sử dụng thuật toán LLL để phân tích modulus N</a:t>
            </a:r>
            <a:endParaRPr sz="2400"/>
          </a:p>
          <a:p>
            <a:pPr indent="-381000" lvl="0" marL="457200" rtl="0" algn="l">
              <a:spcBef>
                <a:spcPts val="0"/>
              </a:spcBef>
              <a:spcAft>
                <a:spcPts val="0"/>
              </a:spcAft>
              <a:buSzPts val="2400"/>
              <a:buChar char="-"/>
            </a:pPr>
            <a:r>
              <a:rPr lang="en-US" sz="2400"/>
              <a:t>Chi tiết thuật toán: </a:t>
            </a:r>
            <a:endParaRPr sz="2400"/>
          </a:p>
          <a:p>
            <a:pPr indent="0" lvl="0" marL="0" rtl="0" algn="l">
              <a:spcBef>
                <a:spcPts val="1200"/>
              </a:spcBef>
              <a:spcAft>
                <a:spcPts val="200"/>
              </a:spcAft>
              <a:buNone/>
            </a:pPr>
            <a:r>
              <a:t/>
            </a:r>
            <a:endParaRPr sz="2400"/>
          </a:p>
        </p:txBody>
      </p:sp>
      <p:pic>
        <p:nvPicPr>
          <p:cNvPr id="322" name="Google Shape;322;p48"/>
          <p:cNvPicPr preferRelativeResize="0"/>
          <p:nvPr/>
        </p:nvPicPr>
        <p:blipFill>
          <a:blip r:embed="rId3">
            <a:alphaModFix/>
          </a:blip>
          <a:stretch>
            <a:fillRect/>
          </a:stretch>
        </p:blipFill>
        <p:spPr>
          <a:xfrm>
            <a:off x="1962150" y="3074163"/>
            <a:ext cx="8267700" cy="25431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49"/>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Modulus Fault</a:t>
            </a:r>
            <a:endParaRPr/>
          </a:p>
        </p:txBody>
      </p:sp>
      <p:sp>
        <p:nvSpPr>
          <p:cNvPr id="328" name="Google Shape;328;p49"/>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368300" lvl="0" marL="457200" rtl="0" algn="l">
              <a:spcBef>
                <a:spcPts val="1200"/>
              </a:spcBef>
              <a:spcAft>
                <a:spcPts val="0"/>
              </a:spcAft>
              <a:buSzPts val="2200"/>
              <a:buChar char="-"/>
            </a:pPr>
            <a:r>
              <a:rPr lang="en-US" sz="2400"/>
              <a:t>Số lượng chữ kí cần để phân tích N: </a:t>
            </a:r>
            <a:endParaRPr sz="2400"/>
          </a:p>
        </p:txBody>
      </p:sp>
      <p:pic>
        <p:nvPicPr>
          <p:cNvPr id="329" name="Google Shape;329;p49"/>
          <p:cNvPicPr preferRelativeResize="0"/>
          <p:nvPr/>
        </p:nvPicPr>
        <p:blipFill>
          <a:blip r:embed="rId3">
            <a:alphaModFix/>
          </a:blip>
          <a:stretch>
            <a:fillRect/>
          </a:stretch>
        </p:blipFill>
        <p:spPr>
          <a:xfrm>
            <a:off x="2771775" y="2490788"/>
            <a:ext cx="6648450" cy="18764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50"/>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Modulus Fault</a:t>
            </a:r>
            <a:endParaRPr/>
          </a:p>
        </p:txBody>
      </p:sp>
      <p:sp>
        <p:nvSpPr>
          <p:cNvPr id="335" name="Google Shape;335;p50"/>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457200" lvl="0" marL="0" rtl="0" algn="l">
              <a:spcBef>
                <a:spcPts val="1200"/>
              </a:spcBef>
              <a:spcAft>
                <a:spcPts val="0"/>
              </a:spcAft>
              <a:buNone/>
            </a:pPr>
            <a:r>
              <a:rPr lang="en-US" sz="2400"/>
              <a:t>Biện pháp hạn chế rủi ro: </a:t>
            </a:r>
            <a:endParaRPr sz="2400"/>
          </a:p>
          <a:p>
            <a:pPr indent="-368300" lvl="0" marL="457200" rtl="0" algn="l">
              <a:spcBef>
                <a:spcPts val="1200"/>
              </a:spcBef>
              <a:spcAft>
                <a:spcPts val="0"/>
              </a:spcAft>
              <a:buSzPts val="2200"/>
              <a:buChar char="-"/>
            </a:pPr>
            <a:r>
              <a:rPr lang="en-US" sz="2400"/>
              <a:t>Sử dụng công thức Garner’s formula thay cho thuật toán CRT → không bị phụ thuộc vào N</a:t>
            </a:r>
            <a:endParaRPr sz="2400"/>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368300" lvl="0" marL="457200" rtl="0" algn="l">
              <a:spcBef>
                <a:spcPts val="1200"/>
              </a:spcBef>
              <a:spcAft>
                <a:spcPts val="0"/>
              </a:spcAft>
              <a:buSzPts val="2200"/>
              <a:buChar char="-"/>
            </a:pPr>
            <a:r>
              <a:rPr lang="en-US" sz="2400"/>
              <a:t> Sử dụng các scheme chữ kí có tính ngẫu nhiên chẳng hạn RSA - PSS, hoặc stateful scheme (mỗi lần kí sẽ cập nhật trạng thái, kết quả sẽ khác nhau) </a:t>
            </a:r>
            <a:endParaRPr sz="2400"/>
          </a:p>
        </p:txBody>
      </p:sp>
      <p:pic>
        <p:nvPicPr>
          <p:cNvPr id="336" name="Google Shape;336;p50"/>
          <p:cNvPicPr preferRelativeResize="0"/>
          <p:nvPr/>
        </p:nvPicPr>
        <p:blipFill>
          <a:blip r:embed="rId3">
            <a:alphaModFix/>
          </a:blip>
          <a:stretch>
            <a:fillRect/>
          </a:stretch>
        </p:blipFill>
        <p:spPr>
          <a:xfrm>
            <a:off x="4238625" y="2919150"/>
            <a:ext cx="3714750" cy="18764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1"/>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4. Kiến trúc giải pháp</a:t>
            </a:r>
            <a:endParaRPr/>
          </a:p>
        </p:txBody>
      </p:sp>
      <p:sp>
        <p:nvSpPr>
          <p:cNvPr id="342" name="Google Shape;342;p51"/>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514350" lvl="0" marL="514350" rtl="0" algn="l">
              <a:spcBef>
                <a:spcPts val="0"/>
              </a:spcBef>
              <a:spcAft>
                <a:spcPts val="0"/>
              </a:spcAft>
              <a:buSzPts val="2000"/>
              <a:buAutoNum type="arabicParenR"/>
            </a:pPr>
            <a:r>
              <a:rPr lang="en-US"/>
              <a:t>Key size phải đạt chuẩn: ít nhất 2048 bit, khuyến khích tăng lên 3072 bit hoặc cao hơn nếu muốn bảo mật dài hạn.</a:t>
            </a:r>
            <a:endParaRPr/>
          </a:p>
          <a:p>
            <a:pPr indent="-514350" lvl="0" marL="514350" rtl="0" algn="l">
              <a:spcBef>
                <a:spcPts val="2200"/>
              </a:spcBef>
              <a:spcAft>
                <a:spcPts val="0"/>
              </a:spcAft>
              <a:buSzPts val="2000"/>
              <a:buAutoNum type="arabicParenR"/>
            </a:pPr>
            <a:r>
              <a:rPr lang="en-US"/>
              <a:t>Đảm bảo tính ngẫu nhiên khi sinh khóa.</a:t>
            </a:r>
            <a:endParaRPr/>
          </a:p>
          <a:p>
            <a:pPr indent="-514350" lvl="0" marL="514350" rtl="0" algn="l">
              <a:spcBef>
                <a:spcPts val="2200"/>
              </a:spcBef>
              <a:spcAft>
                <a:spcPts val="0"/>
              </a:spcAft>
              <a:buSzPts val="2000"/>
              <a:buAutoNum type="arabicParenR"/>
            </a:pPr>
            <a:r>
              <a:rPr lang="en-US"/>
              <a:t>Tránh dùng chung 1 khóa cho nhiều dịch vụ khác nhau.</a:t>
            </a:r>
            <a:endParaRPr/>
          </a:p>
          <a:p>
            <a:pPr indent="-514350" lvl="0" marL="514350" rtl="0" algn="l">
              <a:spcBef>
                <a:spcPts val="2200"/>
              </a:spcBef>
              <a:spcAft>
                <a:spcPts val="0"/>
              </a:spcAft>
              <a:buSzPts val="2000"/>
              <a:buAutoNum type="arabicParenR"/>
            </a:pPr>
            <a:r>
              <a:rPr lang="en-US"/>
              <a:t>Chuẩn bị các giải pháp bảo vệ dài hạn: </a:t>
            </a:r>
            <a:br>
              <a:rPr lang="en-US"/>
            </a:br>
            <a:r>
              <a:rPr lang="en-US"/>
              <a:t>Giám sát các kĩ thuật phá mã và điều chỉnh độ dài khóa. Lên kế hoạch chuyển sang các thuật toán mới, đặc biệt là mật mã hậu lượng tử.</a:t>
            </a:r>
            <a:endParaRPr/>
          </a:p>
          <a:p>
            <a:pPr indent="0" lvl="0" marL="0" rtl="0" algn="l">
              <a:spcBef>
                <a:spcPts val="1200"/>
              </a:spcBef>
              <a:spcAft>
                <a:spcPts val="200"/>
              </a:spcAft>
              <a:buNone/>
            </a:pPr>
            <a:r>
              <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2"/>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5. Mở rộng hướng đi tiếp theo</a:t>
            </a:r>
            <a:endParaRPr/>
          </a:p>
        </p:txBody>
      </p:sp>
      <p:sp>
        <p:nvSpPr>
          <p:cNvPr id="348" name="Google Shape;348;p52"/>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355600" lvl="0" marL="457200" rtl="0" algn="l">
              <a:spcBef>
                <a:spcPts val="1200"/>
              </a:spcBef>
              <a:spcAft>
                <a:spcPts val="0"/>
              </a:spcAft>
              <a:buSzPts val="2000"/>
              <a:buChar char="-"/>
            </a:pPr>
            <a:r>
              <a:rPr lang="en-US" sz="2200"/>
              <a:t>Chuyển sang sử dụng các hệ mật mã hậu lượng tử (PQC, Lattice based, isogeny based), ECC, v.v..</a:t>
            </a:r>
            <a:endParaRPr sz="2200"/>
          </a:p>
          <a:p>
            <a:pPr indent="-355600" lvl="0" marL="457200" rtl="0" algn="l">
              <a:spcBef>
                <a:spcPts val="0"/>
              </a:spcBef>
              <a:spcAft>
                <a:spcPts val="0"/>
              </a:spcAft>
              <a:buSzPts val="2000"/>
              <a:buChar char="-"/>
            </a:pPr>
            <a:r>
              <a:rPr lang="en-US" sz="2200"/>
              <a:t>ECC - Hệ mật mã dựa trên đường cong, có một số ưu điểm nhất định so với RSA</a:t>
            </a:r>
            <a:endParaRPr sz="2200"/>
          </a:p>
          <a:p>
            <a:pPr indent="-355600" lvl="1" marL="914400" rtl="0" algn="l">
              <a:spcBef>
                <a:spcPts val="0"/>
              </a:spcBef>
              <a:spcAft>
                <a:spcPts val="0"/>
              </a:spcAft>
              <a:buSzPts val="2000"/>
              <a:buChar char="-"/>
            </a:pPr>
            <a:r>
              <a:rPr lang="en-US" sz="2000"/>
              <a:t>TLS/Key agreement: ECDHE</a:t>
            </a:r>
            <a:endParaRPr sz="2000"/>
          </a:p>
          <a:p>
            <a:pPr indent="-355600" lvl="1" marL="914400" rtl="0" algn="l">
              <a:spcBef>
                <a:spcPts val="0"/>
              </a:spcBef>
              <a:spcAft>
                <a:spcPts val="0"/>
              </a:spcAft>
              <a:buSzPts val="2000"/>
              <a:buChar char="-"/>
            </a:pPr>
            <a:r>
              <a:rPr lang="en-US" sz="2000"/>
              <a:t>Chữ ký số/Cert: RSA-PSS → ECDSA hoặc EdDSA</a:t>
            </a:r>
            <a:endParaRPr sz="2000"/>
          </a:p>
          <a:p>
            <a:pPr indent="0" lvl="0" marL="0" rtl="0" algn="l">
              <a:spcBef>
                <a:spcPts val="1200"/>
              </a:spcBef>
              <a:spcAft>
                <a:spcPts val="0"/>
              </a:spcAft>
              <a:buNone/>
            </a:pPr>
            <a:r>
              <a:t/>
            </a:r>
            <a:endParaRPr/>
          </a:p>
          <a:p>
            <a:pPr indent="0" lvl="0" marL="0" rtl="0" algn="l">
              <a:spcBef>
                <a:spcPts val="1200"/>
              </a:spcBef>
              <a:spcAft>
                <a:spcPts val="200"/>
              </a:spcAft>
              <a:buNone/>
            </a:pPr>
            <a:r>
              <a:t/>
            </a:r>
            <a:endParaRPr/>
          </a:p>
        </p:txBody>
      </p:sp>
      <p:pic>
        <p:nvPicPr>
          <p:cNvPr id="349" name="Google Shape;349;p52"/>
          <p:cNvPicPr preferRelativeResize="0"/>
          <p:nvPr/>
        </p:nvPicPr>
        <p:blipFill>
          <a:blip r:embed="rId3">
            <a:alphaModFix/>
          </a:blip>
          <a:stretch>
            <a:fillRect/>
          </a:stretch>
        </p:blipFill>
        <p:spPr>
          <a:xfrm>
            <a:off x="3750250" y="3482475"/>
            <a:ext cx="3567050" cy="238655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3"/>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355" name="Google Shape;355;p53"/>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rPr lang="en-US" sz="2400"/>
              <a:t>Điểm hạn chế của RSA:</a:t>
            </a:r>
            <a:endParaRPr sz="2400"/>
          </a:p>
          <a:p>
            <a:pPr indent="-368300" lvl="0" marL="457200" rtl="0" algn="l">
              <a:spcBef>
                <a:spcPts val="1200"/>
              </a:spcBef>
              <a:spcAft>
                <a:spcPts val="0"/>
              </a:spcAft>
              <a:buSzPts val="2200"/>
              <a:buChar char="-"/>
            </a:pPr>
            <a:r>
              <a:rPr lang="en-US" sz="2400"/>
              <a:t>Thuật toán sinh khóa của RSA rất chậm, đối với khóa có độ lớn 16384 bit có thể mất đến vài phút trên máy tính cá nhân</a:t>
            </a:r>
            <a:r>
              <a:rPr lang="en-US" sz="2400"/>
              <a:t>.  </a:t>
            </a:r>
            <a:endParaRPr sz="2400"/>
          </a:p>
          <a:p>
            <a:pPr indent="-368300" lvl="0" marL="457200" rtl="0" algn="l">
              <a:spcBef>
                <a:spcPts val="0"/>
              </a:spcBef>
              <a:spcAft>
                <a:spcPts val="0"/>
              </a:spcAft>
              <a:buSzPts val="2200"/>
              <a:buChar char="-"/>
            </a:pPr>
            <a:r>
              <a:rPr lang="en-US" sz="2400"/>
              <a:t>Kích thước chữ kí lớn, độ lớn bằng với modulo của khóa → tốn nhiều tài nguyên khi lưu trữ trên các hệ thống. </a:t>
            </a:r>
            <a:endParaRPr sz="2400"/>
          </a:p>
          <a:p>
            <a:pPr indent="0" lvl="0" marL="0" rtl="0" algn="l">
              <a:spcBef>
                <a:spcPts val="1200"/>
              </a:spcBef>
              <a:spcAft>
                <a:spcPts val="0"/>
              </a:spcAft>
              <a:buNone/>
            </a:pPr>
            <a:r>
              <a:rPr lang="en-US" sz="2400"/>
              <a:t>	Ví dụ → https://github.com/phpseclib/phpseclib/issues/963</a:t>
            </a:r>
            <a:endParaRPr sz="2400"/>
          </a:p>
          <a:p>
            <a:pPr indent="0" lvl="0" marL="0" rtl="0" algn="l">
              <a:spcBef>
                <a:spcPts val="1200"/>
              </a:spcBef>
              <a:spcAft>
                <a:spcPts val="20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4"/>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361" name="Google Shape;361;p54"/>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374650" lvl="0" marL="914400" rtl="0" algn="l">
              <a:spcBef>
                <a:spcPts val="1200"/>
              </a:spcBef>
              <a:spcAft>
                <a:spcPts val="0"/>
              </a:spcAft>
              <a:buSzPts val="2300"/>
              <a:buAutoNum type="arabicParenR"/>
            </a:pPr>
            <a:r>
              <a:rPr lang="en-US" sz="2400"/>
              <a:t>Một số ưu điểm của ECC</a:t>
            </a:r>
            <a:endParaRPr sz="2400"/>
          </a:p>
          <a:p>
            <a:pPr indent="-368300" lvl="0" marL="457200" rtl="0" algn="l">
              <a:spcBef>
                <a:spcPts val="0"/>
              </a:spcBef>
              <a:spcAft>
                <a:spcPts val="0"/>
              </a:spcAft>
              <a:buSzPts val="2200"/>
              <a:buAutoNum type="alphaLcParenR"/>
            </a:pPr>
            <a:r>
              <a:rPr lang="en-US" sz="2400"/>
              <a:t>Kích thước khóa , chữ kí và bản mã nhỏ: Để đạt 128-bit security  thì cần một khóa EC có độ lớn 256-bits, trong khi RSA sẽ cần khóa 3072 bits. </a:t>
            </a:r>
            <a:endParaRPr sz="2400"/>
          </a:p>
          <a:p>
            <a:pPr indent="-368300" lvl="0" marL="457200" rtl="0" algn="l">
              <a:spcBef>
                <a:spcPts val="0"/>
              </a:spcBef>
              <a:spcAft>
                <a:spcPts val="0"/>
              </a:spcAft>
              <a:buSzPts val="2200"/>
              <a:buAutoNum type="alphaLcParenR"/>
            </a:pPr>
            <a:r>
              <a:rPr lang="en-US" sz="2400"/>
              <a:t>Fast key generation: Đối với hệ mật ECC, thuật toán sinh khóa sẽ dựa vào hai thuật toán cơ sở là PRNG và EC point multiplication → nhanh hơn so với RSA</a:t>
            </a:r>
            <a:endParaRPr sz="2400"/>
          </a:p>
          <a:p>
            <a:pPr indent="-368300" lvl="0" marL="457200" rtl="0" algn="l">
              <a:spcBef>
                <a:spcPts val="0"/>
              </a:spcBef>
              <a:spcAft>
                <a:spcPts val="0"/>
              </a:spcAft>
              <a:buSzPts val="2200"/>
              <a:buAutoNum type="alphaLcParenR"/>
            </a:pPr>
            <a:r>
              <a:rPr lang="en-US" sz="2400"/>
              <a:t>Fast signing, key agreement and encryption/decryption</a:t>
            </a:r>
            <a:endParaRPr sz="2400"/>
          </a:p>
          <a:p>
            <a:pPr indent="0" lvl="0" marL="0" rtl="0" algn="l">
              <a:spcBef>
                <a:spcPts val="1200"/>
              </a:spcBef>
              <a:spcAft>
                <a:spcPts val="200"/>
              </a:spcAft>
              <a:buNone/>
            </a:pPr>
            <a:r>
              <a:rPr lang="en-US" sz="2400"/>
              <a:t> </a:t>
            </a:r>
            <a:endParaRPr sz="24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55"/>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367" name="Google Shape;367;p55"/>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457200" lvl="0" marL="0" rtl="0" algn="l">
              <a:spcBef>
                <a:spcPts val="1200"/>
              </a:spcBef>
              <a:spcAft>
                <a:spcPts val="0"/>
              </a:spcAft>
              <a:buNone/>
            </a:pPr>
            <a:r>
              <a:rPr lang="en-US" sz="2400"/>
              <a:t>2) Nhược điểm </a:t>
            </a:r>
            <a:r>
              <a:rPr lang="en-US" sz="2400"/>
              <a:t>của </a:t>
            </a:r>
            <a:r>
              <a:rPr lang="en-US" sz="2400"/>
              <a:t>ECC </a:t>
            </a:r>
            <a:endParaRPr sz="2400"/>
          </a:p>
          <a:p>
            <a:pPr indent="-368300" lvl="0" marL="457200" rtl="0" algn="l">
              <a:spcBef>
                <a:spcPts val="1200"/>
              </a:spcBef>
              <a:spcAft>
                <a:spcPts val="0"/>
              </a:spcAft>
              <a:buSzPts val="2200"/>
              <a:buAutoNum type="alphaLcParenR"/>
            </a:pPr>
            <a:r>
              <a:rPr lang="en-US" sz="2400"/>
              <a:t>Thuật toán ECC có yêu cầu cài đặt an toàn phức tạp hơn RSA → tuy nhiên ta có thể xài các thư viện đã được audit như OpenSSL, BoringSSL, v.v…</a:t>
            </a:r>
            <a:endParaRPr sz="2400"/>
          </a:p>
          <a:p>
            <a:pPr indent="-368300" lvl="0" marL="457200" rtl="0" algn="l">
              <a:spcBef>
                <a:spcPts val="0"/>
              </a:spcBef>
              <a:spcAft>
                <a:spcPts val="0"/>
              </a:spcAft>
              <a:buSzPts val="2200"/>
              <a:buAutoNum type="alphaLcParenR"/>
            </a:pPr>
            <a:r>
              <a:rPr lang="en-US" sz="2400"/>
              <a:t>Lỗi ở thuật toán sinh số ngẫu nhiên PRNG có thể khiến cho chữ kí số bị giả mạo (ECDSA Nonce) </a:t>
            </a:r>
            <a:endParaRPr sz="2400"/>
          </a:p>
          <a:p>
            <a:pPr indent="-368300" lvl="0" marL="457200" rtl="0" algn="l">
              <a:spcBef>
                <a:spcPts val="0"/>
              </a:spcBef>
              <a:spcAft>
                <a:spcPts val="0"/>
              </a:spcAft>
              <a:buSzPts val="2200"/>
              <a:buAutoNum type="alphaLcParenR"/>
            </a:pPr>
            <a:r>
              <a:rPr lang="en-US" sz="2400"/>
              <a:t>Không phải tất cả các curve đều an toàn, chỉ nên sử dụng những curve đã được kiểm chứng và phổ biến rộng rãi</a:t>
            </a:r>
            <a:endParaRPr sz="2400"/>
          </a:p>
          <a:p>
            <a:pPr indent="0" lvl="0" marL="0" rtl="0" algn="l">
              <a:spcBef>
                <a:spcPts val="1200"/>
              </a:spcBef>
              <a:spcAft>
                <a:spcPts val="0"/>
              </a:spcAft>
              <a:buNone/>
            </a:pPr>
            <a:r>
              <a:t/>
            </a:r>
            <a:endParaRPr/>
          </a:p>
          <a:p>
            <a:pPr indent="0" lvl="0" marL="0" rtl="0" algn="l">
              <a:spcBef>
                <a:spcPts val="1200"/>
              </a:spcBef>
              <a:spcAft>
                <a:spcPts val="200"/>
              </a:spcAft>
              <a:buNone/>
            </a:pPr>
            <a:r>
              <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56"/>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 </a:t>
            </a:r>
            <a:endParaRPr/>
          </a:p>
        </p:txBody>
      </p:sp>
      <p:sp>
        <p:nvSpPr>
          <p:cNvPr id="373" name="Google Shape;373;p56"/>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ctr">
              <a:spcBef>
                <a:spcPts val="1200"/>
              </a:spcBef>
              <a:spcAft>
                <a:spcPts val="0"/>
              </a:spcAft>
              <a:buNone/>
            </a:pPr>
            <a:r>
              <a:rPr lang="en-US"/>
              <a:t>Nguồn: </a:t>
            </a:r>
            <a:r>
              <a:rPr lang="en-US" u="sng">
                <a:solidFill>
                  <a:schemeClr val="hlink"/>
                </a:solidFill>
                <a:hlinkClick r:id="rId3"/>
              </a:rPr>
              <a:t>https://eprint.iacr.org/2024/1265.pdf</a:t>
            </a:r>
            <a:endParaRPr/>
          </a:p>
          <a:p>
            <a:pPr indent="0" lvl="0" marL="0" rtl="0" algn="ctr">
              <a:spcBef>
                <a:spcPts val="1200"/>
              </a:spcBef>
              <a:spcAft>
                <a:spcPts val="200"/>
              </a:spcAft>
              <a:buNone/>
            </a:pPr>
            <a:r>
              <a:t/>
            </a:r>
            <a:endParaRPr/>
          </a:p>
        </p:txBody>
      </p:sp>
      <p:pic>
        <p:nvPicPr>
          <p:cNvPr id="374" name="Google Shape;374;p56"/>
          <p:cNvPicPr preferRelativeResize="0"/>
          <p:nvPr/>
        </p:nvPicPr>
        <p:blipFill>
          <a:blip r:embed="rId4">
            <a:alphaModFix/>
          </a:blip>
          <a:stretch>
            <a:fillRect/>
          </a:stretch>
        </p:blipFill>
        <p:spPr>
          <a:xfrm>
            <a:off x="1933575" y="2700338"/>
            <a:ext cx="8324850" cy="145732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57"/>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380" name="Google Shape;380;p57"/>
          <p:cNvSpPr txBox="1"/>
          <p:nvPr>
            <p:ph idx="1" type="body"/>
          </p:nvPr>
        </p:nvSpPr>
        <p:spPr>
          <a:xfrm>
            <a:off x="1097280" y="1845734"/>
            <a:ext cx="10058400" cy="4023300"/>
          </a:xfrm>
          <a:prstGeom prst="rect">
            <a:avLst/>
          </a:prstGeom>
        </p:spPr>
        <p:txBody>
          <a:bodyPr anchorCtr="0" anchor="t" bIns="45700" lIns="0" spcFirstLastPara="1" rIns="0" wrap="square" tIns="45700">
            <a:normAutofit lnSpcReduction="20000"/>
          </a:bodyPr>
          <a:lstStyle/>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0"/>
              </a:spcAft>
              <a:buNone/>
            </a:pPr>
            <a:r>
              <a:rPr lang="en-US" sz="2400"/>
              <a:t>Nguồn: https://std.neuromancer.sk/</a:t>
            </a:r>
            <a:endParaRPr sz="2400"/>
          </a:p>
          <a:p>
            <a:pPr indent="0" lvl="0" marL="0" rtl="0" algn="ctr">
              <a:spcBef>
                <a:spcPts val="1200"/>
              </a:spcBef>
              <a:spcAft>
                <a:spcPts val="200"/>
              </a:spcAft>
              <a:buNone/>
            </a:pPr>
            <a:r>
              <a:t/>
            </a:r>
            <a:endParaRPr/>
          </a:p>
        </p:txBody>
      </p:sp>
      <p:pic>
        <p:nvPicPr>
          <p:cNvPr id="381" name="Google Shape;381;p57"/>
          <p:cNvPicPr preferRelativeResize="0"/>
          <p:nvPr/>
        </p:nvPicPr>
        <p:blipFill>
          <a:blip r:embed="rId3">
            <a:alphaModFix/>
          </a:blip>
          <a:stretch>
            <a:fillRect/>
          </a:stretch>
        </p:blipFill>
        <p:spPr>
          <a:xfrm>
            <a:off x="2708600" y="2035375"/>
            <a:ext cx="7062476" cy="29253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58"/>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 </a:t>
            </a:r>
            <a:endParaRPr/>
          </a:p>
        </p:txBody>
      </p:sp>
      <p:sp>
        <p:nvSpPr>
          <p:cNvPr id="387" name="Google Shape;387;p58"/>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ctr">
              <a:spcBef>
                <a:spcPts val="1200"/>
              </a:spcBef>
              <a:spcAft>
                <a:spcPts val="200"/>
              </a:spcAft>
              <a:buNone/>
            </a:pPr>
            <a:r>
              <a:rPr lang="en-US" sz="2400"/>
              <a:t>So sánh security level dựa trên key size giữa hai thuật toán</a:t>
            </a:r>
            <a:endParaRPr sz="2400"/>
          </a:p>
        </p:txBody>
      </p:sp>
      <p:pic>
        <p:nvPicPr>
          <p:cNvPr id="388" name="Google Shape;388;p58"/>
          <p:cNvPicPr preferRelativeResize="0"/>
          <p:nvPr/>
        </p:nvPicPr>
        <p:blipFill>
          <a:blip r:embed="rId3">
            <a:alphaModFix/>
          </a:blip>
          <a:stretch>
            <a:fillRect/>
          </a:stretch>
        </p:blipFill>
        <p:spPr>
          <a:xfrm>
            <a:off x="2443163" y="2781300"/>
            <a:ext cx="7610475" cy="16002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59"/>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394" name="Google Shape;394;p59"/>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ctr">
              <a:spcBef>
                <a:spcPts val="1200"/>
              </a:spcBef>
              <a:spcAft>
                <a:spcPts val="0"/>
              </a:spcAft>
              <a:buNone/>
            </a:pPr>
            <a:r>
              <a:t/>
            </a:r>
            <a:endParaRPr/>
          </a:p>
          <a:p>
            <a:pPr indent="0" lvl="0" marL="0" rtl="0" algn="ctr">
              <a:spcBef>
                <a:spcPts val="1200"/>
              </a:spcBef>
              <a:spcAft>
                <a:spcPts val="200"/>
              </a:spcAft>
              <a:buNone/>
            </a:pPr>
            <a:r>
              <a:rPr lang="en-US" sz="2400"/>
              <a:t>So sánh thời gian chạy của một số thuật toán </a:t>
            </a:r>
            <a:endParaRPr sz="2400"/>
          </a:p>
        </p:txBody>
      </p:sp>
      <p:pic>
        <p:nvPicPr>
          <p:cNvPr id="395" name="Google Shape;395;p59"/>
          <p:cNvPicPr preferRelativeResize="0"/>
          <p:nvPr/>
        </p:nvPicPr>
        <p:blipFill>
          <a:blip r:embed="rId3">
            <a:alphaModFix/>
          </a:blip>
          <a:stretch>
            <a:fillRect/>
          </a:stretch>
        </p:blipFill>
        <p:spPr>
          <a:xfrm>
            <a:off x="2428875" y="1957388"/>
            <a:ext cx="7334250" cy="29432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60"/>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a:p>
            <a:pPr indent="0" lvl="0" marL="0" rtl="0" algn="l">
              <a:spcBef>
                <a:spcPts val="0"/>
              </a:spcBef>
              <a:spcAft>
                <a:spcPts val="0"/>
              </a:spcAft>
              <a:buNone/>
            </a:pPr>
            <a:r>
              <a:t/>
            </a:r>
            <a:endParaRPr/>
          </a:p>
        </p:txBody>
      </p:sp>
      <p:sp>
        <p:nvSpPr>
          <p:cNvPr id="401" name="Google Shape;401;p60"/>
          <p:cNvSpPr txBox="1"/>
          <p:nvPr>
            <p:ph idx="1" type="body"/>
          </p:nvPr>
        </p:nvSpPr>
        <p:spPr>
          <a:xfrm>
            <a:off x="1066805"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rPr lang="en-US" sz="2400"/>
              <a:t>Triển khai mẫu: CA Certificate cho HTTP Server</a:t>
            </a:r>
            <a:endParaRPr sz="2400"/>
          </a:p>
          <a:p>
            <a:pPr indent="0" lvl="0" marL="0" rtl="0" algn="l">
              <a:spcBef>
                <a:spcPts val="1200"/>
              </a:spcBef>
              <a:spcAft>
                <a:spcPts val="200"/>
              </a:spcAft>
              <a:buNone/>
            </a:pPr>
            <a:r>
              <a:t/>
            </a:r>
            <a:endParaRPr sz="2400"/>
          </a:p>
        </p:txBody>
      </p:sp>
      <p:pic>
        <p:nvPicPr>
          <p:cNvPr id="402" name="Google Shape;402;p60"/>
          <p:cNvPicPr preferRelativeResize="0"/>
          <p:nvPr/>
        </p:nvPicPr>
        <p:blipFill>
          <a:blip r:embed="rId3">
            <a:alphaModFix/>
          </a:blip>
          <a:stretch>
            <a:fillRect/>
          </a:stretch>
        </p:blipFill>
        <p:spPr>
          <a:xfrm>
            <a:off x="1066800" y="2523000"/>
            <a:ext cx="10355850" cy="27347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p61"/>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RSA vs ECC</a:t>
            </a:r>
            <a:endParaRPr/>
          </a:p>
        </p:txBody>
      </p:sp>
      <p:sp>
        <p:nvSpPr>
          <p:cNvPr id="408" name="Google Shape;408;p61"/>
          <p:cNvSpPr txBox="1"/>
          <p:nvPr>
            <p:ph idx="1" type="body"/>
          </p:nvPr>
        </p:nvSpPr>
        <p:spPr>
          <a:xfrm>
            <a:off x="1097280" y="1845734"/>
            <a:ext cx="10058400" cy="4023300"/>
          </a:xfrm>
          <a:prstGeom prst="rect">
            <a:avLst/>
          </a:prstGeom>
        </p:spPr>
        <p:txBody>
          <a:bodyPr anchorCtr="0" anchor="t" bIns="45700" lIns="0" spcFirstLastPara="1" rIns="0" wrap="square" tIns="45700">
            <a:normAutofit/>
          </a:bodyPr>
          <a:lstStyle/>
          <a:p>
            <a:pPr indent="0" lvl="0" marL="0" rtl="0" algn="l">
              <a:spcBef>
                <a:spcPts val="1200"/>
              </a:spcBef>
              <a:spcAft>
                <a:spcPts val="0"/>
              </a:spcAft>
              <a:buNone/>
            </a:pPr>
            <a:r>
              <a:rPr lang="en-US" sz="2400"/>
              <a:t>Demo </a:t>
            </a:r>
            <a:r>
              <a:rPr lang="en-US" sz="2400"/>
              <a:t>triển khai các thuật toán RSA bao gồm chữ kí số, mã hóa và giải mã trên hai thư viện OpenSSL và Pycryptodome.  </a:t>
            </a:r>
            <a:endParaRPr sz="2400"/>
          </a:p>
          <a:p>
            <a:pPr indent="0" lvl="0" marL="0" rtl="0" algn="l">
              <a:spcBef>
                <a:spcPts val="1200"/>
              </a:spcBef>
              <a:spcAft>
                <a:spcPts val="200"/>
              </a:spcAft>
              <a:buNone/>
            </a:pPr>
            <a:r>
              <a:t/>
            </a:r>
            <a:endParaRPr/>
          </a:p>
        </p:txBody>
      </p:sp>
      <p:pic>
        <p:nvPicPr>
          <p:cNvPr id="409" name="Google Shape;409;p61"/>
          <p:cNvPicPr preferRelativeResize="0"/>
          <p:nvPr/>
        </p:nvPicPr>
        <p:blipFill>
          <a:blip r:embed="rId3">
            <a:alphaModFix/>
          </a:blip>
          <a:stretch>
            <a:fillRect/>
          </a:stretch>
        </p:blipFill>
        <p:spPr>
          <a:xfrm>
            <a:off x="2181225" y="2909888"/>
            <a:ext cx="7829550" cy="10382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62"/>
          <p:cNvSpPr txBox="1"/>
          <p:nvPr>
            <p:ph type="title"/>
          </p:nvPr>
        </p:nvSpPr>
        <p:spPr>
          <a:xfrm>
            <a:off x="1097280" y="286603"/>
            <a:ext cx="10058400" cy="1450800"/>
          </a:xfrm>
          <a:prstGeom prst="rect">
            <a:avLst/>
          </a:prstGeom>
        </p:spPr>
        <p:txBody>
          <a:bodyPr anchorCtr="0" anchor="b" bIns="45700" lIns="91425" spcFirstLastPara="1" rIns="91425" wrap="square" tIns="45700">
            <a:normAutofit/>
          </a:bodyPr>
          <a:lstStyle/>
          <a:p>
            <a:pPr indent="0" lvl="0" marL="0" rtl="0" algn="l">
              <a:spcBef>
                <a:spcPts val="0"/>
              </a:spcBef>
              <a:spcAft>
                <a:spcPts val="0"/>
              </a:spcAft>
              <a:buNone/>
            </a:pPr>
            <a:r>
              <a:rPr lang="en-US"/>
              <a:t>Kết luận</a:t>
            </a:r>
            <a:endParaRPr/>
          </a:p>
        </p:txBody>
      </p:sp>
      <p:sp>
        <p:nvSpPr>
          <p:cNvPr id="415" name="Google Shape;415;p62"/>
          <p:cNvSpPr txBox="1"/>
          <p:nvPr>
            <p:ph idx="1" type="body"/>
          </p:nvPr>
        </p:nvSpPr>
        <p:spPr>
          <a:xfrm>
            <a:off x="1097280" y="1845734"/>
            <a:ext cx="10058400" cy="4023300"/>
          </a:xfrm>
          <a:prstGeom prst="rect">
            <a:avLst/>
          </a:prstGeom>
        </p:spPr>
        <p:txBody>
          <a:bodyPr anchorCtr="0" anchor="t" bIns="45700" lIns="0" spcFirstLastPara="1" rIns="0" wrap="square" tIns="45700">
            <a:normAutofit fontScale="92500" lnSpcReduction="20000"/>
          </a:bodyPr>
          <a:lstStyle/>
          <a:p>
            <a:pPr indent="-140970" lvl="0" marL="91440" rtl="0" algn="l">
              <a:spcBef>
                <a:spcPts val="0"/>
              </a:spcBef>
              <a:spcAft>
                <a:spcPts val="0"/>
              </a:spcAft>
              <a:buSzPct val="100000"/>
              <a:buChar char="-"/>
            </a:pPr>
            <a:r>
              <a:rPr lang="en-US" sz="2400"/>
              <a:t> RSA vẫn an toàn nếu triển khai chuẩn, đầy đủ, thuật toán RSA được đánh giá là đơn giản và cho thời gian mã hóa nhanh (số mũ e = 65537 nhỏ) </a:t>
            </a:r>
            <a:endParaRPr sz="2400"/>
          </a:p>
          <a:p>
            <a:pPr indent="-140970" lvl="0" marL="91440" rtl="0" algn="l">
              <a:spcBef>
                <a:spcPts val="2200"/>
              </a:spcBef>
              <a:spcAft>
                <a:spcPts val="0"/>
              </a:spcAft>
              <a:buSzPct val="100000"/>
              <a:buChar char="-"/>
            </a:pPr>
            <a:r>
              <a:rPr lang="en-US" sz="2400"/>
              <a:t> Ưu tiên RSASSA-PSS cho chữ ký và tránh PKCS#1 v1.5 khi có thể.</a:t>
            </a:r>
            <a:endParaRPr sz="2400"/>
          </a:p>
          <a:p>
            <a:pPr indent="-140970" lvl="0" marL="91440" rtl="0" algn="l">
              <a:spcBef>
                <a:spcPts val="2200"/>
              </a:spcBef>
              <a:spcAft>
                <a:spcPts val="0"/>
              </a:spcAft>
              <a:buSzPct val="100000"/>
              <a:buChar char="-"/>
            </a:pPr>
            <a:r>
              <a:rPr lang="en-US" sz="2400"/>
              <a:t> Dùng kích thước khóa lớn (≥3072 bit) hoặc chuyển sang ECC/PQC cho bảo vệ dài hạn.</a:t>
            </a:r>
            <a:endParaRPr sz="2400"/>
          </a:p>
          <a:p>
            <a:pPr indent="-140970" lvl="0" marL="91440" rtl="0" algn="l">
              <a:spcBef>
                <a:spcPts val="2200"/>
              </a:spcBef>
              <a:spcAft>
                <a:spcPts val="0"/>
              </a:spcAft>
              <a:buSzPct val="100000"/>
              <a:buChar char="-"/>
            </a:pPr>
            <a:r>
              <a:rPr lang="en-US" sz="2400"/>
              <a:t> Vô hiệu hóa RSA key exchange trong TLS, ưu tiên ECDHE cho forward secrecy.</a:t>
            </a:r>
            <a:endParaRPr sz="2400"/>
          </a:p>
          <a:p>
            <a:pPr indent="-140970" lvl="0" marL="91440" rtl="0" algn="l">
              <a:spcBef>
                <a:spcPts val="2200"/>
              </a:spcBef>
              <a:spcAft>
                <a:spcPts val="0"/>
              </a:spcAft>
              <a:buSzPct val="100000"/>
              <a:buChar char="-"/>
            </a:pPr>
            <a:r>
              <a:rPr lang="en-US" sz="2400"/>
              <a:t> Áp dụng exponent &amp; CRT blinding, constant-time modular exponentiation, và CSPRNG mạnh cho keygen.</a:t>
            </a:r>
            <a:endParaRPr sz="2400"/>
          </a:p>
          <a:p>
            <a:pPr indent="-140970" lvl="0" marL="91440" rtl="0" algn="l">
              <a:spcBef>
                <a:spcPts val="2200"/>
              </a:spcBef>
              <a:spcAft>
                <a:spcPts val="0"/>
              </a:spcAft>
              <a:buSzPct val="100000"/>
              <a:buChar char="-"/>
            </a:pPr>
            <a:r>
              <a:rPr lang="en-US" sz="2400"/>
              <a:t> Lưu private key kĩ, giới hạn API và dùng uniform error messages.</a:t>
            </a:r>
            <a:endParaRPr sz="2400"/>
          </a:p>
          <a:p>
            <a:pPr indent="0" lvl="0" marL="0" rtl="0" algn="l">
              <a:spcBef>
                <a:spcPts val="1200"/>
              </a:spcBef>
              <a:spcAft>
                <a:spcPts val="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